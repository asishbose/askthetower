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729" autoAdjust="0"/>
  </p:normalViewPr>
  <p:slideViewPr>
    <p:cSldViewPr snapToGrid="0" snapToObjects="1">
      <p:cViewPr varScale="1">
        <p:scale>
          <a:sx n="81" d="100"/>
          <a:sy n="81" d="100"/>
        </p:scale>
        <p:origin x="171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4755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Ask the Tower. You ask Alexa Plus, "is my line OK?", and the answer isn't a guess or a web search. It comes from the carrier's own network, over standard CAMARA APIs, and only for lines whose owners have said yes. First, a quick look at why anyone would need to ask that question. Then the demo, and after it, how it's built.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problem. A sim swap doesn't announce itself. At first it feels like bad signal: the phone goes quiet, while the network has already logged that your number moved to another sim. Call forwarding is quieter still; your calls just go somewhere else. The FBI logged nine hundred and seventy-one sim-swap complaints in 2025, with seventeen point four million dollars lost, and those are only the reported cases. Older people are hit hard, and their families usually hear about it too late. The network knows right away. The person whose line it is can't ask.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Tower is an MCP server with three tools, and its answers come from CAMARA. CAMARA is an open-source project under the Linux Foundation, where carriers agree on one common set of network APIs, like sim swap and call forwarding, so the same request works with any carrier that offers them. Line-is-OK asks two of those questions: was the sim moved, and are calls being forwarded. Is-reachable asks whether the phone is on the network. Watch-line texts a second person, say a son watching his mother's line, when either fact changes. All of it is consent first: a line is bound with one tap on the phone, and each tool is granted per person, and can be revoked.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demo, in three moments. First, a phone loses signal, and its owner asks whether the line is OK. The sim was moved, and Alexa says not to call from that phone. Second, they ask whether anything is forwarding their calls. Third, a son checks on his mother's line, which she chose to share with him. It's as it was, and he'll get a text if that changes. Every answer you're about to hear came from a carrier API, passed a consent check, and was audited before it was spoken. After the demo, we'll show how it's built.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how what you just heard runs on AWS. A question comes in from Alexa Plus, or from our web chat page, signed in with Cognito. It lands on Tower, our MCP server on AgentCore Runtime. Tower reads consent from DynamoDB, and asks the carrier through AgentCore Gateway, which turns the CAMARA API specs into MCP tools and gets its carrier credentials from AgentCore Identity. The carrier is our CAMARA-conformant mock, on Fargate. The proactive path, the texts, runs on Lambda, EventBridge Scheduler and SNS. Here are the choices behind 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where Tower lives. It's an MCP server on AgentCore Runtime, which hosts it for us: stateless, with plain JSON responses. Runtime checks the Cognito sign-in token at the door, and Tower checks it again itself, because it never assumes that someone else did. All state lives in DynamoDB, so any copy of Tower can answer any request. Being stateless has one cost: each client has to send its own session id, and you'll see why that matters in a moment.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Second, Tower never talks to the carrier directly. AgentCore Gateway turns the CAMARA API specs into MCP tools, and AgentCore Identity holds the carrier credentials, so Tower holds no carrier secret at all. Because these are standard CAMARA APIs, a real operator's sandbox can replace our mock with a configuration change, and Tower doesn't notice. The price is one more network hop.</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Third, privacy by construction. A line is bound with CAMARA Number Verification: you open a link on your phone, over mobile data, and tap once, and the carrier itself confirms the number. After that, the number never sits anywhere in plain text. KMS, AWS's Key Management Service, holds two keys for us. One encrypts the number before it's stored. The other turns it into a keyed hash, an H-MAC, which is the only id our tables and logs use. Grants are per person and per tool, and every check goes into a hash-chained audit before the answer leaves. The catch: binding needs mobile data, so it won't work on Wi-Fi.</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Fourth, no model decides anything that matters. The policy engine is plain Python: facts from the carrier in, one outcome and a reason code out. Every decision it can make is written out as a table and tested. Each outcome comes with a fixed sentence. After a sim swap it says: don't call from your phone. I can call your carrier's support line for you from here. Because the phone may be the thing that was taken. We chose not to let a model reword safety advice. The cost is wording that can sound stiff.</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Fifth, speed. A spoken answer has to feel instant. At first, a question without a session id started a cold copy of Tower, and took about seven seconds. With one session per client, and one warm connection to the Gateway, a typical answer now comes back in under half a second. And if a line is already being watched, Tower answers from what it already knows, and doesn't call the carrier at all.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Finally, what AWS taught us. Gateway passes tool arguments flat, not wrapped in a body. A Gateway behind I-A-M refuses three-legged OAuth, so our binding page exchanges the sign-in code itself. And a brand-new account's daily Bedrock quota is zero, so the web chat agent uses a role in another account. Everything is built with Terraform, and torn down when we're done.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7.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Layout" Target="../slideLayouts/slideLayout7.xml"/><Relationship Id="rId7" Type="http://schemas.openxmlformats.org/officeDocument/2006/relationships/image" Target="../media/image9.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3.xml"/><Relationship Id="rId9"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png"/><Relationship Id="rId5" Type="http://schemas.openxmlformats.org/officeDocument/2006/relationships/image" Target="../media/image1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slideLayout" Target="../slideLayouts/slideLayout7.xml"/><Relationship Id="rId7" Type="http://schemas.openxmlformats.org/officeDocument/2006/relationships/image" Target="../media/image16.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png"/><Relationship Id="rId4" Type="http://schemas.openxmlformats.org/officeDocument/2006/relationships/notesSlide" Target="../notesSlides/notesSlide6.xml"/><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slideLayout" Target="../slideLayouts/slideLayout7.xml"/><Relationship Id="rId7" Type="http://schemas.openxmlformats.org/officeDocument/2006/relationships/image" Target="../media/image20.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7.xml"/><Relationship Id="rId9"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Layout" Target="../slideLayouts/slideLayout7.xml"/><Relationship Id="rId7" Type="http://schemas.openxmlformats.org/officeDocument/2006/relationships/image" Target="../media/image22.png"/><Relationship Id="rId12" Type="http://schemas.openxmlformats.org/officeDocument/2006/relationships/image" Target="../media/image1.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9.png"/><Relationship Id="rId11" Type="http://schemas.openxmlformats.org/officeDocument/2006/relationships/image" Target="../media/image25.png"/><Relationship Id="rId5" Type="http://schemas.openxmlformats.org/officeDocument/2006/relationships/image" Target="../media/image10.png"/><Relationship Id="rId10" Type="http://schemas.openxmlformats.org/officeDocument/2006/relationships/image" Target="../media/image24.png"/><Relationship Id="rId4" Type="http://schemas.openxmlformats.org/officeDocument/2006/relationships/notesSlide" Target="../notesSlides/notesSlide8.xml"/><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9.png"/><Relationship Id="rId5" Type="http://schemas.openxmlformats.org/officeDocument/2006/relationships/image" Target="../media/image2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slideLayout" Target="../slideLayouts/slideLayout7.xml"/><Relationship Id="rId7" Type="http://schemas.openxmlformats.org/officeDocument/2006/relationships/image" Target="../media/image20.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9.png"/><Relationship Id="rId5" Type="http://schemas.openxmlformats.org/officeDocument/2006/relationships/image" Target="../media/image27.png"/><Relationship Id="rId4" Type="http://schemas.openxmlformats.org/officeDocument/2006/relationships/notesSlide" Target="../notesSlides/notesSlide10.xml"/><Relationship Id="rId9"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7.xml"/><Relationship Id="rId7" Type="http://schemas.openxmlformats.org/officeDocument/2006/relationships/image" Target="../media/image31.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pic>
        <p:nvPicPr>
          <p:cNvPr id="2" name="Picture 1" descr="device-speaker-4CC9F0.png"/>
          <p:cNvPicPr>
            <a:picLocks noChangeAspect="1"/>
          </p:cNvPicPr>
          <p:nvPr/>
        </p:nvPicPr>
        <p:blipFill>
          <a:blip r:embed="rId5"/>
          <a:stretch>
            <a:fillRect/>
          </a:stretch>
        </p:blipFill>
        <p:spPr>
          <a:xfrm>
            <a:off x="1188720" y="1143000"/>
            <a:ext cx="1554480" cy="1554480"/>
          </a:xfrm>
          <a:prstGeom prst="rect">
            <a:avLst/>
          </a:prstGeom>
        </p:spPr>
      </p:pic>
      <p:pic>
        <p:nvPicPr>
          <p:cNvPr id="3" name="Picture 2" descr="device-mobile-E6ECFF.png"/>
          <p:cNvPicPr>
            <a:picLocks noChangeAspect="1"/>
          </p:cNvPicPr>
          <p:nvPr/>
        </p:nvPicPr>
        <p:blipFill>
          <a:blip r:embed="rId6"/>
          <a:stretch>
            <a:fillRect/>
          </a:stretch>
        </p:blipFill>
        <p:spPr>
          <a:xfrm>
            <a:off x="9464040" y="1143000"/>
            <a:ext cx="1554480" cy="1554480"/>
          </a:xfrm>
          <a:prstGeom prst="rect">
            <a:avLst/>
          </a:prstGeom>
        </p:spPr>
      </p:pic>
      <p:pic>
        <p:nvPicPr>
          <p:cNvPr id="4" name="Picture 3" descr="antenna-bars-5-2EC27E.png"/>
          <p:cNvPicPr>
            <a:picLocks noChangeAspect="1"/>
          </p:cNvPicPr>
          <p:nvPr/>
        </p:nvPicPr>
        <p:blipFill>
          <a:blip r:embed="rId7"/>
          <a:stretch>
            <a:fillRect/>
          </a:stretch>
        </p:blipFill>
        <p:spPr>
          <a:xfrm>
            <a:off x="10744200" y="777240"/>
            <a:ext cx="685800" cy="685800"/>
          </a:xfrm>
          <a:prstGeom prst="rect">
            <a:avLst/>
          </a:prstGeom>
        </p:spPr>
      </p:pic>
      <p:cxnSp>
        <p:nvCxnSpPr>
          <p:cNvPr id="5" name="Connector 4"/>
          <p:cNvCxnSpPr/>
          <p:nvPr/>
        </p:nvCxnSpPr>
        <p:spPr>
          <a:xfrm>
            <a:off x="2926080" y="1920240"/>
            <a:ext cx="6355080" cy="0"/>
          </a:xfrm>
          <a:prstGeom prst="line">
            <a:avLst/>
          </a:prstGeom>
          <a:ln w="38100">
            <a:solidFill>
              <a:srgbClr val="4CC9F0"/>
            </a:solidFill>
            <a:prstDash val="sysDot"/>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2880360"/>
            <a:ext cx="10728655" cy="1188720"/>
          </a:xfrm>
          <a:prstGeom prst="rect">
            <a:avLst/>
          </a:prstGeom>
          <a:noFill/>
        </p:spPr>
        <p:txBody>
          <a:bodyPr wrap="square" lIns="36576" rIns="36576" anchor="t">
            <a:spAutoFit/>
          </a:bodyPr>
          <a:lstStyle/>
          <a:p>
            <a:pPr algn="ctr">
              <a:spcAft>
                <a:spcPts val="600"/>
              </a:spcAft>
            </a:pPr>
            <a:r>
              <a:rPr sz="6600" b="1">
                <a:solidFill>
                  <a:srgbClr val="E6ECFF"/>
                </a:solidFill>
                <a:latin typeface="Calibri"/>
              </a:rPr>
              <a:t>Ask the Tower</a:t>
            </a:r>
          </a:p>
        </p:txBody>
      </p:sp>
      <p:sp>
        <p:nvSpPr>
          <p:cNvPr id="7" name="TextBox 6"/>
          <p:cNvSpPr txBox="1"/>
          <p:nvPr/>
        </p:nvSpPr>
        <p:spPr>
          <a:xfrm>
            <a:off x="1097280" y="4114800"/>
            <a:ext cx="9997135" cy="731520"/>
          </a:xfrm>
          <a:prstGeom prst="rect">
            <a:avLst/>
          </a:prstGeom>
          <a:noFill/>
        </p:spPr>
        <p:txBody>
          <a:bodyPr wrap="square" lIns="36576" rIns="36576" anchor="t">
            <a:spAutoFit/>
          </a:bodyPr>
          <a:lstStyle/>
          <a:p>
            <a:pPr algn="ctr">
              <a:spcAft>
                <a:spcPts val="600"/>
              </a:spcAft>
            </a:pPr>
            <a:r>
              <a:rPr sz="2600" b="0">
                <a:solidFill>
                  <a:srgbClr val="9AA8CC"/>
                </a:solidFill>
                <a:latin typeface="Calibri"/>
              </a:rPr>
              <a:t>“Is my line OK?” for Alexa+, answered from the carrier network.</a:t>
            </a:r>
          </a:p>
        </p:txBody>
      </p:sp>
      <p:cxnSp>
        <p:nvCxnSpPr>
          <p:cNvPr id="8" name="Connector 7"/>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8640" y="6382512"/>
            <a:ext cx="8229600" cy="310896"/>
          </a:xfrm>
          <a:prstGeom prst="rect">
            <a:avLst/>
          </a:prstGeom>
          <a:noFill/>
        </p:spPr>
        <p:txBody>
          <a:bodyPr wrap="square" lIns="36576" rIns="36576" anchor="ctr">
            <a:spAutoFit/>
          </a:bodyPr>
          <a:lstStyle/>
          <a:p>
            <a:pPr algn="l">
              <a:spcAft>
                <a:spcPts val="600"/>
              </a:spcAft>
            </a:pPr>
            <a:r>
              <a:rPr sz="1100" b="0">
                <a:solidFill>
                  <a:srgbClr val="9AA8CC"/>
                </a:solidFill>
                <a:latin typeface="Calibri"/>
              </a:rPr>
              <a:t>01  •  Ask the Tower</a:t>
            </a:r>
          </a:p>
        </p:txBody>
      </p:sp>
      <p:sp>
        <p:nvSpPr>
          <p:cNvPr id="10" name="Rectangle 9"/>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793992"/>
            <a:ext cx="1108335"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slide-0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368735" y="6382512"/>
            <a:ext cx="274320" cy="274320"/>
          </a:xfrm>
          <a:prstGeom prst="rect">
            <a:avLst/>
          </a:prstGeom>
        </p:spPr>
      </p:pic>
    </p:spTree>
  </p:cSld>
  <p:clrMapOvr>
    <a:masterClrMapping/>
  </p:clrMapOvr>
  <p:transition spd="med" advTm="176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7688"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1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1094415" cy="777240"/>
          </a:xfrm>
          <a:prstGeom prst="rect">
            <a:avLst/>
          </a:prstGeom>
          <a:noFill/>
        </p:spPr>
        <p:txBody>
          <a:bodyPr wrap="square" lIns="36576" rIns="36576" anchor="ctr">
            <a:spAutoFit/>
          </a:bodyPr>
          <a:lstStyle/>
          <a:p>
            <a:pPr algn="l">
              <a:spcAft>
                <a:spcPts val="600"/>
              </a:spcAft>
            </a:pPr>
            <a:r>
              <a:rPr sz="3200" b="1">
                <a:solidFill>
                  <a:srgbClr val="E6ECFF"/>
                </a:solidFill>
                <a:latin typeface="Calibri"/>
              </a:rPr>
              <a:t>The problem: you find out too late</a:t>
            </a:r>
          </a:p>
        </p:txBody>
      </p:sp>
      <p:sp>
        <p:nvSpPr>
          <p:cNvPr id="3" name="Pentagon 2"/>
          <p:cNvSpPr/>
          <p:nvPr/>
        </p:nvSpPr>
        <p:spPr>
          <a:xfrm>
            <a:off x="548640" y="1325880"/>
            <a:ext cx="3886200" cy="2331720"/>
          </a:xfrm>
          <a:prstGeom prst="homePlate">
            <a:avLst>
              <a:gd name="adj" fmla="val 22000"/>
            </a:avLst>
          </a:prstGeom>
          <a:solidFill>
            <a:srgbClr val="141F38"/>
          </a:solidFill>
          <a:ln w="25400">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evice-sim-F4A261.png"/>
          <p:cNvPicPr>
            <a:picLocks noChangeAspect="1"/>
          </p:cNvPicPr>
          <p:nvPr/>
        </p:nvPicPr>
        <p:blipFill>
          <a:blip r:embed="rId5"/>
          <a:stretch>
            <a:fillRect/>
          </a:stretch>
        </p:blipFill>
        <p:spPr>
          <a:xfrm>
            <a:off x="1828799" y="1508760"/>
            <a:ext cx="868680" cy="868680"/>
          </a:xfrm>
          <a:prstGeom prst="rect">
            <a:avLst/>
          </a:prstGeom>
        </p:spPr>
      </p:pic>
      <p:sp>
        <p:nvSpPr>
          <p:cNvPr id="5" name="TextBox 4"/>
          <p:cNvSpPr txBox="1"/>
          <p:nvPr/>
        </p:nvSpPr>
        <p:spPr>
          <a:xfrm>
            <a:off x="868680" y="2468880"/>
            <a:ext cx="2788920" cy="1097280"/>
          </a:xfrm>
          <a:prstGeom prst="rect">
            <a:avLst/>
          </a:prstGeom>
          <a:noFill/>
        </p:spPr>
        <p:txBody>
          <a:bodyPr wrap="square" lIns="36576" rIns="36576" anchor="t">
            <a:spAutoFit/>
          </a:bodyPr>
          <a:lstStyle/>
          <a:p>
            <a:pPr algn="ctr">
              <a:spcAft>
                <a:spcPts val="600"/>
              </a:spcAft>
            </a:pPr>
            <a:r>
              <a:rPr sz="2000" b="1">
                <a:solidFill>
                  <a:srgbClr val="E6ECFF"/>
                </a:solidFill>
                <a:latin typeface="Calibri"/>
              </a:rPr>
              <a:t>SIM moved to another device</a:t>
            </a:r>
          </a:p>
        </p:txBody>
      </p:sp>
      <p:sp>
        <p:nvSpPr>
          <p:cNvPr id="6" name="Chevron 5"/>
          <p:cNvSpPr/>
          <p:nvPr/>
        </p:nvSpPr>
        <p:spPr>
          <a:xfrm>
            <a:off x="4206240" y="1325880"/>
            <a:ext cx="3886200" cy="2331720"/>
          </a:xfrm>
          <a:prstGeom prst="chevron">
            <a:avLst>
              <a:gd name="adj" fmla="val 22000"/>
            </a:avLst>
          </a:prstGeom>
          <a:solidFill>
            <a:srgbClr val="141F38"/>
          </a:solidFill>
          <a:ln w="25400">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phone-outgoing-F4A261.png"/>
          <p:cNvPicPr>
            <a:picLocks noChangeAspect="1"/>
          </p:cNvPicPr>
          <p:nvPr/>
        </p:nvPicPr>
        <p:blipFill>
          <a:blip r:embed="rId6"/>
          <a:stretch>
            <a:fillRect/>
          </a:stretch>
        </p:blipFill>
        <p:spPr>
          <a:xfrm>
            <a:off x="5714999" y="1508760"/>
            <a:ext cx="868680" cy="868680"/>
          </a:xfrm>
          <a:prstGeom prst="rect">
            <a:avLst/>
          </a:prstGeom>
        </p:spPr>
      </p:pic>
      <p:sp>
        <p:nvSpPr>
          <p:cNvPr id="8" name="TextBox 7"/>
          <p:cNvSpPr txBox="1"/>
          <p:nvPr/>
        </p:nvSpPr>
        <p:spPr>
          <a:xfrm>
            <a:off x="4983479" y="2468880"/>
            <a:ext cx="2331720" cy="1097280"/>
          </a:xfrm>
          <a:prstGeom prst="rect">
            <a:avLst/>
          </a:prstGeom>
          <a:noFill/>
        </p:spPr>
        <p:txBody>
          <a:bodyPr wrap="square" lIns="36576" rIns="36576" anchor="t">
            <a:spAutoFit/>
          </a:bodyPr>
          <a:lstStyle/>
          <a:p>
            <a:pPr algn="ctr">
              <a:spcAft>
                <a:spcPts val="600"/>
              </a:spcAft>
            </a:pPr>
            <a:r>
              <a:rPr sz="2000" b="1">
                <a:solidFill>
                  <a:srgbClr val="E6ECFF"/>
                </a:solidFill>
                <a:latin typeface="Calibri"/>
              </a:rPr>
              <a:t>Calls and texts reach the attacker</a:t>
            </a:r>
          </a:p>
        </p:txBody>
      </p:sp>
      <p:sp>
        <p:nvSpPr>
          <p:cNvPr id="9" name="Chevron 8"/>
          <p:cNvSpPr/>
          <p:nvPr/>
        </p:nvSpPr>
        <p:spPr>
          <a:xfrm>
            <a:off x="7863840" y="1325880"/>
            <a:ext cx="3886200" cy="2331720"/>
          </a:xfrm>
          <a:prstGeom prst="chevron">
            <a:avLst>
              <a:gd name="adj" fmla="val 22000"/>
            </a:avLst>
          </a:prstGeom>
          <a:solidFill>
            <a:srgbClr val="141F38"/>
          </a:solidFill>
          <a:ln w="25400">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building-bank-F4A261.png"/>
          <p:cNvPicPr>
            <a:picLocks noChangeAspect="1"/>
          </p:cNvPicPr>
          <p:nvPr/>
        </p:nvPicPr>
        <p:blipFill>
          <a:blip r:embed="rId7"/>
          <a:stretch>
            <a:fillRect/>
          </a:stretch>
        </p:blipFill>
        <p:spPr>
          <a:xfrm>
            <a:off x="9372600" y="1508760"/>
            <a:ext cx="868680" cy="868680"/>
          </a:xfrm>
          <a:prstGeom prst="rect">
            <a:avLst/>
          </a:prstGeom>
        </p:spPr>
      </p:pic>
      <p:sp>
        <p:nvSpPr>
          <p:cNvPr id="11" name="TextBox 10"/>
          <p:cNvSpPr txBox="1"/>
          <p:nvPr/>
        </p:nvSpPr>
        <p:spPr>
          <a:xfrm>
            <a:off x="8641080" y="2468880"/>
            <a:ext cx="2331720" cy="1097280"/>
          </a:xfrm>
          <a:prstGeom prst="rect">
            <a:avLst/>
          </a:prstGeom>
          <a:noFill/>
        </p:spPr>
        <p:txBody>
          <a:bodyPr wrap="square" lIns="36576" rIns="36576" anchor="t">
            <a:spAutoFit/>
          </a:bodyPr>
          <a:lstStyle/>
          <a:p>
            <a:pPr algn="ctr">
              <a:spcAft>
                <a:spcPts val="600"/>
              </a:spcAft>
            </a:pPr>
            <a:r>
              <a:rPr sz="2000" b="1">
                <a:solidFill>
                  <a:srgbClr val="E6ECFF"/>
                </a:solidFill>
                <a:latin typeface="Calibri"/>
              </a:rPr>
              <a:t>Bank codes go to the attacker</a:t>
            </a:r>
          </a:p>
        </p:txBody>
      </p:sp>
      <p:sp>
        <p:nvSpPr>
          <p:cNvPr id="12" name="TextBox 11"/>
          <p:cNvSpPr txBox="1"/>
          <p:nvPr/>
        </p:nvSpPr>
        <p:spPr>
          <a:xfrm>
            <a:off x="548640" y="3931920"/>
            <a:ext cx="3291840" cy="1463040"/>
          </a:xfrm>
          <a:prstGeom prst="rect">
            <a:avLst/>
          </a:prstGeom>
          <a:noFill/>
        </p:spPr>
        <p:txBody>
          <a:bodyPr wrap="square" lIns="36576" rIns="36576" anchor="ctr">
            <a:spAutoFit/>
          </a:bodyPr>
          <a:lstStyle/>
          <a:p>
            <a:pPr algn="l">
              <a:spcAft>
                <a:spcPts val="600"/>
              </a:spcAft>
            </a:pPr>
            <a:r>
              <a:rPr sz="9600" b="1">
                <a:solidFill>
                  <a:srgbClr val="F4A261"/>
                </a:solidFill>
                <a:latin typeface="Calibri"/>
              </a:rPr>
              <a:t>971</a:t>
            </a:r>
          </a:p>
        </p:txBody>
      </p:sp>
      <p:sp>
        <p:nvSpPr>
          <p:cNvPr id="13" name="TextBox 12"/>
          <p:cNvSpPr txBox="1"/>
          <p:nvPr/>
        </p:nvSpPr>
        <p:spPr>
          <a:xfrm>
            <a:off x="3840480" y="4069080"/>
            <a:ext cx="7772400" cy="640080"/>
          </a:xfrm>
          <a:prstGeom prst="rect">
            <a:avLst/>
          </a:prstGeom>
          <a:noFill/>
        </p:spPr>
        <p:txBody>
          <a:bodyPr wrap="square" lIns="36576" rIns="36576" anchor="ctr">
            <a:spAutoFit/>
          </a:bodyPr>
          <a:lstStyle/>
          <a:p>
            <a:pPr algn="l">
              <a:spcAft>
                <a:spcPts val="600"/>
              </a:spcAft>
            </a:pPr>
            <a:r>
              <a:rPr sz="2200" b="0">
                <a:solidFill>
                  <a:srgbClr val="E6ECFF"/>
                </a:solidFill>
                <a:latin typeface="Calibri"/>
              </a:rPr>
              <a:t>SIM-swap complaints to the FBI in 2025 · $17.4 million lost</a:t>
            </a:r>
          </a:p>
        </p:txBody>
      </p:sp>
      <p:sp>
        <p:nvSpPr>
          <p:cNvPr id="14" name="TextBox 13"/>
          <p:cNvSpPr txBox="1"/>
          <p:nvPr/>
        </p:nvSpPr>
        <p:spPr>
          <a:xfrm>
            <a:off x="3840480" y="4754880"/>
            <a:ext cx="7772400" cy="548640"/>
          </a:xfrm>
          <a:prstGeom prst="rect">
            <a:avLst/>
          </a:prstGeom>
          <a:noFill/>
        </p:spPr>
        <p:txBody>
          <a:bodyPr wrap="square" lIns="36576" rIns="36576" anchor="ctr">
            <a:spAutoFit/>
          </a:bodyPr>
          <a:lstStyle/>
          <a:p>
            <a:pPr algn="l">
              <a:spcAft>
                <a:spcPts val="600"/>
              </a:spcAft>
            </a:pPr>
            <a:r>
              <a:rPr sz="2000" b="0">
                <a:solidFill>
                  <a:srgbClr val="9AA8CC"/>
                </a:solidFill>
                <a:latin typeface="Calibri"/>
              </a:rPr>
              <a:t>The network knows at once. The person can't ask.</a:t>
            </a:r>
          </a:p>
        </p:txBody>
      </p:sp>
      <p:cxnSp>
        <p:nvCxnSpPr>
          <p:cNvPr id="15" name="Connector 14"/>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6382512"/>
            <a:ext cx="8229600" cy="310896"/>
          </a:xfrm>
          <a:prstGeom prst="rect">
            <a:avLst/>
          </a:prstGeom>
          <a:noFill/>
        </p:spPr>
        <p:txBody>
          <a:bodyPr wrap="square" lIns="36576" rIns="36576" anchor="ctr">
            <a:spAutoFit/>
          </a:bodyPr>
          <a:lstStyle/>
          <a:p>
            <a:pPr algn="l">
              <a:spcAft>
                <a:spcPts val="600"/>
              </a:spcAft>
            </a:pPr>
            <a:r>
              <a:rPr sz="1100" b="0">
                <a:solidFill>
                  <a:srgbClr val="9AA8CC"/>
                </a:solidFill>
                <a:latin typeface="Calibri"/>
              </a:rPr>
              <a:t>02  •  Ask the Tower</a:t>
            </a:r>
          </a:p>
        </p:txBody>
      </p:sp>
      <p:sp>
        <p:nvSpPr>
          <p:cNvPr id="17" name="Rectangle 16"/>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0" y="6793992"/>
            <a:ext cx="2216671"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slide-02.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368735" y="6382512"/>
            <a:ext cx="274320" cy="274320"/>
          </a:xfrm>
          <a:prstGeom prst="rect">
            <a:avLst/>
          </a:prstGeom>
        </p:spPr>
      </p:pic>
    </p:spTree>
  </p:cSld>
  <p:clrMapOvr>
    <a:masterClrMapping/>
  </p:clrMapOvr>
  <p:transition spd="med" advTm="2711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118"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19"/>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1094415" cy="777240"/>
          </a:xfrm>
          <a:prstGeom prst="rect">
            <a:avLst/>
          </a:prstGeom>
          <a:noFill/>
        </p:spPr>
        <p:txBody>
          <a:bodyPr wrap="square" lIns="36576" rIns="36576" anchor="ctr">
            <a:spAutoFit/>
          </a:bodyPr>
          <a:lstStyle/>
          <a:p>
            <a:pPr algn="l">
              <a:spcAft>
                <a:spcPts val="600"/>
              </a:spcAft>
            </a:pPr>
            <a:r>
              <a:rPr sz="3200" b="1">
                <a:solidFill>
                  <a:srgbClr val="E6ECFF"/>
                </a:solidFill>
                <a:latin typeface="Calibri"/>
              </a:rPr>
              <a:t>What Tower does</a:t>
            </a:r>
          </a:p>
        </p:txBody>
      </p:sp>
      <p:sp>
        <p:nvSpPr>
          <p:cNvPr id="3" name="Rounded Rectangle 2"/>
          <p:cNvSpPr/>
          <p:nvPr/>
        </p:nvSpPr>
        <p:spPr>
          <a:xfrm>
            <a:off x="548640" y="1325880"/>
            <a:ext cx="3520440" cy="301752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691640" y="1554480"/>
            <a:ext cx="1234440" cy="1234440"/>
          </a:xfrm>
          <a:prstGeom prst="ellipse">
            <a:avLst/>
          </a:prstGeom>
          <a:solidFill>
            <a:srgbClr val="0B1220"/>
          </a:solidFill>
          <a:ln w="19050">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hield-check-4CC9F0.png"/>
          <p:cNvPicPr>
            <a:picLocks noChangeAspect="1"/>
          </p:cNvPicPr>
          <p:nvPr/>
        </p:nvPicPr>
        <p:blipFill>
          <a:blip r:embed="rId5"/>
          <a:stretch>
            <a:fillRect/>
          </a:stretch>
        </p:blipFill>
        <p:spPr>
          <a:xfrm>
            <a:off x="1920240" y="1783080"/>
            <a:ext cx="777240" cy="777240"/>
          </a:xfrm>
          <a:prstGeom prst="rect">
            <a:avLst/>
          </a:prstGeom>
        </p:spPr>
      </p:pic>
      <p:sp>
        <p:nvSpPr>
          <p:cNvPr id="6" name="TextBox 5"/>
          <p:cNvSpPr txBox="1"/>
          <p:nvPr/>
        </p:nvSpPr>
        <p:spPr>
          <a:xfrm>
            <a:off x="731520" y="2926080"/>
            <a:ext cx="3154680" cy="548640"/>
          </a:xfrm>
          <a:prstGeom prst="rect">
            <a:avLst/>
          </a:prstGeom>
          <a:noFill/>
        </p:spPr>
        <p:txBody>
          <a:bodyPr wrap="square" lIns="36576" rIns="36576" anchor="t">
            <a:spAutoFit/>
          </a:bodyPr>
          <a:lstStyle/>
          <a:p>
            <a:pPr algn="ctr">
              <a:spcAft>
                <a:spcPts val="600"/>
              </a:spcAft>
            </a:pPr>
            <a:r>
              <a:rPr sz="2600" b="1">
                <a:solidFill>
                  <a:srgbClr val="4CC9F0"/>
                </a:solidFill>
                <a:latin typeface="Consolas"/>
              </a:rPr>
              <a:t>line_is_ok</a:t>
            </a:r>
          </a:p>
        </p:txBody>
      </p:sp>
      <p:sp>
        <p:nvSpPr>
          <p:cNvPr id="7" name="TextBox 6"/>
          <p:cNvSpPr txBox="1"/>
          <p:nvPr/>
        </p:nvSpPr>
        <p:spPr>
          <a:xfrm>
            <a:off x="777240" y="3566160"/>
            <a:ext cx="3063240" cy="731520"/>
          </a:xfrm>
          <a:prstGeom prst="rect">
            <a:avLst/>
          </a:prstGeom>
          <a:noFill/>
        </p:spPr>
        <p:txBody>
          <a:bodyPr wrap="square" lIns="36576" rIns="36576" anchor="t">
            <a:spAutoFit/>
          </a:bodyPr>
          <a:lstStyle/>
          <a:p>
            <a:pPr algn="ctr">
              <a:spcAft>
                <a:spcPts val="600"/>
              </a:spcAft>
            </a:pPr>
            <a:r>
              <a:rPr sz="2000" b="0">
                <a:solidFill>
                  <a:srgbClr val="E6ECFF"/>
                </a:solidFill>
                <a:latin typeface="Calibri"/>
              </a:rPr>
              <a:t>SIM moved? Calls forwarded?</a:t>
            </a:r>
          </a:p>
        </p:txBody>
      </p:sp>
      <p:sp>
        <p:nvSpPr>
          <p:cNvPr id="8" name="Rounded Rectangle 7"/>
          <p:cNvSpPr/>
          <p:nvPr/>
        </p:nvSpPr>
        <p:spPr>
          <a:xfrm>
            <a:off x="4334255" y="1325880"/>
            <a:ext cx="3520440" cy="301752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477255" y="1554480"/>
            <a:ext cx="1234440" cy="1234440"/>
          </a:xfrm>
          <a:prstGeom prst="ellipse">
            <a:avLst/>
          </a:prstGeom>
          <a:solidFill>
            <a:srgbClr val="0B1220"/>
          </a:solidFill>
          <a:ln w="19050">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antenna-bars-5-4CC9F0.png"/>
          <p:cNvPicPr>
            <a:picLocks noChangeAspect="1"/>
          </p:cNvPicPr>
          <p:nvPr/>
        </p:nvPicPr>
        <p:blipFill>
          <a:blip r:embed="rId6"/>
          <a:stretch>
            <a:fillRect/>
          </a:stretch>
        </p:blipFill>
        <p:spPr>
          <a:xfrm>
            <a:off x="5705855" y="1783080"/>
            <a:ext cx="777240" cy="777240"/>
          </a:xfrm>
          <a:prstGeom prst="rect">
            <a:avLst/>
          </a:prstGeom>
        </p:spPr>
      </p:pic>
      <p:sp>
        <p:nvSpPr>
          <p:cNvPr id="11" name="TextBox 10"/>
          <p:cNvSpPr txBox="1"/>
          <p:nvPr/>
        </p:nvSpPr>
        <p:spPr>
          <a:xfrm>
            <a:off x="4517136" y="2926080"/>
            <a:ext cx="3154680" cy="548640"/>
          </a:xfrm>
          <a:prstGeom prst="rect">
            <a:avLst/>
          </a:prstGeom>
          <a:noFill/>
        </p:spPr>
        <p:txBody>
          <a:bodyPr wrap="square" lIns="36576" rIns="36576" anchor="t">
            <a:spAutoFit/>
          </a:bodyPr>
          <a:lstStyle/>
          <a:p>
            <a:pPr algn="ctr">
              <a:spcAft>
                <a:spcPts val="600"/>
              </a:spcAft>
            </a:pPr>
            <a:r>
              <a:rPr sz="2600" b="1">
                <a:solidFill>
                  <a:srgbClr val="4CC9F0"/>
                </a:solidFill>
                <a:latin typeface="Consolas"/>
              </a:rPr>
              <a:t>is_reachable</a:t>
            </a:r>
          </a:p>
        </p:txBody>
      </p:sp>
      <p:sp>
        <p:nvSpPr>
          <p:cNvPr id="12" name="TextBox 11"/>
          <p:cNvSpPr txBox="1"/>
          <p:nvPr/>
        </p:nvSpPr>
        <p:spPr>
          <a:xfrm>
            <a:off x="4562855" y="3566160"/>
            <a:ext cx="3063240" cy="731520"/>
          </a:xfrm>
          <a:prstGeom prst="rect">
            <a:avLst/>
          </a:prstGeom>
          <a:noFill/>
        </p:spPr>
        <p:txBody>
          <a:bodyPr wrap="square" lIns="36576" rIns="36576" anchor="t">
            <a:spAutoFit/>
          </a:bodyPr>
          <a:lstStyle/>
          <a:p>
            <a:pPr algn="ctr">
              <a:spcAft>
                <a:spcPts val="600"/>
              </a:spcAft>
            </a:pPr>
            <a:r>
              <a:rPr sz="2000" b="0">
                <a:solidFill>
                  <a:srgbClr val="E6ECFF"/>
                </a:solidFill>
                <a:latin typeface="Calibri"/>
              </a:rPr>
              <a:t>Is this phone on the network?</a:t>
            </a:r>
          </a:p>
        </p:txBody>
      </p:sp>
      <p:sp>
        <p:nvSpPr>
          <p:cNvPr id="13" name="Rounded Rectangle 12"/>
          <p:cNvSpPr/>
          <p:nvPr/>
        </p:nvSpPr>
        <p:spPr>
          <a:xfrm>
            <a:off x="8119871" y="1325880"/>
            <a:ext cx="3520440" cy="301752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262872" y="1554480"/>
            <a:ext cx="1234440" cy="1234440"/>
          </a:xfrm>
          <a:prstGeom prst="ellipse">
            <a:avLst/>
          </a:prstGeom>
          <a:solidFill>
            <a:srgbClr val="0B1220"/>
          </a:solidFill>
          <a:ln w="19050">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bell-4CC9F0.png"/>
          <p:cNvPicPr>
            <a:picLocks noChangeAspect="1"/>
          </p:cNvPicPr>
          <p:nvPr/>
        </p:nvPicPr>
        <p:blipFill>
          <a:blip r:embed="rId7"/>
          <a:stretch>
            <a:fillRect/>
          </a:stretch>
        </p:blipFill>
        <p:spPr>
          <a:xfrm>
            <a:off x="9491472" y="1783080"/>
            <a:ext cx="777240" cy="777240"/>
          </a:xfrm>
          <a:prstGeom prst="rect">
            <a:avLst/>
          </a:prstGeom>
        </p:spPr>
      </p:pic>
      <p:sp>
        <p:nvSpPr>
          <p:cNvPr id="16" name="TextBox 15"/>
          <p:cNvSpPr txBox="1"/>
          <p:nvPr/>
        </p:nvSpPr>
        <p:spPr>
          <a:xfrm>
            <a:off x="8302751" y="2926080"/>
            <a:ext cx="3154680" cy="548640"/>
          </a:xfrm>
          <a:prstGeom prst="rect">
            <a:avLst/>
          </a:prstGeom>
          <a:noFill/>
        </p:spPr>
        <p:txBody>
          <a:bodyPr wrap="square" lIns="36576" rIns="36576" anchor="t">
            <a:spAutoFit/>
          </a:bodyPr>
          <a:lstStyle/>
          <a:p>
            <a:pPr algn="ctr">
              <a:spcAft>
                <a:spcPts val="600"/>
              </a:spcAft>
            </a:pPr>
            <a:r>
              <a:rPr sz="2600" b="1">
                <a:solidFill>
                  <a:srgbClr val="4CC9F0"/>
                </a:solidFill>
                <a:latin typeface="Consolas"/>
              </a:rPr>
              <a:t>watch_line</a:t>
            </a:r>
          </a:p>
        </p:txBody>
      </p:sp>
      <p:sp>
        <p:nvSpPr>
          <p:cNvPr id="17" name="TextBox 16"/>
          <p:cNvSpPr txBox="1"/>
          <p:nvPr/>
        </p:nvSpPr>
        <p:spPr>
          <a:xfrm>
            <a:off x="8348471" y="3566160"/>
            <a:ext cx="3063240" cy="731520"/>
          </a:xfrm>
          <a:prstGeom prst="rect">
            <a:avLst/>
          </a:prstGeom>
          <a:noFill/>
        </p:spPr>
        <p:txBody>
          <a:bodyPr wrap="square" lIns="36576" rIns="36576" anchor="t">
            <a:spAutoFit/>
          </a:bodyPr>
          <a:lstStyle/>
          <a:p>
            <a:pPr algn="ctr">
              <a:spcAft>
                <a:spcPts val="600"/>
              </a:spcAft>
            </a:pPr>
            <a:r>
              <a:rPr sz="2000" b="0">
                <a:solidFill>
                  <a:srgbClr val="E6ECFF"/>
                </a:solidFill>
                <a:latin typeface="Calibri"/>
              </a:rPr>
              <a:t>Text a watcher when it changes</a:t>
            </a:r>
          </a:p>
        </p:txBody>
      </p:sp>
      <p:sp>
        <p:nvSpPr>
          <p:cNvPr id="18" name="TextBox 17"/>
          <p:cNvSpPr txBox="1"/>
          <p:nvPr/>
        </p:nvSpPr>
        <p:spPr>
          <a:xfrm>
            <a:off x="548640" y="4434840"/>
            <a:ext cx="11094415" cy="640080"/>
          </a:xfrm>
          <a:prstGeom prst="rect">
            <a:avLst/>
          </a:prstGeom>
          <a:noFill/>
        </p:spPr>
        <p:txBody>
          <a:bodyPr wrap="square" lIns="36576" rIns="36576" anchor="t">
            <a:spAutoFit/>
          </a:bodyPr>
          <a:lstStyle/>
          <a:p>
            <a:pPr algn="ctr">
              <a:spcAft>
                <a:spcPts val="600"/>
              </a:spcAft>
            </a:pPr>
            <a:r>
              <a:rPr sz="1800" b="0">
                <a:solidFill>
                  <a:srgbClr val="9AA8CC"/>
                </a:solidFill>
                <a:latin typeface="Calibri"/>
              </a:rPr>
              <a:t>CAMARA: one open set of carrier network APIs, under the Linux Foundation</a:t>
            </a:r>
          </a:p>
        </p:txBody>
      </p:sp>
      <p:sp>
        <p:nvSpPr>
          <p:cNvPr id="19" name="Rounded Rectangle 18"/>
          <p:cNvSpPr/>
          <p:nvPr/>
        </p:nvSpPr>
        <p:spPr>
          <a:xfrm>
            <a:off x="548640" y="5166360"/>
            <a:ext cx="11094415" cy="685800"/>
          </a:xfrm>
          <a:prstGeom prst="roundRect">
            <a:avLst>
              <a:gd name="adj" fmla="val 50000"/>
            </a:avLst>
          </a:prstGeom>
          <a:solidFill>
            <a:srgbClr val="141F38"/>
          </a:solidFill>
          <a:ln w="19050">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lock-4CC9F0.png"/>
          <p:cNvPicPr>
            <a:picLocks noChangeAspect="1"/>
          </p:cNvPicPr>
          <p:nvPr/>
        </p:nvPicPr>
        <p:blipFill>
          <a:blip r:embed="rId8"/>
          <a:stretch>
            <a:fillRect/>
          </a:stretch>
        </p:blipFill>
        <p:spPr>
          <a:xfrm>
            <a:off x="777240" y="5317236"/>
            <a:ext cx="384048" cy="384048"/>
          </a:xfrm>
          <a:prstGeom prst="rect">
            <a:avLst/>
          </a:prstGeom>
        </p:spPr>
      </p:pic>
      <p:sp>
        <p:nvSpPr>
          <p:cNvPr id="21" name="TextBox 20"/>
          <p:cNvSpPr txBox="1"/>
          <p:nvPr/>
        </p:nvSpPr>
        <p:spPr>
          <a:xfrm>
            <a:off x="1280160" y="5166360"/>
            <a:ext cx="10134295" cy="685800"/>
          </a:xfrm>
          <a:prstGeom prst="rect">
            <a:avLst/>
          </a:prstGeom>
          <a:noFill/>
        </p:spPr>
        <p:txBody>
          <a:bodyPr wrap="square" lIns="36576" rIns="36576" anchor="ctr">
            <a:spAutoFit/>
          </a:bodyPr>
          <a:lstStyle/>
          <a:p>
            <a:pPr algn="l">
              <a:spcAft>
                <a:spcPts val="600"/>
              </a:spcAft>
            </a:pPr>
            <a:r>
              <a:rPr sz="2000" b="0">
                <a:solidFill>
                  <a:srgbClr val="4CC9F0"/>
                </a:solidFill>
                <a:latin typeface="Calibri"/>
              </a:rPr>
              <a:t>Consent first · bound with one tap · granted per tool · revocable</a:t>
            </a:r>
          </a:p>
        </p:txBody>
      </p:sp>
      <p:cxnSp>
        <p:nvCxnSpPr>
          <p:cNvPr id="22" name="Connector 21"/>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8640" y="6382512"/>
            <a:ext cx="8229600" cy="310896"/>
          </a:xfrm>
          <a:prstGeom prst="rect">
            <a:avLst/>
          </a:prstGeom>
          <a:noFill/>
        </p:spPr>
        <p:txBody>
          <a:bodyPr wrap="square" lIns="36576" rIns="36576" anchor="ctr">
            <a:spAutoFit/>
          </a:bodyPr>
          <a:lstStyle/>
          <a:p>
            <a:pPr algn="l">
              <a:spcAft>
                <a:spcPts val="600"/>
              </a:spcAft>
            </a:pPr>
            <a:r>
              <a:rPr sz="1100" b="0">
                <a:solidFill>
                  <a:srgbClr val="9AA8CC"/>
                </a:solidFill>
                <a:latin typeface="Calibri"/>
              </a:rPr>
              <a:t>03  •  Ask the Tower</a:t>
            </a:r>
          </a:p>
        </p:txBody>
      </p:sp>
      <p:sp>
        <p:nvSpPr>
          <p:cNvPr id="24" name="Rectangle 23"/>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793992"/>
            <a:ext cx="3325007"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slide-03.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368735" y="6382512"/>
            <a:ext cx="274320" cy="274320"/>
          </a:xfrm>
          <a:prstGeom prst="rect">
            <a:avLst/>
          </a:prstGeom>
        </p:spPr>
      </p:pic>
    </p:spTree>
  </p:cSld>
  <p:clrMapOvr>
    <a:masterClrMapping/>
  </p:clrMapOvr>
  <p:transition spd="med" advTm="3187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873"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2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1094415" cy="777240"/>
          </a:xfrm>
          <a:prstGeom prst="rect">
            <a:avLst/>
          </a:prstGeom>
          <a:noFill/>
        </p:spPr>
        <p:txBody>
          <a:bodyPr wrap="square" lIns="36576" rIns="36576" anchor="ctr">
            <a:spAutoFit/>
          </a:bodyPr>
          <a:lstStyle/>
          <a:p>
            <a:pPr algn="l">
              <a:spcAft>
                <a:spcPts val="600"/>
              </a:spcAft>
            </a:pPr>
            <a:r>
              <a:rPr sz="3200" b="1">
                <a:solidFill>
                  <a:srgbClr val="E6ECFF"/>
                </a:solidFill>
                <a:latin typeface="Calibri"/>
              </a:rPr>
              <a:t>Over to the demo</a:t>
            </a:r>
          </a:p>
        </p:txBody>
      </p:sp>
      <p:sp>
        <p:nvSpPr>
          <p:cNvPr id="3" name="Can 2"/>
          <p:cNvSpPr/>
          <p:nvPr/>
        </p:nvSpPr>
        <p:spPr>
          <a:xfrm>
            <a:off x="914400" y="1600200"/>
            <a:ext cx="2194560" cy="3200400"/>
          </a:xfrm>
          <a:prstGeom prst="can">
            <a:avLst>
              <a:gd name="adj" fmla="val 18000"/>
            </a:avLst>
          </a:prstGeom>
          <a:solidFill>
            <a:srgbClr val="1C2A4A"/>
          </a:solidFill>
          <a:ln w="15875">
            <a:solidFill>
              <a:srgbClr val="26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14400" y="1600200"/>
            <a:ext cx="2194560" cy="576072"/>
          </a:xfrm>
          <a:prstGeom prst="ellipse">
            <a:avLst/>
          </a:prstGeom>
          <a:noFill/>
          <a:ln w="57150">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device-speaker-9AA8CC.png"/>
          <p:cNvPicPr>
            <a:picLocks noChangeAspect="1"/>
          </p:cNvPicPr>
          <p:nvPr/>
        </p:nvPicPr>
        <p:blipFill>
          <a:blip r:embed="rId5"/>
          <a:stretch>
            <a:fillRect/>
          </a:stretch>
        </p:blipFill>
        <p:spPr>
          <a:xfrm>
            <a:off x="1600200" y="2926080"/>
            <a:ext cx="822960" cy="822960"/>
          </a:xfrm>
          <a:prstGeom prst="rect">
            <a:avLst/>
          </a:prstGeom>
        </p:spPr>
      </p:pic>
      <p:sp>
        <p:nvSpPr>
          <p:cNvPr id="6" name="TextBox 5"/>
          <p:cNvSpPr txBox="1"/>
          <p:nvPr/>
        </p:nvSpPr>
        <p:spPr>
          <a:xfrm>
            <a:off x="548640" y="4892040"/>
            <a:ext cx="2926080" cy="457200"/>
          </a:xfrm>
          <a:prstGeom prst="rect">
            <a:avLst/>
          </a:prstGeom>
          <a:noFill/>
        </p:spPr>
        <p:txBody>
          <a:bodyPr wrap="square" lIns="36576" rIns="36576" anchor="t">
            <a:spAutoFit/>
          </a:bodyPr>
          <a:lstStyle/>
          <a:p>
            <a:pPr algn="ctr">
              <a:spcAft>
                <a:spcPts val="600"/>
              </a:spcAft>
            </a:pPr>
            <a:r>
              <a:rPr sz="1800" b="0">
                <a:solidFill>
                  <a:srgbClr val="9AA8CC"/>
                </a:solidFill>
                <a:latin typeface="Calibri"/>
              </a:rPr>
              <a:t>Alexa+ or the web chat</a:t>
            </a:r>
          </a:p>
        </p:txBody>
      </p:sp>
      <p:sp>
        <p:nvSpPr>
          <p:cNvPr id="7" name="Rounded Rectangular Callout 6"/>
          <p:cNvSpPr/>
          <p:nvPr/>
        </p:nvSpPr>
        <p:spPr>
          <a:xfrm>
            <a:off x="3931920" y="1280160"/>
            <a:ext cx="7708392" cy="1078992"/>
          </a:xfrm>
          <a:prstGeom prst="wedgeRoundRectCallout">
            <a:avLst>
              <a:gd name="adj1" fmla="val -56000"/>
              <a:gd name="adj2" fmla="val 10000"/>
              <a:gd name="adj3" fmla="val 16667"/>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60520" y="1325880"/>
            <a:ext cx="7315200" cy="1005840"/>
          </a:xfrm>
          <a:prstGeom prst="rect">
            <a:avLst/>
          </a:prstGeom>
          <a:noFill/>
        </p:spPr>
        <p:txBody>
          <a:bodyPr wrap="square" lIns="36576" rIns="36576" anchor="ctr">
            <a:spAutoFit/>
          </a:bodyPr>
          <a:lstStyle/>
          <a:p>
            <a:pPr algn="l">
              <a:spcAft>
                <a:spcPts val="200"/>
              </a:spcAft>
            </a:pPr>
            <a:r>
              <a:rPr sz="2200" b="1">
                <a:solidFill>
                  <a:srgbClr val="E6ECFF"/>
                </a:solidFill>
                <a:latin typeface="Calibri"/>
              </a:rPr>
              <a:t>“Is my line OK?”</a:t>
            </a:r>
          </a:p>
          <a:p>
            <a:pPr algn="l">
              <a:spcAft>
                <a:spcPts val="200"/>
              </a:spcAft>
            </a:pPr>
            <a:r>
              <a:rPr sz="1800" b="0">
                <a:solidFill>
                  <a:srgbClr val="4CC9F0"/>
                </a:solidFill>
                <a:latin typeface="Calibri"/>
              </a:rPr>
              <a:t>→ SIM moved: don't call from that phone</a:t>
            </a:r>
          </a:p>
        </p:txBody>
      </p:sp>
      <p:sp>
        <p:nvSpPr>
          <p:cNvPr id="9" name="Rounded Rectangular Callout 8"/>
          <p:cNvSpPr/>
          <p:nvPr/>
        </p:nvSpPr>
        <p:spPr>
          <a:xfrm>
            <a:off x="3931920" y="2578608"/>
            <a:ext cx="7708392" cy="1078992"/>
          </a:xfrm>
          <a:prstGeom prst="wedgeRoundRectCallout">
            <a:avLst>
              <a:gd name="adj1" fmla="val -56000"/>
              <a:gd name="adj2" fmla="val 10000"/>
              <a:gd name="adj3" fmla="val 16667"/>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60520" y="2624327"/>
            <a:ext cx="7315200" cy="1005840"/>
          </a:xfrm>
          <a:prstGeom prst="rect">
            <a:avLst/>
          </a:prstGeom>
          <a:noFill/>
        </p:spPr>
        <p:txBody>
          <a:bodyPr wrap="square" lIns="36576" rIns="36576" anchor="ctr">
            <a:spAutoFit/>
          </a:bodyPr>
          <a:lstStyle/>
          <a:p>
            <a:pPr algn="l">
              <a:spcAft>
                <a:spcPts val="200"/>
              </a:spcAft>
            </a:pPr>
            <a:r>
              <a:rPr sz="2200" b="1">
                <a:solidFill>
                  <a:srgbClr val="E6ECFF"/>
                </a:solidFill>
                <a:latin typeface="Calibri"/>
              </a:rPr>
              <a:t>“Is anything forwarding my calls?”</a:t>
            </a:r>
          </a:p>
          <a:p>
            <a:pPr algn="l">
              <a:spcAft>
                <a:spcPts val="200"/>
              </a:spcAft>
            </a:pPr>
            <a:r>
              <a:rPr sz="1800" b="0">
                <a:solidFill>
                  <a:srgbClr val="4CC9F0"/>
                </a:solidFill>
                <a:latin typeface="Calibri"/>
              </a:rPr>
              <a:t>→ Forwarding set: call your carrier</a:t>
            </a:r>
          </a:p>
        </p:txBody>
      </p:sp>
      <p:sp>
        <p:nvSpPr>
          <p:cNvPr id="11" name="Rounded Rectangular Callout 10"/>
          <p:cNvSpPr/>
          <p:nvPr/>
        </p:nvSpPr>
        <p:spPr>
          <a:xfrm>
            <a:off x="3931920" y="3877056"/>
            <a:ext cx="7708392" cy="1078992"/>
          </a:xfrm>
          <a:prstGeom prst="wedgeRoundRectCallout">
            <a:avLst>
              <a:gd name="adj1" fmla="val -56000"/>
              <a:gd name="adj2" fmla="val 10000"/>
              <a:gd name="adj3" fmla="val 16667"/>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60520" y="3922776"/>
            <a:ext cx="7315200" cy="1005840"/>
          </a:xfrm>
          <a:prstGeom prst="rect">
            <a:avLst/>
          </a:prstGeom>
          <a:noFill/>
        </p:spPr>
        <p:txBody>
          <a:bodyPr wrap="square" lIns="36576" rIns="36576" anchor="ctr">
            <a:spAutoFit/>
          </a:bodyPr>
          <a:lstStyle/>
          <a:p>
            <a:pPr algn="l">
              <a:spcAft>
                <a:spcPts val="200"/>
              </a:spcAft>
            </a:pPr>
            <a:r>
              <a:rPr sz="2200" b="1">
                <a:solidFill>
                  <a:srgbClr val="E6ECFF"/>
                </a:solidFill>
                <a:latin typeface="Calibri"/>
              </a:rPr>
              <a:t>“Is Mom's line OK?”</a:t>
            </a:r>
          </a:p>
          <a:p>
            <a:pPr algn="l">
              <a:spcAft>
                <a:spcPts val="200"/>
              </a:spcAft>
            </a:pPr>
            <a:r>
              <a:rPr sz="1800" b="0">
                <a:solidFill>
                  <a:srgbClr val="4CC9F0"/>
                </a:solidFill>
                <a:latin typeface="Calibri"/>
              </a:rPr>
              <a:t>→ As it was; a text if it changes</a:t>
            </a:r>
          </a:p>
        </p:txBody>
      </p:sp>
      <p:sp>
        <p:nvSpPr>
          <p:cNvPr id="13" name="TextBox 12"/>
          <p:cNvSpPr txBox="1"/>
          <p:nvPr/>
        </p:nvSpPr>
        <p:spPr>
          <a:xfrm>
            <a:off x="3931920" y="5257800"/>
            <a:ext cx="5120640" cy="640080"/>
          </a:xfrm>
          <a:prstGeom prst="rect">
            <a:avLst/>
          </a:prstGeom>
          <a:noFill/>
        </p:spPr>
        <p:txBody>
          <a:bodyPr wrap="square" lIns="36576" rIns="36576" anchor="ctr">
            <a:spAutoFit/>
          </a:bodyPr>
          <a:lstStyle/>
          <a:p>
            <a:pPr algn="l">
              <a:spcAft>
                <a:spcPts val="600"/>
              </a:spcAft>
            </a:pPr>
            <a:r>
              <a:rPr sz="2000" b="0">
                <a:solidFill>
                  <a:srgbClr val="9AA8CC"/>
                </a:solidFill>
                <a:latin typeface="Calibri"/>
              </a:rPr>
              <a:t>Three moments, answered from the carrier</a:t>
            </a:r>
          </a:p>
        </p:txBody>
      </p:sp>
      <p:sp>
        <p:nvSpPr>
          <p:cNvPr id="14" name="Oval 13"/>
          <p:cNvSpPr/>
          <p:nvPr/>
        </p:nvSpPr>
        <p:spPr>
          <a:xfrm>
            <a:off x="9144000" y="5193792"/>
            <a:ext cx="749808" cy="749808"/>
          </a:xfrm>
          <a:prstGeom prst="ellipse">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player-play-0B1220.png"/>
          <p:cNvPicPr>
            <a:picLocks noChangeAspect="1"/>
          </p:cNvPicPr>
          <p:nvPr/>
        </p:nvPicPr>
        <p:blipFill>
          <a:blip r:embed="rId6"/>
          <a:stretch>
            <a:fillRect/>
          </a:stretch>
        </p:blipFill>
        <p:spPr>
          <a:xfrm>
            <a:off x="9290304" y="5340096"/>
            <a:ext cx="457200" cy="457200"/>
          </a:xfrm>
          <a:prstGeom prst="rect">
            <a:avLst/>
          </a:prstGeom>
        </p:spPr>
      </p:pic>
      <p:sp>
        <p:nvSpPr>
          <p:cNvPr id="16" name="TextBox 15"/>
          <p:cNvSpPr txBox="1"/>
          <p:nvPr/>
        </p:nvSpPr>
        <p:spPr>
          <a:xfrm>
            <a:off x="10012680" y="5193792"/>
            <a:ext cx="1737360" cy="749808"/>
          </a:xfrm>
          <a:prstGeom prst="rect">
            <a:avLst/>
          </a:prstGeom>
          <a:noFill/>
        </p:spPr>
        <p:txBody>
          <a:bodyPr wrap="square" lIns="36576" rIns="36576" anchor="ctr">
            <a:spAutoFit/>
          </a:bodyPr>
          <a:lstStyle/>
          <a:p>
            <a:pPr algn="l">
              <a:spcAft>
                <a:spcPts val="600"/>
              </a:spcAft>
            </a:pPr>
            <a:r>
              <a:rPr sz="2400" b="1">
                <a:solidFill>
                  <a:srgbClr val="4CC9F0"/>
                </a:solidFill>
                <a:latin typeface="Calibri"/>
              </a:rPr>
              <a:t>Let's hear it</a:t>
            </a:r>
          </a:p>
        </p:txBody>
      </p:sp>
      <p:cxnSp>
        <p:nvCxnSpPr>
          <p:cNvPr id="17" name="Connector 16"/>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6382512"/>
            <a:ext cx="8229600" cy="310896"/>
          </a:xfrm>
          <a:prstGeom prst="rect">
            <a:avLst/>
          </a:prstGeom>
          <a:noFill/>
        </p:spPr>
        <p:txBody>
          <a:bodyPr wrap="square" lIns="36576" rIns="36576" anchor="ctr">
            <a:spAutoFit/>
          </a:bodyPr>
          <a:lstStyle/>
          <a:p>
            <a:pPr algn="l">
              <a:spcAft>
                <a:spcPts val="600"/>
              </a:spcAft>
            </a:pPr>
            <a:r>
              <a:rPr sz="1100" b="0">
                <a:solidFill>
                  <a:srgbClr val="9AA8CC"/>
                </a:solidFill>
                <a:latin typeface="Calibri"/>
              </a:rPr>
              <a:t>04  •  Ask the Tower</a:t>
            </a:r>
          </a:p>
        </p:txBody>
      </p:sp>
      <p:sp>
        <p:nvSpPr>
          <p:cNvPr id="19" name="Rectangle 18"/>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6793992"/>
            <a:ext cx="4433343"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slide-04.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368735" y="6382512"/>
            <a:ext cx="274320" cy="274320"/>
          </a:xfrm>
          <a:prstGeom prst="rect">
            <a:avLst/>
          </a:prstGeom>
        </p:spPr>
      </p:pic>
    </p:spTree>
  </p:cSld>
  <p:clrMapOvr>
    <a:masterClrMapping/>
  </p:clrMapOvr>
  <p:transition spd="med" advTm="2688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883"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2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1094415" cy="777240"/>
          </a:xfrm>
          <a:prstGeom prst="rect">
            <a:avLst/>
          </a:prstGeom>
          <a:noFill/>
        </p:spPr>
        <p:txBody>
          <a:bodyPr wrap="square" lIns="36576" rIns="36576" anchor="ctr">
            <a:spAutoFit/>
          </a:bodyPr>
          <a:lstStyle/>
          <a:p>
            <a:pPr algn="l">
              <a:spcAft>
                <a:spcPts val="600"/>
              </a:spcAft>
            </a:pPr>
            <a:r>
              <a:rPr sz="3200" b="1">
                <a:solidFill>
                  <a:srgbClr val="E6ECFF"/>
                </a:solidFill>
                <a:latin typeface="Calibri"/>
              </a:rPr>
              <a:t>How it runs on AWS</a:t>
            </a:r>
          </a:p>
        </p:txBody>
      </p:sp>
      <p:sp>
        <p:nvSpPr>
          <p:cNvPr id="3" name="Rounded Rectangle 2"/>
          <p:cNvSpPr/>
          <p:nvPr/>
        </p:nvSpPr>
        <p:spPr>
          <a:xfrm>
            <a:off x="429768" y="1115568"/>
            <a:ext cx="8658016" cy="5129784"/>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12-aws-as-built.png"/>
          <p:cNvPicPr>
            <a:picLocks noChangeAspect="1"/>
          </p:cNvPicPr>
          <p:nvPr/>
        </p:nvPicPr>
        <p:blipFill>
          <a:blip r:embed="rId5"/>
          <a:stretch>
            <a:fillRect/>
          </a:stretch>
        </p:blipFill>
        <p:spPr>
          <a:xfrm>
            <a:off x="502920" y="1188720"/>
            <a:ext cx="8511712" cy="4983480"/>
          </a:xfrm>
          <a:prstGeom prst="rect">
            <a:avLst/>
          </a:prstGeom>
        </p:spPr>
      </p:pic>
      <p:sp>
        <p:nvSpPr>
          <p:cNvPr id="5" name="Oval 4"/>
          <p:cNvSpPr/>
          <p:nvPr/>
        </p:nvSpPr>
        <p:spPr>
          <a:xfrm>
            <a:off x="9288952" y="1234440"/>
            <a:ext cx="384048" cy="384048"/>
          </a:xfrm>
          <a:prstGeom prst="ellipse">
            <a:avLst/>
          </a:prstGeom>
          <a:solidFill>
            <a:srgbClr val="4CC9F0"/>
          </a:solidFill>
          <a:ln w="1905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88952" y="1234440"/>
            <a:ext cx="384048" cy="384048"/>
          </a:xfrm>
          <a:prstGeom prst="rect">
            <a:avLst/>
          </a:prstGeom>
          <a:noFill/>
        </p:spPr>
        <p:txBody>
          <a:bodyPr wrap="square" lIns="36576" rIns="36576" anchor="ctr">
            <a:spAutoFit/>
          </a:bodyPr>
          <a:lstStyle/>
          <a:p>
            <a:pPr algn="ctr">
              <a:spcAft>
                <a:spcPts val="600"/>
              </a:spcAft>
            </a:pPr>
            <a:r>
              <a:rPr sz="1500" b="1">
                <a:solidFill>
                  <a:srgbClr val="0B1220"/>
                </a:solidFill>
                <a:latin typeface="Calibri"/>
              </a:rPr>
              <a:t>1</a:t>
            </a:r>
          </a:p>
        </p:txBody>
      </p:sp>
      <p:sp>
        <p:nvSpPr>
          <p:cNvPr id="7" name="TextBox 6"/>
          <p:cNvSpPr txBox="1"/>
          <p:nvPr/>
        </p:nvSpPr>
        <p:spPr>
          <a:xfrm>
            <a:off x="9791872" y="1161288"/>
            <a:ext cx="1988342" cy="1005840"/>
          </a:xfrm>
          <a:prstGeom prst="rect">
            <a:avLst/>
          </a:prstGeom>
          <a:noFill/>
        </p:spPr>
        <p:txBody>
          <a:bodyPr wrap="square" lIns="36576" rIns="36576" anchor="t">
            <a:spAutoFit/>
          </a:bodyPr>
          <a:lstStyle/>
          <a:p>
            <a:pPr algn="l">
              <a:spcAft>
                <a:spcPts val="600"/>
              </a:spcAft>
            </a:pPr>
            <a:r>
              <a:rPr sz="1800" b="0">
                <a:solidFill>
                  <a:srgbClr val="E6ECFF"/>
                </a:solidFill>
                <a:latin typeface="Calibri"/>
              </a:rPr>
              <a:t>Alexa+ or web chat asks</a:t>
            </a:r>
          </a:p>
        </p:txBody>
      </p:sp>
      <p:sp>
        <p:nvSpPr>
          <p:cNvPr id="8" name="Oval 7"/>
          <p:cNvSpPr/>
          <p:nvPr/>
        </p:nvSpPr>
        <p:spPr>
          <a:xfrm>
            <a:off x="9288952" y="2331720"/>
            <a:ext cx="384048" cy="384048"/>
          </a:xfrm>
          <a:prstGeom prst="ellipse">
            <a:avLst/>
          </a:prstGeom>
          <a:solidFill>
            <a:srgbClr val="4CC9F0"/>
          </a:solidFill>
          <a:ln w="1905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88952" y="2331720"/>
            <a:ext cx="384048" cy="384048"/>
          </a:xfrm>
          <a:prstGeom prst="rect">
            <a:avLst/>
          </a:prstGeom>
          <a:noFill/>
        </p:spPr>
        <p:txBody>
          <a:bodyPr wrap="square" lIns="36576" rIns="36576" anchor="ctr">
            <a:spAutoFit/>
          </a:bodyPr>
          <a:lstStyle/>
          <a:p>
            <a:pPr algn="ctr">
              <a:spcAft>
                <a:spcPts val="600"/>
              </a:spcAft>
            </a:pPr>
            <a:r>
              <a:rPr sz="1500" b="1">
                <a:solidFill>
                  <a:srgbClr val="0B1220"/>
                </a:solidFill>
                <a:latin typeface="Calibri"/>
              </a:rPr>
              <a:t>2</a:t>
            </a:r>
          </a:p>
        </p:txBody>
      </p:sp>
      <p:sp>
        <p:nvSpPr>
          <p:cNvPr id="10" name="TextBox 9"/>
          <p:cNvSpPr txBox="1"/>
          <p:nvPr/>
        </p:nvSpPr>
        <p:spPr>
          <a:xfrm>
            <a:off x="9791872" y="2258568"/>
            <a:ext cx="1988342" cy="1005840"/>
          </a:xfrm>
          <a:prstGeom prst="rect">
            <a:avLst/>
          </a:prstGeom>
          <a:noFill/>
        </p:spPr>
        <p:txBody>
          <a:bodyPr wrap="square" lIns="36576" rIns="36576" anchor="t">
            <a:spAutoFit/>
          </a:bodyPr>
          <a:lstStyle/>
          <a:p>
            <a:pPr algn="l">
              <a:spcAft>
                <a:spcPts val="600"/>
              </a:spcAft>
            </a:pPr>
            <a:r>
              <a:rPr sz="1800" b="0">
                <a:solidFill>
                  <a:srgbClr val="E6ECFF"/>
                </a:solidFill>
                <a:latin typeface="Calibri"/>
              </a:rPr>
              <a:t>Tower, our MCP server, on Runtime</a:t>
            </a:r>
          </a:p>
        </p:txBody>
      </p:sp>
      <p:sp>
        <p:nvSpPr>
          <p:cNvPr id="11" name="Oval 10"/>
          <p:cNvSpPr/>
          <p:nvPr/>
        </p:nvSpPr>
        <p:spPr>
          <a:xfrm>
            <a:off x="9288952" y="3429000"/>
            <a:ext cx="384048" cy="384048"/>
          </a:xfrm>
          <a:prstGeom prst="ellipse">
            <a:avLst/>
          </a:prstGeom>
          <a:solidFill>
            <a:srgbClr val="4CC9F0"/>
          </a:solidFill>
          <a:ln w="1905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288952" y="3429000"/>
            <a:ext cx="384048" cy="384048"/>
          </a:xfrm>
          <a:prstGeom prst="rect">
            <a:avLst/>
          </a:prstGeom>
          <a:noFill/>
        </p:spPr>
        <p:txBody>
          <a:bodyPr wrap="square" lIns="36576" rIns="36576" anchor="ctr">
            <a:spAutoFit/>
          </a:bodyPr>
          <a:lstStyle/>
          <a:p>
            <a:pPr algn="ctr">
              <a:spcAft>
                <a:spcPts val="600"/>
              </a:spcAft>
            </a:pPr>
            <a:r>
              <a:rPr sz="1500" b="1">
                <a:solidFill>
                  <a:srgbClr val="0B1220"/>
                </a:solidFill>
                <a:latin typeface="Calibri"/>
              </a:rPr>
              <a:t>3</a:t>
            </a:r>
          </a:p>
        </p:txBody>
      </p:sp>
      <p:sp>
        <p:nvSpPr>
          <p:cNvPr id="13" name="TextBox 12"/>
          <p:cNvSpPr txBox="1"/>
          <p:nvPr/>
        </p:nvSpPr>
        <p:spPr>
          <a:xfrm>
            <a:off x="9791872" y="3355848"/>
            <a:ext cx="1988342" cy="1005840"/>
          </a:xfrm>
          <a:prstGeom prst="rect">
            <a:avLst/>
          </a:prstGeom>
          <a:noFill/>
        </p:spPr>
        <p:txBody>
          <a:bodyPr wrap="square" lIns="36576" rIns="36576" anchor="t">
            <a:spAutoFit/>
          </a:bodyPr>
          <a:lstStyle/>
          <a:p>
            <a:pPr algn="l">
              <a:spcAft>
                <a:spcPts val="600"/>
              </a:spcAft>
            </a:pPr>
            <a:r>
              <a:rPr sz="1800" b="0">
                <a:solidFill>
                  <a:srgbClr val="E6ECFF"/>
                </a:solidFill>
                <a:latin typeface="Calibri"/>
              </a:rPr>
              <a:t>Gateway + Identity: CAMARA as MCP tools</a:t>
            </a:r>
          </a:p>
        </p:txBody>
      </p:sp>
      <p:sp>
        <p:nvSpPr>
          <p:cNvPr id="14" name="Oval 13"/>
          <p:cNvSpPr/>
          <p:nvPr/>
        </p:nvSpPr>
        <p:spPr>
          <a:xfrm>
            <a:off x="9288952" y="4526279"/>
            <a:ext cx="384048" cy="384048"/>
          </a:xfrm>
          <a:prstGeom prst="ellipse">
            <a:avLst/>
          </a:prstGeom>
          <a:solidFill>
            <a:srgbClr val="4CC9F0"/>
          </a:solidFill>
          <a:ln w="1905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88952" y="4526279"/>
            <a:ext cx="384048" cy="384048"/>
          </a:xfrm>
          <a:prstGeom prst="rect">
            <a:avLst/>
          </a:prstGeom>
          <a:noFill/>
        </p:spPr>
        <p:txBody>
          <a:bodyPr wrap="square" lIns="36576" rIns="36576" anchor="ctr">
            <a:spAutoFit/>
          </a:bodyPr>
          <a:lstStyle/>
          <a:p>
            <a:pPr algn="ctr">
              <a:spcAft>
                <a:spcPts val="600"/>
              </a:spcAft>
            </a:pPr>
            <a:r>
              <a:rPr sz="1500" b="1">
                <a:solidFill>
                  <a:srgbClr val="0B1220"/>
                </a:solidFill>
                <a:latin typeface="Calibri"/>
              </a:rPr>
              <a:t>4</a:t>
            </a:r>
          </a:p>
        </p:txBody>
      </p:sp>
      <p:sp>
        <p:nvSpPr>
          <p:cNvPr id="16" name="TextBox 15"/>
          <p:cNvSpPr txBox="1"/>
          <p:nvPr/>
        </p:nvSpPr>
        <p:spPr>
          <a:xfrm>
            <a:off x="9791872" y="4453127"/>
            <a:ext cx="1988342" cy="1005840"/>
          </a:xfrm>
          <a:prstGeom prst="rect">
            <a:avLst/>
          </a:prstGeom>
          <a:noFill/>
        </p:spPr>
        <p:txBody>
          <a:bodyPr wrap="square" lIns="36576" rIns="36576" anchor="t">
            <a:spAutoFit/>
          </a:bodyPr>
          <a:lstStyle/>
          <a:p>
            <a:pPr algn="l">
              <a:spcAft>
                <a:spcPts val="600"/>
              </a:spcAft>
            </a:pPr>
            <a:r>
              <a:rPr sz="1800" b="0">
                <a:solidFill>
                  <a:srgbClr val="E6ECFF"/>
                </a:solidFill>
                <a:latin typeface="Calibri"/>
              </a:rPr>
              <a:t>Carrier: CAMARA mock on Fargate</a:t>
            </a:r>
          </a:p>
        </p:txBody>
      </p:sp>
      <p:sp>
        <p:nvSpPr>
          <p:cNvPr id="17" name="TextBox 16"/>
          <p:cNvSpPr txBox="1"/>
          <p:nvPr/>
        </p:nvSpPr>
        <p:spPr>
          <a:xfrm>
            <a:off x="9288952" y="5486400"/>
            <a:ext cx="2491262" cy="777240"/>
          </a:xfrm>
          <a:prstGeom prst="rect">
            <a:avLst/>
          </a:prstGeom>
          <a:noFill/>
        </p:spPr>
        <p:txBody>
          <a:bodyPr wrap="square" lIns="36576" rIns="36576" anchor="t">
            <a:spAutoFit/>
          </a:bodyPr>
          <a:lstStyle/>
          <a:p>
            <a:pPr algn="l">
              <a:spcAft>
                <a:spcPts val="600"/>
              </a:spcAft>
            </a:pPr>
            <a:r>
              <a:rPr sz="1400" b="0">
                <a:solidFill>
                  <a:srgbClr val="9AA8CC"/>
                </a:solidFill>
                <a:latin typeface="Calibri"/>
              </a:rPr>
              <a:t>accent = our code · grey = AWS managed · amber = carrier boundary</a:t>
            </a:r>
          </a:p>
        </p:txBody>
      </p:sp>
      <p:cxnSp>
        <p:nvCxnSpPr>
          <p:cNvPr id="18" name="Connector 17"/>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6382512"/>
            <a:ext cx="8229600" cy="310896"/>
          </a:xfrm>
          <a:prstGeom prst="rect">
            <a:avLst/>
          </a:prstGeom>
          <a:noFill/>
        </p:spPr>
        <p:txBody>
          <a:bodyPr wrap="square" lIns="36576" rIns="36576" anchor="ctr">
            <a:spAutoFit/>
          </a:bodyPr>
          <a:lstStyle/>
          <a:p>
            <a:pPr algn="l">
              <a:spcAft>
                <a:spcPts val="600"/>
              </a:spcAft>
            </a:pPr>
            <a:r>
              <a:rPr sz="1100" b="0">
                <a:solidFill>
                  <a:srgbClr val="9AA8CC"/>
                </a:solidFill>
                <a:latin typeface="Calibri"/>
              </a:rPr>
              <a:t>05  •  Ask the Tower</a:t>
            </a:r>
          </a:p>
        </p:txBody>
      </p:sp>
      <p:sp>
        <p:nvSpPr>
          <p:cNvPr id="20" name="Rectangle 19"/>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793992"/>
            <a:ext cx="5541679"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slide-05.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368735" y="6382512"/>
            <a:ext cx="274320" cy="274320"/>
          </a:xfrm>
          <a:prstGeom prst="rect">
            <a:avLst/>
          </a:prstGeom>
        </p:spPr>
      </p:pic>
    </p:spTree>
  </p:cSld>
  <p:clrMapOvr>
    <a:masterClrMapping/>
  </p:clrMapOvr>
  <p:transition spd="med" advTm="2983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9835"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2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pic>
        <p:nvPicPr>
          <p:cNvPr id="2" name="Picture 1" descr="key-4CC9F0.png"/>
          <p:cNvPicPr>
            <a:picLocks noChangeAspect="1"/>
          </p:cNvPicPr>
          <p:nvPr/>
        </p:nvPicPr>
        <p:blipFill>
          <a:blip r:embed="rId5"/>
          <a:stretch>
            <a:fillRect/>
          </a:stretch>
        </p:blipFill>
        <p:spPr>
          <a:xfrm>
            <a:off x="548640" y="384048"/>
            <a:ext cx="566928" cy="566928"/>
          </a:xfrm>
          <a:prstGeom prst="rect">
            <a:avLst/>
          </a:prstGeom>
        </p:spPr>
      </p:pic>
      <p:sp>
        <p:nvSpPr>
          <p:cNvPr id="3" name="TextBox 2"/>
          <p:cNvSpPr txBox="1"/>
          <p:nvPr/>
        </p:nvSpPr>
        <p:spPr>
          <a:xfrm>
            <a:off x="1280160" y="274320"/>
            <a:ext cx="10362895" cy="777240"/>
          </a:xfrm>
          <a:prstGeom prst="rect">
            <a:avLst/>
          </a:prstGeom>
          <a:noFill/>
        </p:spPr>
        <p:txBody>
          <a:bodyPr wrap="square" lIns="36576" rIns="36576" anchor="ctr">
            <a:spAutoFit/>
          </a:bodyPr>
          <a:lstStyle/>
          <a:p>
            <a:pPr algn="l">
              <a:spcAft>
                <a:spcPts val="600"/>
              </a:spcAft>
            </a:pPr>
            <a:r>
              <a:rPr sz="3200" b="1">
                <a:solidFill>
                  <a:srgbClr val="E6ECFF"/>
                </a:solidFill>
                <a:latin typeface="Calibri"/>
              </a:rPr>
              <a:t>Stateless MCP on AgentCore Runtime</a:t>
            </a:r>
          </a:p>
        </p:txBody>
      </p:sp>
      <p:sp>
        <p:nvSpPr>
          <p:cNvPr id="4" name="Rounded Rectangle 3"/>
          <p:cNvSpPr/>
          <p:nvPr/>
        </p:nvSpPr>
        <p:spPr>
          <a:xfrm>
            <a:off x="548640" y="1188720"/>
            <a:ext cx="11094415" cy="146304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61872"/>
            <a:ext cx="10637215" cy="1325880"/>
          </a:xfrm>
          <a:prstGeom prst="rect">
            <a:avLst/>
          </a:prstGeom>
          <a:noFill/>
        </p:spPr>
        <p:txBody>
          <a:bodyPr wrap="square" lIns="36576" rIns="36576" anchor="t">
            <a:spAutoFit/>
          </a:bodyPr>
          <a:lstStyle/>
          <a:p>
            <a:pPr algn="l">
              <a:spcAft>
                <a:spcPts val="300"/>
              </a:spcAft>
            </a:pPr>
            <a:r>
              <a:rPr sz="1300" b="1">
                <a:solidFill>
                  <a:srgbClr val="4CC9F0"/>
                </a:solidFill>
                <a:latin typeface="Calibri"/>
              </a:rPr>
              <a:t>DECISION</a:t>
            </a:r>
          </a:p>
          <a:p>
            <a:pPr algn="l">
              <a:spcAft>
                <a:spcPts val="300"/>
              </a:spcAft>
            </a:pPr>
            <a:r>
              <a:rPr sz="2200" b="1">
                <a:solidFill>
                  <a:srgbClr val="E6ECFF"/>
                </a:solidFill>
                <a:latin typeface="Calibri"/>
              </a:rPr>
              <a:t>A stateless MCP server on AgentCore Runtime</a:t>
            </a:r>
          </a:p>
          <a:p>
            <a:pPr algn="l">
              <a:spcAft>
                <a:spcPts val="300"/>
              </a:spcAft>
            </a:pPr>
            <a:r>
              <a:rPr sz="1800" b="0">
                <a:solidFill>
                  <a:srgbClr val="9AA8CC"/>
                </a:solidFill>
                <a:latin typeface="Calibri"/>
              </a:rPr>
              <a:t>Managed MCP hosting; all state in DynamoDB</a:t>
            </a:r>
          </a:p>
        </p:txBody>
      </p:sp>
      <p:sp>
        <p:nvSpPr>
          <p:cNvPr id="6" name="Oval 5"/>
          <p:cNvSpPr/>
          <p:nvPr/>
        </p:nvSpPr>
        <p:spPr>
          <a:xfrm>
            <a:off x="1386801" y="3017520"/>
            <a:ext cx="1097280" cy="1097280"/>
          </a:xfrm>
          <a:prstGeom prst="ellipse">
            <a:avLst/>
          </a:prstGeom>
          <a:solidFill>
            <a:srgbClr val="141F38"/>
          </a:solidFill>
          <a:ln w="25400">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device-speaker-8A94A6.png"/>
          <p:cNvPicPr>
            <a:picLocks noChangeAspect="1"/>
          </p:cNvPicPr>
          <p:nvPr/>
        </p:nvPicPr>
        <p:blipFill>
          <a:blip r:embed="rId6"/>
          <a:stretch>
            <a:fillRect/>
          </a:stretch>
        </p:blipFill>
        <p:spPr>
          <a:xfrm>
            <a:off x="1606257" y="3236976"/>
            <a:ext cx="658368" cy="658368"/>
          </a:xfrm>
          <a:prstGeom prst="rect">
            <a:avLst/>
          </a:prstGeom>
        </p:spPr>
      </p:pic>
      <p:sp>
        <p:nvSpPr>
          <p:cNvPr id="8" name="TextBox 7"/>
          <p:cNvSpPr txBox="1"/>
          <p:nvPr/>
        </p:nvSpPr>
        <p:spPr>
          <a:xfrm>
            <a:off x="883881" y="4251960"/>
            <a:ext cx="2103120" cy="1097280"/>
          </a:xfrm>
          <a:prstGeom prst="rect">
            <a:avLst/>
          </a:prstGeom>
          <a:noFill/>
        </p:spPr>
        <p:txBody>
          <a:bodyPr wrap="square" lIns="36576" rIns="36576" anchor="t">
            <a:spAutoFit/>
          </a:bodyPr>
          <a:lstStyle/>
          <a:p>
            <a:pPr algn="ctr">
              <a:spcAft>
                <a:spcPts val="600"/>
              </a:spcAft>
            </a:pPr>
            <a:r>
              <a:rPr sz="1800" b="0">
                <a:solidFill>
                  <a:srgbClr val="E6ECFF"/>
                </a:solidFill>
                <a:latin typeface="Calibri"/>
              </a:rPr>
              <a:t>Alexa+ or web chat</a:t>
            </a:r>
          </a:p>
        </p:txBody>
      </p:sp>
      <p:sp>
        <p:nvSpPr>
          <p:cNvPr id="9" name="Right Arrow 8"/>
          <p:cNvSpPr/>
          <p:nvPr/>
        </p:nvSpPr>
        <p:spPr>
          <a:xfrm>
            <a:off x="2666961" y="3401568"/>
            <a:ext cx="1310563" cy="329184"/>
          </a:xfrm>
          <a:prstGeom prst="rightArrow">
            <a:avLst/>
          </a:prstGeom>
          <a:solidFill>
            <a:srgbClr val="9AA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160405" y="3017520"/>
            <a:ext cx="1097280" cy="1097280"/>
          </a:xfrm>
          <a:prstGeom prst="ellipse">
            <a:avLst/>
          </a:prstGeom>
          <a:solidFill>
            <a:srgbClr val="141F38"/>
          </a:solidFill>
          <a:ln w="25400">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key-8A94A6.png"/>
          <p:cNvPicPr>
            <a:picLocks noChangeAspect="1"/>
          </p:cNvPicPr>
          <p:nvPr/>
        </p:nvPicPr>
        <p:blipFill>
          <a:blip r:embed="rId7"/>
          <a:stretch>
            <a:fillRect/>
          </a:stretch>
        </p:blipFill>
        <p:spPr>
          <a:xfrm>
            <a:off x="4379861" y="3236976"/>
            <a:ext cx="658368" cy="658368"/>
          </a:xfrm>
          <a:prstGeom prst="rect">
            <a:avLst/>
          </a:prstGeom>
        </p:spPr>
      </p:pic>
      <p:sp>
        <p:nvSpPr>
          <p:cNvPr id="12" name="TextBox 11"/>
          <p:cNvSpPr txBox="1"/>
          <p:nvPr/>
        </p:nvSpPr>
        <p:spPr>
          <a:xfrm>
            <a:off x="3657485" y="4251960"/>
            <a:ext cx="2103120" cy="1097280"/>
          </a:xfrm>
          <a:prstGeom prst="rect">
            <a:avLst/>
          </a:prstGeom>
          <a:noFill/>
        </p:spPr>
        <p:txBody>
          <a:bodyPr wrap="square" lIns="36576" rIns="36576" anchor="t">
            <a:spAutoFit/>
          </a:bodyPr>
          <a:lstStyle/>
          <a:p>
            <a:pPr algn="ctr">
              <a:spcAft>
                <a:spcPts val="600"/>
              </a:spcAft>
            </a:pPr>
            <a:r>
              <a:rPr sz="1800" b="0">
                <a:solidFill>
                  <a:srgbClr val="E6ECFF"/>
                </a:solidFill>
                <a:latin typeface="Calibri"/>
              </a:rPr>
              <a:t>Sign-in token from Cognito</a:t>
            </a:r>
          </a:p>
        </p:txBody>
      </p:sp>
      <p:sp>
        <p:nvSpPr>
          <p:cNvPr id="13" name="Right Arrow 12"/>
          <p:cNvSpPr/>
          <p:nvPr/>
        </p:nvSpPr>
        <p:spPr>
          <a:xfrm>
            <a:off x="5440565" y="3401568"/>
            <a:ext cx="1310563" cy="329184"/>
          </a:xfrm>
          <a:prstGeom prst="rightArrow">
            <a:avLst/>
          </a:prstGeom>
          <a:solidFill>
            <a:srgbClr val="9AA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934009" y="3017520"/>
            <a:ext cx="1097280" cy="1097280"/>
          </a:xfrm>
          <a:prstGeom prst="ellipse">
            <a:avLst/>
          </a:prstGeom>
          <a:solidFill>
            <a:srgbClr val="141F38"/>
          </a:solidFill>
          <a:ln w="25400">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cloud-8A94A6.png"/>
          <p:cNvPicPr>
            <a:picLocks noChangeAspect="1"/>
          </p:cNvPicPr>
          <p:nvPr/>
        </p:nvPicPr>
        <p:blipFill>
          <a:blip r:embed="rId8"/>
          <a:stretch>
            <a:fillRect/>
          </a:stretch>
        </p:blipFill>
        <p:spPr>
          <a:xfrm>
            <a:off x="7153465" y="3236976"/>
            <a:ext cx="658368" cy="658368"/>
          </a:xfrm>
          <a:prstGeom prst="rect">
            <a:avLst/>
          </a:prstGeom>
        </p:spPr>
      </p:pic>
      <p:sp>
        <p:nvSpPr>
          <p:cNvPr id="16" name="TextBox 15"/>
          <p:cNvSpPr txBox="1"/>
          <p:nvPr/>
        </p:nvSpPr>
        <p:spPr>
          <a:xfrm>
            <a:off x="6431089" y="4251960"/>
            <a:ext cx="2103120" cy="1097280"/>
          </a:xfrm>
          <a:prstGeom prst="rect">
            <a:avLst/>
          </a:prstGeom>
          <a:noFill/>
        </p:spPr>
        <p:txBody>
          <a:bodyPr wrap="square" lIns="36576" rIns="36576" anchor="t">
            <a:spAutoFit/>
          </a:bodyPr>
          <a:lstStyle/>
          <a:p>
            <a:pPr algn="ctr">
              <a:spcAft>
                <a:spcPts val="600"/>
              </a:spcAft>
            </a:pPr>
            <a:r>
              <a:rPr sz="1800" b="0">
                <a:solidFill>
                  <a:srgbClr val="E6ECFF"/>
                </a:solidFill>
                <a:latin typeface="Calibri"/>
              </a:rPr>
              <a:t>Runtime checks it at the door</a:t>
            </a:r>
          </a:p>
        </p:txBody>
      </p:sp>
      <p:sp>
        <p:nvSpPr>
          <p:cNvPr id="17" name="Right Arrow 16"/>
          <p:cNvSpPr/>
          <p:nvPr/>
        </p:nvSpPr>
        <p:spPr>
          <a:xfrm>
            <a:off x="8214169" y="3401568"/>
            <a:ext cx="1310563" cy="329184"/>
          </a:xfrm>
          <a:prstGeom prst="rightArrow">
            <a:avLst/>
          </a:prstGeom>
          <a:solidFill>
            <a:srgbClr val="9AA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707613" y="3017520"/>
            <a:ext cx="1097280" cy="1097280"/>
          </a:xfrm>
          <a:prstGeom prst="ellipse">
            <a:avLst/>
          </a:prstGeom>
          <a:solidFill>
            <a:srgbClr val="141F38"/>
          </a:solidFill>
          <a:ln w="25400">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shield-check-4CC9F0.png"/>
          <p:cNvPicPr>
            <a:picLocks noChangeAspect="1"/>
          </p:cNvPicPr>
          <p:nvPr/>
        </p:nvPicPr>
        <p:blipFill>
          <a:blip r:embed="rId9"/>
          <a:stretch>
            <a:fillRect/>
          </a:stretch>
        </p:blipFill>
        <p:spPr>
          <a:xfrm>
            <a:off x="9927069" y="3236976"/>
            <a:ext cx="658368" cy="658368"/>
          </a:xfrm>
          <a:prstGeom prst="rect">
            <a:avLst/>
          </a:prstGeom>
        </p:spPr>
      </p:pic>
      <p:sp>
        <p:nvSpPr>
          <p:cNvPr id="20" name="TextBox 19"/>
          <p:cNvSpPr txBox="1"/>
          <p:nvPr/>
        </p:nvSpPr>
        <p:spPr>
          <a:xfrm>
            <a:off x="9204693" y="4251960"/>
            <a:ext cx="2103120" cy="1097280"/>
          </a:xfrm>
          <a:prstGeom prst="rect">
            <a:avLst/>
          </a:prstGeom>
          <a:noFill/>
        </p:spPr>
        <p:txBody>
          <a:bodyPr wrap="square" lIns="36576" rIns="36576" anchor="t">
            <a:spAutoFit/>
          </a:bodyPr>
          <a:lstStyle/>
          <a:p>
            <a:pPr algn="ctr">
              <a:spcAft>
                <a:spcPts val="600"/>
              </a:spcAft>
            </a:pPr>
            <a:r>
              <a:rPr sz="1800" b="0">
                <a:solidFill>
                  <a:srgbClr val="E6ECFF"/>
                </a:solidFill>
                <a:latin typeface="Calibri"/>
              </a:rPr>
              <a:t>Tower checks it again</a:t>
            </a:r>
          </a:p>
        </p:txBody>
      </p:sp>
      <p:sp>
        <p:nvSpPr>
          <p:cNvPr id="21" name="Rounded Rectangle 20"/>
          <p:cNvSpPr/>
          <p:nvPr/>
        </p:nvSpPr>
        <p:spPr>
          <a:xfrm>
            <a:off x="548640" y="5596128"/>
            <a:ext cx="11094415" cy="566928"/>
          </a:xfrm>
          <a:prstGeom prst="roundRect">
            <a:avLst>
              <a:gd name="adj" fmla="val 30000"/>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5596128"/>
            <a:ext cx="10637215" cy="566928"/>
          </a:xfrm>
          <a:prstGeom prst="rect">
            <a:avLst/>
          </a:prstGeom>
          <a:noFill/>
        </p:spPr>
        <p:txBody>
          <a:bodyPr wrap="square" lIns="36576" rIns="36576" anchor="ctr">
            <a:spAutoFit/>
          </a:bodyPr>
          <a:lstStyle/>
          <a:p>
            <a:pPr algn="l">
              <a:spcAft>
                <a:spcPts val="600"/>
              </a:spcAft>
            </a:pPr>
            <a:r>
              <a:rPr sz="1800" b="0">
                <a:solidFill>
                  <a:srgbClr val="E6ECFF"/>
                </a:solidFill>
                <a:latin typeface="Calibri"/>
              </a:rPr>
              <a:t>TRADE-OFF   No server session, so each client sends a session id</a:t>
            </a:r>
          </a:p>
        </p:txBody>
      </p:sp>
      <p:cxnSp>
        <p:nvCxnSpPr>
          <p:cNvPr id="23" name="Connector 22"/>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 y="6382512"/>
            <a:ext cx="8229600" cy="310896"/>
          </a:xfrm>
          <a:prstGeom prst="rect">
            <a:avLst/>
          </a:prstGeom>
          <a:noFill/>
        </p:spPr>
        <p:txBody>
          <a:bodyPr wrap="square" lIns="36576" rIns="36576" anchor="ctr">
            <a:spAutoFit/>
          </a:bodyPr>
          <a:lstStyle/>
          <a:p>
            <a:pPr algn="l">
              <a:spcAft>
                <a:spcPts val="600"/>
              </a:spcAft>
            </a:pPr>
            <a:r>
              <a:rPr sz="1100" b="0">
                <a:solidFill>
                  <a:srgbClr val="9AA8CC"/>
                </a:solidFill>
                <a:latin typeface="Calibri"/>
              </a:rPr>
              <a:t>06  •  Ask the Tower</a:t>
            </a:r>
          </a:p>
        </p:txBody>
      </p:sp>
      <p:sp>
        <p:nvSpPr>
          <p:cNvPr id="25" name="Rectangle 24"/>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793992"/>
            <a:ext cx="6650015"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slide-06.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368735" y="6382512"/>
            <a:ext cx="274320" cy="274320"/>
          </a:xfrm>
          <a:prstGeom prst="rect">
            <a:avLst/>
          </a:prstGeom>
        </p:spPr>
      </p:pic>
    </p:spTree>
  </p:cSld>
  <p:clrMapOvr>
    <a:masterClrMapping/>
  </p:clrMapOvr>
  <p:transition spd="med" advTm="2398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984"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27"/>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pic>
        <p:nvPicPr>
          <p:cNvPr id="2" name="Picture 1" descr="route-4CC9F0.png"/>
          <p:cNvPicPr>
            <a:picLocks noChangeAspect="1"/>
          </p:cNvPicPr>
          <p:nvPr/>
        </p:nvPicPr>
        <p:blipFill>
          <a:blip r:embed="rId5"/>
          <a:stretch>
            <a:fillRect/>
          </a:stretch>
        </p:blipFill>
        <p:spPr>
          <a:xfrm>
            <a:off x="548640" y="384048"/>
            <a:ext cx="566928" cy="566928"/>
          </a:xfrm>
          <a:prstGeom prst="rect">
            <a:avLst/>
          </a:prstGeom>
        </p:spPr>
      </p:pic>
      <p:sp>
        <p:nvSpPr>
          <p:cNvPr id="3" name="TextBox 2"/>
          <p:cNvSpPr txBox="1"/>
          <p:nvPr/>
        </p:nvSpPr>
        <p:spPr>
          <a:xfrm>
            <a:off x="1280160" y="274320"/>
            <a:ext cx="10362895" cy="777240"/>
          </a:xfrm>
          <a:prstGeom prst="rect">
            <a:avLst/>
          </a:prstGeom>
          <a:noFill/>
        </p:spPr>
        <p:txBody>
          <a:bodyPr wrap="square" lIns="36576" rIns="36576" anchor="ctr">
            <a:spAutoFit/>
          </a:bodyPr>
          <a:lstStyle/>
          <a:p>
            <a:pPr algn="l">
              <a:spcAft>
                <a:spcPts val="600"/>
              </a:spcAft>
            </a:pPr>
            <a:r>
              <a:rPr sz="3200" b="1">
                <a:solidFill>
                  <a:srgbClr val="E6ECFF"/>
                </a:solidFill>
                <a:latin typeface="Calibri"/>
              </a:rPr>
              <a:t>The carrier only via Gateway</a:t>
            </a:r>
          </a:p>
        </p:txBody>
      </p:sp>
      <p:sp>
        <p:nvSpPr>
          <p:cNvPr id="4" name="Rounded Rectangle 3"/>
          <p:cNvSpPr/>
          <p:nvPr/>
        </p:nvSpPr>
        <p:spPr>
          <a:xfrm>
            <a:off x="548640" y="1188720"/>
            <a:ext cx="7086600" cy="146304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61872"/>
            <a:ext cx="6675120" cy="1325880"/>
          </a:xfrm>
          <a:prstGeom prst="rect">
            <a:avLst/>
          </a:prstGeom>
          <a:noFill/>
        </p:spPr>
        <p:txBody>
          <a:bodyPr wrap="square" lIns="36576" rIns="36576" anchor="t">
            <a:spAutoFit/>
          </a:bodyPr>
          <a:lstStyle/>
          <a:p>
            <a:pPr algn="l">
              <a:spcAft>
                <a:spcPts val="300"/>
              </a:spcAft>
            </a:pPr>
            <a:r>
              <a:rPr sz="1300" b="1">
                <a:solidFill>
                  <a:srgbClr val="4CC9F0"/>
                </a:solidFill>
                <a:latin typeface="Calibri"/>
              </a:rPr>
              <a:t>DECISION</a:t>
            </a:r>
          </a:p>
          <a:p>
            <a:pPr algn="l">
              <a:spcAft>
                <a:spcPts val="300"/>
              </a:spcAft>
            </a:pPr>
            <a:r>
              <a:rPr sz="2200" b="1">
                <a:solidFill>
                  <a:srgbClr val="E6ECFF"/>
                </a:solidFill>
                <a:latin typeface="Calibri"/>
              </a:rPr>
              <a:t>Tower reaches the carrier only through Gateway</a:t>
            </a:r>
          </a:p>
          <a:p>
            <a:pPr algn="l">
              <a:spcAft>
                <a:spcPts val="300"/>
              </a:spcAft>
            </a:pPr>
            <a:r>
              <a:rPr sz="1800" b="0">
                <a:solidFill>
                  <a:srgbClr val="9AA8CC"/>
                </a:solidFill>
                <a:latin typeface="Calibri"/>
              </a:rPr>
              <a:t>Standard CAMARA: an operator swaps in, Tower unchanged</a:t>
            </a:r>
          </a:p>
        </p:txBody>
      </p:sp>
      <p:sp>
        <p:nvSpPr>
          <p:cNvPr id="6" name="Rounded Rectangle 5"/>
          <p:cNvSpPr/>
          <p:nvPr/>
        </p:nvSpPr>
        <p:spPr>
          <a:xfrm>
            <a:off x="7818120" y="1188720"/>
            <a:ext cx="3822191" cy="1463040"/>
          </a:xfrm>
          <a:prstGeom prst="roundRect">
            <a:avLst>
              <a:gd name="adj" fmla="val 8000"/>
            </a:avLst>
          </a:prstGeom>
          <a:solidFill>
            <a:srgbClr val="141F38"/>
          </a:solidFill>
          <a:ln w="1587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ircle-x-F4A261.png"/>
          <p:cNvPicPr>
            <a:picLocks noChangeAspect="1"/>
          </p:cNvPicPr>
          <p:nvPr/>
        </p:nvPicPr>
        <p:blipFill>
          <a:blip r:embed="rId6"/>
          <a:stretch>
            <a:fillRect/>
          </a:stretch>
        </p:blipFill>
        <p:spPr>
          <a:xfrm>
            <a:off x="8001000" y="1325880"/>
            <a:ext cx="384048" cy="384048"/>
          </a:xfrm>
          <a:prstGeom prst="rect">
            <a:avLst/>
          </a:prstGeom>
        </p:spPr>
      </p:pic>
      <p:sp>
        <p:nvSpPr>
          <p:cNvPr id="8" name="TextBox 7"/>
          <p:cNvSpPr txBox="1"/>
          <p:nvPr/>
        </p:nvSpPr>
        <p:spPr>
          <a:xfrm>
            <a:off x="8458200" y="1298448"/>
            <a:ext cx="3108960" cy="365760"/>
          </a:xfrm>
          <a:prstGeom prst="rect">
            <a:avLst/>
          </a:prstGeom>
          <a:noFill/>
        </p:spPr>
        <p:txBody>
          <a:bodyPr wrap="square" lIns="36576" rIns="36576" anchor="ctr">
            <a:spAutoFit/>
          </a:bodyPr>
          <a:lstStyle/>
          <a:p>
            <a:pPr algn="l">
              <a:spcAft>
                <a:spcPts val="600"/>
              </a:spcAft>
            </a:pPr>
            <a:r>
              <a:rPr sz="1300" b="1">
                <a:solidFill>
                  <a:srgbClr val="F4A261"/>
                </a:solidFill>
                <a:latin typeface="Calibri"/>
              </a:rPr>
              <a:t>REJECTED</a:t>
            </a:r>
          </a:p>
        </p:txBody>
      </p:sp>
      <p:sp>
        <p:nvSpPr>
          <p:cNvPr id="9" name="TextBox 8"/>
          <p:cNvSpPr txBox="1"/>
          <p:nvPr/>
        </p:nvSpPr>
        <p:spPr>
          <a:xfrm>
            <a:off x="8046720" y="1737360"/>
            <a:ext cx="3474720" cy="868680"/>
          </a:xfrm>
          <a:prstGeom prst="rect">
            <a:avLst/>
          </a:prstGeom>
          <a:noFill/>
        </p:spPr>
        <p:txBody>
          <a:bodyPr wrap="square" lIns="36576" rIns="36576" anchor="t">
            <a:spAutoFit/>
          </a:bodyPr>
          <a:lstStyle/>
          <a:p>
            <a:pPr algn="l">
              <a:spcAft>
                <a:spcPts val="600"/>
              </a:spcAft>
            </a:pPr>
            <a:r>
              <a:rPr sz="1800" b="0">
                <a:solidFill>
                  <a:srgbClr val="E6ECFF"/>
                </a:solidFill>
                <a:latin typeface="Calibri"/>
              </a:rPr>
              <a:t>A direct client, secret in Runtime config</a:t>
            </a:r>
          </a:p>
        </p:txBody>
      </p:sp>
      <p:sp>
        <p:nvSpPr>
          <p:cNvPr id="10" name="Rounded Rectangle 9"/>
          <p:cNvSpPr/>
          <p:nvPr/>
        </p:nvSpPr>
        <p:spPr>
          <a:xfrm>
            <a:off x="548640" y="2971800"/>
            <a:ext cx="3474720" cy="2286000"/>
          </a:xfrm>
          <a:prstGeom prst="roundRect">
            <a:avLst>
              <a:gd name="adj" fmla="val 8000"/>
            </a:avLst>
          </a:prstGeom>
          <a:solidFill>
            <a:srgbClr val="141F38"/>
          </a:solidFill>
          <a:ln w="1587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3063240"/>
            <a:ext cx="3017520" cy="365760"/>
          </a:xfrm>
          <a:prstGeom prst="rect">
            <a:avLst/>
          </a:prstGeom>
          <a:noFill/>
        </p:spPr>
        <p:txBody>
          <a:bodyPr wrap="square" lIns="36576" rIns="36576" anchor="t">
            <a:spAutoFit/>
          </a:bodyPr>
          <a:lstStyle/>
          <a:p>
            <a:pPr algn="l">
              <a:spcAft>
                <a:spcPts val="600"/>
              </a:spcAft>
            </a:pPr>
            <a:r>
              <a:rPr sz="1300" b="1">
                <a:solidFill>
                  <a:srgbClr val="F4A261"/>
                </a:solidFill>
                <a:latin typeface="Calibri"/>
              </a:rPr>
              <a:t>BEFORE</a:t>
            </a:r>
          </a:p>
        </p:txBody>
      </p:sp>
      <p:pic>
        <p:nvPicPr>
          <p:cNvPr id="12" name="Picture 11" descr="circle-x-F4A261.png"/>
          <p:cNvPicPr>
            <a:picLocks noChangeAspect="1"/>
          </p:cNvPicPr>
          <p:nvPr/>
        </p:nvPicPr>
        <p:blipFill>
          <a:blip r:embed="rId6"/>
          <a:stretch>
            <a:fillRect/>
          </a:stretch>
        </p:blipFill>
        <p:spPr>
          <a:xfrm>
            <a:off x="1874519" y="3429000"/>
            <a:ext cx="822960" cy="822960"/>
          </a:xfrm>
          <a:prstGeom prst="rect">
            <a:avLst/>
          </a:prstGeom>
        </p:spPr>
      </p:pic>
      <p:sp>
        <p:nvSpPr>
          <p:cNvPr id="13" name="TextBox 12"/>
          <p:cNvSpPr txBox="1"/>
          <p:nvPr/>
        </p:nvSpPr>
        <p:spPr>
          <a:xfrm>
            <a:off x="777240" y="4343400"/>
            <a:ext cx="3017520" cy="868680"/>
          </a:xfrm>
          <a:prstGeom prst="rect">
            <a:avLst/>
          </a:prstGeom>
          <a:noFill/>
        </p:spPr>
        <p:txBody>
          <a:bodyPr wrap="square" lIns="36576" rIns="36576" anchor="t">
            <a:spAutoFit/>
          </a:bodyPr>
          <a:lstStyle/>
          <a:p>
            <a:pPr algn="ctr">
              <a:spcAft>
                <a:spcPts val="600"/>
              </a:spcAft>
            </a:pPr>
            <a:r>
              <a:rPr sz="2000" b="1">
                <a:solidFill>
                  <a:srgbClr val="E6ECFF"/>
                </a:solidFill>
                <a:latin typeface="Calibri"/>
              </a:rPr>
              <a:t>Tower holds carrier credentials</a:t>
            </a:r>
          </a:p>
        </p:txBody>
      </p:sp>
      <p:sp>
        <p:nvSpPr>
          <p:cNvPr id="14" name="Rounded Rectangle 13"/>
          <p:cNvSpPr/>
          <p:nvPr/>
        </p:nvSpPr>
        <p:spPr>
          <a:xfrm>
            <a:off x="4572000" y="2971800"/>
            <a:ext cx="3474720" cy="2286000"/>
          </a:xfrm>
          <a:prstGeom prst="roundRect">
            <a:avLst>
              <a:gd name="adj" fmla="val 8000"/>
            </a:avLst>
          </a:prstGeom>
          <a:solidFill>
            <a:srgbClr val="141F38"/>
          </a:solidFill>
          <a:ln w="15875">
            <a:solidFill>
              <a:srgbClr val="2EC2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00600" y="3063240"/>
            <a:ext cx="3017520" cy="365760"/>
          </a:xfrm>
          <a:prstGeom prst="rect">
            <a:avLst/>
          </a:prstGeom>
          <a:noFill/>
        </p:spPr>
        <p:txBody>
          <a:bodyPr wrap="square" lIns="36576" rIns="36576" anchor="t">
            <a:spAutoFit/>
          </a:bodyPr>
          <a:lstStyle/>
          <a:p>
            <a:pPr algn="l">
              <a:spcAft>
                <a:spcPts val="600"/>
              </a:spcAft>
            </a:pPr>
            <a:r>
              <a:rPr sz="1300" b="1">
                <a:solidFill>
                  <a:srgbClr val="2EC27E"/>
                </a:solidFill>
                <a:latin typeface="Calibri"/>
              </a:rPr>
              <a:t>AFTER</a:t>
            </a:r>
          </a:p>
        </p:txBody>
      </p:sp>
      <p:pic>
        <p:nvPicPr>
          <p:cNvPr id="16" name="Picture 15" descr="circle-check-2EC27E.png"/>
          <p:cNvPicPr>
            <a:picLocks noChangeAspect="1"/>
          </p:cNvPicPr>
          <p:nvPr/>
        </p:nvPicPr>
        <p:blipFill>
          <a:blip r:embed="rId7"/>
          <a:stretch>
            <a:fillRect/>
          </a:stretch>
        </p:blipFill>
        <p:spPr>
          <a:xfrm>
            <a:off x="5897880" y="3429000"/>
            <a:ext cx="822960" cy="822960"/>
          </a:xfrm>
          <a:prstGeom prst="rect">
            <a:avLst/>
          </a:prstGeom>
        </p:spPr>
      </p:pic>
      <p:sp>
        <p:nvSpPr>
          <p:cNvPr id="17" name="TextBox 16"/>
          <p:cNvSpPr txBox="1"/>
          <p:nvPr/>
        </p:nvSpPr>
        <p:spPr>
          <a:xfrm>
            <a:off x="4800600" y="4343400"/>
            <a:ext cx="3017520" cy="868680"/>
          </a:xfrm>
          <a:prstGeom prst="rect">
            <a:avLst/>
          </a:prstGeom>
          <a:noFill/>
        </p:spPr>
        <p:txBody>
          <a:bodyPr wrap="square" lIns="36576" rIns="36576" anchor="t">
            <a:spAutoFit/>
          </a:bodyPr>
          <a:lstStyle/>
          <a:p>
            <a:pPr algn="ctr">
              <a:spcAft>
                <a:spcPts val="600"/>
              </a:spcAft>
            </a:pPr>
            <a:r>
              <a:rPr sz="2000" b="1">
                <a:solidFill>
                  <a:srgbClr val="E6ECFF"/>
                </a:solidFill>
                <a:latin typeface="Calibri"/>
              </a:rPr>
              <a:t>Gateway + Identity hold them</a:t>
            </a:r>
          </a:p>
        </p:txBody>
      </p:sp>
      <p:sp>
        <p:nvSpPr>
          <p:cNvPr id="18" name="Right Arrow 17"/>
          <p:cNvSpPr/>
          <p:nvPr/>
        </p:nvSpPr>
        <p:spPr>
          <a:xfrm>
            <a:off x="4096512" y="3886200"/>
            <a:ext cx="411480" cy="384048"/>
          </a:xfrm>
          <a:prstGeom prst="rightArrow">
            <a:avLst/>
          </a:prstGeom>
          <a:solidFill>
            <a:srgbClr val="9AA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321040" y="2971800"/>
            <a:ext cx="3319272" cy="2286000"/>
          </a:xfrm>
          <a:prstGeom prst="roundRect">
            <a:avLst>
              <a:gd name="adj" fmla="val 8000"/>
            </a:avLst>
          </a:prstGeom>
          <a:solidFill>
            <a:srgbClr val="141F38"/>
          </a:solidFill>
          <a:ln w="1587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route-8A94A6.png"/>
          <p:cNvPicPr>
            <a:picLocks noChangeAspect="1"/>
          </p:cNvPicPr>
          <p:nvPr/>
        </p:nvPicPr>
        <p:blipFill>
          <a:blip r:embed="rId8"/>
          <a:stretch>
            <a:fillRect/>
          </a:stretch>
        </p:blipFill>
        <p:spPr>
          <a:xfrm>
            <a:off x="9573768" y="3200400"/>
            <a:ext cx="822960" cy="822960"/>
          </a:xfrm>
          <a:prstGeom prst="rect">
            <a:avLst/>
          </a:prstGeom>
        </p:spPr>
      </p:pic>
      <p:sp>
        <p:nvSpPr>
          <p:cNvPr id="21" name="TextBox 20"/>
          <p:cNvSpPr txBox="1"/>
          <p:nvPr/>
        </p:nvSpPr>
        <p:spPr>
          <a:xfrm>
            <a:off x="8503920" y="4160520"/>
            <a:ext cx="2971800" cy="1005840"/>
          </a:xfrm>
          <a:prstGeom prst="rect">
            <a:avLst/>
          </a:prstGeom>
          <a:noFill/>
        </p:spPr>
        <p:txBody>
          <a:bodyPr wrap="square" lIns="36576" rIns="36576" anchor="t">
            <a:spAutoFit/>
          </a:bodyPr>
          <a:lstStyle/>
          <a:p>
            <a:pPr algn="ctr">
              <a:spcAft>
                <a:spcPts val="600"/>
              </a:spcAft>
            </a:pPr>
            <a:r>
              <a:rPr sz="2000" b="0">
                <a:solidFill>
                  <a:srgbClr val="E6ECFF"/>
                </a:solidFill>
                <a:latin typeface="Calibri"/>
              </a:rPr>
              <a:t>5 CAMARA targets become MCP tools</a:t>
            </a:r>
          </a:p>
        </p:txBody>
      </p:sp>
      <p:sp>
        <p:nvSpPr>
          <p:cNvPr id="22" name="Rounded Rectangle 21"/>
          <p:cNvSpPr/>
          <p:nvPr/>
        </p:nvSpPr>
        <p:spPr>
          <a:xfrm>
            <a:off x="548640" y="5596128"/>
            <a:ext cx="11094415" cy="566928"/>
          </a:xfrm>
          <a:prstGeom prst="roundRect">
            <a:avLst>
              <a:gd name="adj" fmla="val 30000"/>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5596128"/>
            <a:ext cx="10637215" cy="566928"/>
          </a:xfrm>
          <a:prstGeom prst="rect">
            <a:avLst/>
          </a:prstGeom>
          <a:noFill/>
        </p:spPr>
        <p:txBody>
          <a:bodyPr wrap="square" lIns="36576" rIns="36576" anchor="ctr">
            <a:spAutoFit/>
          </a:bodyPr>
          <a:lstStyle/>
          <a:p>
            <a:pPr algn="l">
              <a:spcAft>
                <a:spcPts val="600"/>
              </a:spcAft>
            </a:pPr>
            <a:r>
              <a:rPr sz="1800" b="0">
                <a:solidFill>
                  <a:srgbClr val="E6ECFF"/>
                </a:solidFill>
                <a:latin typeface="Calibri"/>
              </a:rPr>
              <a:t>TRADE-OFF   One more network hop</a:t>
            </a:r>
          </a:p>
        </p:txBody>
      </p:sp>
      <p:cxnSp>
        <p:nvCxnSpPr>
          <p:cNvPr id="24" name="Connector 23"/>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48640" y="6382512"/>
            <a:ext cx="8229600" cy="310896"/>
          </a:xfrm>
          <a:prstGeom prst="rect">
            <a:avLst/>
          </a:prstGeom>
          <a:noFill/>
        </p:spPr>
        <p:txBody>
          <a:bodyPr wrap="square" lIns="36576" rIns="36576" anchor="ctr">
            <a:spAutoFit/>
          </a:bodyPr>
          <a:lstStyle/>
          <a:p>
            <a:pPr algn="l">
              <a:spcAft>
                <a:spcPts val="600"/>
              </a:spcAft>
            </a:pPr>
            <a:r>
              <a:rPr sz="1100" b="0">
                <a:solidFill>
                  <a:srgbClr val="9AA8CC"/>
                </a:solidFill>
                <a:latin typeface="Calibri"/>
              </a:rPr>
              <a:t>07  •  Ask the Tower</a:t>
            </a:r>
          </a:p>
        </p:txBody>
      </p:sp>
      <p:sp>
        <p:nvSpPr>
          <p:cNvPr id="26" name="Rectangle 25"/>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793992"/>
            <a:ext cx="7758351"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slide-07.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368735" y="6382512"/>
            <a:ext cx="274320" cy="274320"/>
          </a:xfrm>
          <a:prstGeom prst="rect">
            <a:avLst/>
          </a:prstGeom>
        </p:spPr>
      </p:pic>
    </p:spTree>
  </p:cSld>
  <p:clrMapOvr>
    <a:masterClrMapping/>
  </p:clrMapOvr>
  <p:transition spd="med" advTm="1972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726"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28"/>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pic>
        <p:nvPicPr>
          <p:cNvPr id="2" name="Picture 1" descr="lock-4CC9F0.png"/>
          <p:cNvPicPr>
            <a:picLocks noChangeAspect="1"/>
          </p:cNvPicPr>
          <p:nvPr/>
        </p:nvPicPr>
        <p:blipFill>
          <a:blip r:embed="rId5"/>
          <a:stretch>
            <a:fillRect/>
          </a:stretch>
        </p:blipFill>
        <p:spPr>
          <a:xfrm>
            <a:off x="548640" y="384048"/>
            <a:ext cx="566928" cy="566928"/>
          </a:xfrm>
          <a:prstGeom prst="rect">
            <a:avLst/>
          </a:prstGeom>
        </p:spPr>
      </p:pic>
      <p:sp>
        <p:nvSpPr>
          <p:cNvPr id="3" name="TextBox 2"/>
          <p:cNvSpPr txBox="1"/>
          <p:nvPr/>
        </p:nvSpPr>
        <p:spPr>
          <a:xfrm>
            <a:off x="1280160" y="274320"/>
            <a:ext cx="10362895" cy="777240"/>
          </a:xfrm>
          <a:prstGeom prst="rect">
            <a:avLst/>
          </a:prstGeom>
          <a:noFill/>
        </p:spPr>
        <p:txBody>
          <a:bodyPr wrap="square" lIns="36576" rIns="36576" anchor="ctr">
            <a:spAutoFit/>
          </a:bodyPr>
          <a:lstStyle/>
          <a:p>
            <a:pPr algn="l">
              <a:spcAft>
                <a:spcPts val="600"/>
              </a:spcAft>
            </a:pPr>
            <a:r>
              <a:rPr sz="3200" b="1">
                <a:solidFill>
                  <a:srgbClr val="E6ECFF"/>
                </a:solidFill>
                <a:latin typeface="Calibri"/>
              </a:rPr>
              <a:t>Consent and privacy by construction</a:t>
            </a:r>
          </a:p>
        </p:txBody>
      </p:sp>
      <p:sp>
        <p:nvSpPr>
          <p:cNvPr id="4" name="Rounded Rectangle 3"/>
          <p:cNvSpPr/>
          <p:nvPr/>
        </p:nvSpPr>
        <p:spPr>
          <a:xfrm>
            <a:off x="548640" y="1188720"/>
            <a:ext cx="7086600" cy="146304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61872"/>
            <a:ext cx="6675120" cy="1325880"/>
          </a:xfrm>
          <a:prstGeom prst="rect">
            <a:avLst/>
          </a:prstGeom>
          <a:noFill/>
        </p:spPr>
        <p:txBody>
          <a:bodyPr wrap="square" lIns="36576" rIns="36576" anchor="t">
            <a:spAutoFit/>
          </a:bodyPr>
          <a:lstStyle/>
          <a:p>
            <a:pPr algn="l">
              <a:spcAft>
                <a:spcPts val="300"/>
              </a:spcAft>
            </a:pPr>
            <a:r>
              <a:rPr sz="1300" b="1">
                <a:solidFill>
                  <a:srgbClr val="4CC9F0"/>
                </a:solidFill>
                <a:latin typeface="Calibri"/>
              </a:rPr>
              <a:t>DECISION</a:t>
            </a:r>
          </a:p>
          <a:p>
            <a:pPr algn="l">
              <a:spcAft>
                <a:spcPts val="300"/>
              </a:spcAft>
            </a:pPr>
            <a:r>
              <a:rPr sz="2200" b="1">
                <a:solidFill>
                  <a:srgbClr val="E6ECFF"/>
                </a:solidFill>
                <a:latin typeface="Calibri"/>
              </a:rPr>
              <a:t>Privacy is enforced by construction</a:t>
            </a:r>
          </a:p>
          <a:p>
            <a:pPr algn="l">
              <a:spcAft>
                <a:spcPts val="300"/>
              </a:spcAft>
            </a:pPr>
            <a:r>
              <a:rPr sz="1800" b="0">
                <a:solidFill>
                  <a:srgbClr val="9AA8CC"/>
                </a:solidFill>
                <a:latin typeface="Calibri"/>
              </a:rPr>
              <a:t>KMS, AWS's key service, holds the keys; no plain-text numbers</a:t>
            </a:r>
          </a:p>
        </p:txBody>
      </p:sp>
      <p:sp>
        <p:nvSpPr>
          <p:cNvPr id="6" name="Rounded Rectangle 5"/>
          <p:cNvSpPr/>
          <p:nvPr/>
        </p:nvSpPr>
        <p:spPr>
          <a:xfrm>
            <a:off x="7818120" y="1188720"/>
            <a:ext cx="3822191" cy="1463040"/>
          </a:xfrm>
          <a:prstGeom prst="roundRect">
            <a:avLst>
              <a:gd name="adj" fmla="val 8000"/>
            </a:avLst>
          </a:prstGeom>
          <a:solidFill>
            <a:srgbClr val="141F38"/>
          </a:solidFill>
          <a:ln w="1587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ircle-x-F4A261.png"/>
          <p:cNvPicPr>
            <a:picLocks noChangeAspect="1"/>
          </p:cNvPicPr>
          <p:nvPr/>
        </p:nvPicPr>
        <p:blipFill>
          <a:blip r:embed="rId6"/>
          <a:stretch>
            <a:fillRect/>
          </a:stretch>
        </p:blipFill>
        <p:spPr>
          <a:xfrm>
            <a:off x="8001000" y="1325880"/>
            <a:ext cx="384048" cy="384048"/>
          </a:xfrm>
          <a:prstGeom prst="rect">
            <a:avLst/>
          </a:prstGeom>
        </p:spPr>
      </p:pic>
      <p:sp>
        <p:nvSpPr>
          <p:cNvPr id="8" name="TextBox 7"/>
          <p:cNvSpPr txBox="1"/>
          <p:nvPr/>
        </p:nvSpPr>
        <p:spPr>
          <a:xfrm>
            <a:off x="8458200" y="1298448"/>
            <a:ext cx="3108960" cy="365760"/>
          </a:xfrm>
          <a:prstGeom prst="rect">
            <a:avLst/>
          </a:prstGeom>
          <a:noFill/>
        </p:spPr>
        <p:txBody>
          <a:bodyPr wrap="square" lIns="36576" rIns="36576" anchor="ctr">
            <a:spAutoFit/>
          </a:bodyPr>
          <a:lstStyle/>
          <a:p>
            <a:pPr algn="l">
              <a:spcAft>
                <a:spcPts val="600"/>
              </a:spcAft>
            </a:pPr>
            <a:r>
              <a:rPr sz="1300" b="1">
                <a:solidFill>
                  <a:srgbClr val="F4A261"/>
                </a:solidFill>
                <a:latin typeface="Calibri"/>
              </a:rPr>
              <a:t>REJECTED</a:t>
            </a:r>
          </a:p>
        </p:txBody>
      </p:sp>
      <p:sp>
        <p:nvSpPr>
          <p:cNvPr id="9" name="TextBox 8"/>
          <p:cNvSpPr txBox="1"/>
          <p:nvPr/>
        </p:nvSpPr>
        <p:spPr>
          <a:xfrm>
            <a:off x="8046720" y="1737360"/>
            <a:ext cx="3474720" cy="868680"/>
          </a:xfrm>
          <a:prstGeom prst="rect">
            <a:avLst/>
          </a:prstGeom>
          <a:noFill/>
        </p:spPr>
        <p:txBody>
          <a:bodyPr wrap="square" lIns="36576" rIns="36576" anchor="t">
            <a:spAutoFit/>
          </a:bodyPr>
          <a:lstStyle/>
          <a:p>
            <a:pPr algn="l">
              <a:spcAft>
                <a:spcPts val="600"/>
              </a:spcAft>
            </a:pPr>
            <a:r>
              <a:rPr sz="1800" b="0">
                <a:solidFill>
                  <a:srgbClr val="E6ECFF"/>
                </a:solidFill>
                <a:latin typeface="Calibri"/>
              </a:rPr>
              <a:t>Trusting a typed number; redacting logs later</a:t>
            </a:r>
          </a:p>
        </p:txBody>
      </p:sp>
      <p:sp>
        <p:nvSpPr>
          <p:cNvPr id="10" name="Rounded Rectangle 9"/>
          <p:cNvSpPr/>
          <p:nvPr/>
        </p:nvSpPr>
        <p:spPr>
          <a:xfrm>
            <a:off x="548640" y="2834640"/>
            <a:ext cx="2499283" cy="914400"/>
          </a:xfrm>
          <a:prstGeom prst="roundRect">
            <a:avLst>
              <a:gd name="adj" fmla="val 8000"/>
            </a:avLst>
          </a:prstGeom>
          <a:solidFill>
            <a:srgbClr val="141F38"/>
          </a:solidFill>
          <a:ln w="1587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device-mobile-F4A261.png"/>
          <p:cNvPicPr>
            <a:picLocks noChangeAspect="1"/>
          </p:cNvPicPr>
          <p:nvPr/>
        </p:nvPicPr>
        <p:blipFill>
          <a:blip r:embed="rId7"/>
          <a:stretch>
            <a:fillRect/>
          </a:stretch>
        </p:blipFill>
        <p:spPr>
          <a:xfrm>
            <a:off x="731520" y="3017520"/>
            <a:ext cx="548640" cy="548640"/>
          </a:xfrm>
          <a:prstGeom prst="rect">
            <a:avLst/>
          </a:prstGeom>
        </p:spPr>
      </p:pic>
      <p:sp>
        <p:nvSpPr>
          <p:cNvPr id="12" name="TextBox 11"/>
          <p:cNvSpPr txBox="1"/>
          <p:nvPr/>
        </p:nvSpPr>
        <p:spPr>
          <a:xfrm>
            <a:off x="1417319" y="2834640"/>
            <a:ext cx="1539163" cy="914400"/>
          </a:xfrm>
          <a:prstGeom prst="rect">
            <a:avLst/>
          </a:prstGeom>
          <a:noFill/>
        </p:spPr>
        <p:txBody>
          <a:bodyPr wrap="square" lIns="36576" rIns="36576" anchor="ctr">
            <a:spAutoFit/>
          </a:bodyPr>
          <a:lstStyle/>
          <a:p>
            <a:pPr algn="l">
              <a:spcAft>
                <a:spcPts val="600"/>
              </a:spcAft>
            </a:pPr>
            <a:r>
              <a:rPr sz="1800" b="1">
                <a:solidFill>
                  <a:srgbClr val="E6ECFF"/>
                </a:solidFill>
                <a:latin typeface="Calibri"/>
              </a:rPr>
              <a:t>Phone number</a:t>
            </a:r>
          </a:p>
        </p:txBody>
      </p:sp>
      <p:sp>
        <p:nvSpPr>
          <p:cNvPr id="13" name="Right Arrow 12"/>
          <p:cNvSpPr/>
          <p:nvPr/>
        </p:nvSpPr>
        <p:spPr>
          <a:xfrm>
            <a:off x="3075355" y="3163824"/>
            <a:ext cx="310896" cy="256032"/>
          </a:xfrm>
          <a:prstGeom prst="rightArrow">
            <a:avLst/>
          </a:prstGeom>
          <a:solidFill>
            <a:srgbClr val="9AA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413683" y="2834640"/>
            <a:ext cx="2499283" cy="91440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key-4CC9F0.png"/>
          <p:cNvPicPr>
            <a:picLocks noChangeAspect="1"/>
          </p:cNvPicPr>
          <p:nvPr/>
        </p:nvPicPr>
        <p:blipFill>
          <a:blip r:embed="rId8"/>
          <a:stretch>
            <a:fillRect/>
          </a:stretch>
        </p:blipFill>
        <p:spPr>
          <a:xfrm>
            <a:off x="3596563" y="3017520"/>
            <a:ext cx="548640" cy="548640"/>
          </a:xfrm>
          <a:prstGeom prst="rect">
            <a:avLst/>
          </a:prstGeom>
        </p:spPr>
      </p:pic>
      <p:sp>
        <p:nvSpPr>
          <p:cNvPr id="16" name="TextBox 15"/>
          <p:cNvSpPr txBox="1"/>
          <p:nvPr/>
        </p:nvSpPr>
        <p:spPr>
          <a:xfrm>
            <a:off x="4282363" y="2834640"/>
            <a:ext cx="1539163" cy="914400"/>
          </a:xfrm>
          <a:prstGeom prst="rect">
            <a:avLst/>
          </a:prstGeom>
          <a:noFill/>
        </p:spPr>
        <p:txBody>
          <a:bodyPr wrap="square" lIns="36576" rIns="36576" anchor="ctr">
            <a:spAutoFit/>
          </a:bodyPr>
          <a:lstStyle/>
          <a:p>
            <a:pPr algn="l">
              <a:spcAft>
                <a:spcPts val="600"/>
              </a:spcAft>
            </a:pPr>
            <a:r>
              <a:rPr sz="1800" b="1">
                <a:solidFill>
                  <a:srgbClr val="E6ECFF"/>
                </a:solidFill>
                <a:latin typeface="Calibri"/>
              </a:rPr>
              <a:t>KMS HMAC → line id</a:t>
            </a:r>
          </a:p>
        </p:txBody>
      </p:sp>
      <p:sp>
        <p:nvSpPr>
          <p:cNvPr id="17" name="Right Arrow 16"/>
          <p:cNvSpPr/>
          <p:nvPr/>
        </p:nvSpPr>
        <p:spPr>
          <a:xfrm>
            <a:off x="5940399" y="3163824"/>
            <a:ext cx="310896" cy="256032"/>
          </a:xfrm>
          <a:prstGeom prst="rightArrow">
            <a:avLst/>
          </a:prstGeom>
          <a:solidFill>
            <a:srgbClr val="9AA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278727" y="2834640"/>
            <a:ext cx="2499283" cy="914400"/>
          </a:xfrm>
          <a:prstGeom prst="roundRect">
            <a:avLst>
              <a:gd name="adj" fmla="val 8000"/>
            </a:avLst>
          </a:prstGeom>
          <a:solidFill>
            <a:srgbClr val="141F38"/>
          </a:solidFill>
          <a:ln w="1587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lock-8A94A6.png"/>
          <p:cNvPicPr>
            <a:picLocks noChangeAspect="1"/>
          </p:cNvPicPr>
          <p:nvPr/>
        </p:nvPicPr>
        <p:blipFill>
          <a:blip r:embed="rId9"/>
          <a:stretch>
            <a:fillRect/>
          </a:stretch>
        </p:blipFill>
        <p:spPr>
          <a:xfrm>
            <a:off x="6461607" y="3017520"/>
            <a:ext cx="548640" cy="548640"/>
          </a:xfrm>
          <a:prstGeom prst="rect">
            <a:avLst/>
          </a:prstGeom>
        </p:spPr>
      </p:pic>
      <p:sp>
        <p:nvSpPr>
          <p:cNvPr id="20" name="TextBox 19"/>
          <p:cNvSpPr txBox="1"/>
          <p:nvPr/>
        </p:nvSpPr>
        <p:spPr>
          <a:xfrm>
            <a:off x="7147407" y="2834640"/>
            <a:ext cx="1539163" cy="914400"/>
          </a:xfrm>
          <a:prstGeom prst="rect">
            <a:avLst/>
          </a:prstGeom>
          <a:noFill/>
        </p:spPr>
        <p:txBody>
          <a:bodyPr wrap="square" lIns="36576" rIns="36576" anchor="ctr">
            <a:spAutoFit/>
          </a:bodyPr>
          <a:lstStyle/>
          <a:p>
            <a:pPr algn="l">
              <a:spcAft>
                <a:spcPts val="600"/>
              </a:spcAft>
            </a:pPr>
            <a:r>
              <a:rPr sz="1800" b="1">
                <a:solidFill>
                  <a:srgbClr val="E6ECFF"/>
                </a:solidFill>
                <a:latin typeface="Calibri"/>
              </a:rPr>
              <a:t>KMS encrypts the number</a:t>
            </a:r>
          </a:p>
        </p:txBody>
      </p:sp>
      <p:sp>
        <p:nvSpPr>
          <p:cNvPr id="21" name="Right Arrow 20"/>
          <p:cNvSpPr/>
          <p:nvPr/>
        </p:nvSpPr>
        <p:spPr>
          <a:xfrm>
            <a:off x="8805443" y="3163824"/>
            <a:ext cx="310896" cy="256032"/>
          </a:xfrm>
          <a:prstGeom prst="rightArrow">
            <a:avLst/>
          </a:prstGeom>
          <a:solidFill>
            <a:srgbClr val="9AA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143771" y="2834640"/>
            <a:ext cx="2499283" cy="914400"/>
          </a:xfrm>
          <a:prstGeom prst="roundRect">
            <a:avLst>
              <a:gd name="adj" fmla="val 8000"/>
            </a:avLst>
          </a:prstGeom>
          <a:solidFill>
            <a:srgbClr val="141F38"/>
          </a:solidFill>
          <a:ln w="15875">
            <a:solidFill>
              <a:srgbClr val="2EC2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eye-2EC27E.png"/>
          <p:cNvPicPr>
            <a:picLocks noChangeAspect="1"/>
          </p:cNvPicPr>
          <p:nvPr/>
        </p:nvPicPr>
        <p:blipFill>
          <a:blip r:embed="rId10"/>
          <a:stretch>
            <a:fillRect/>
          </a:stretch>
        </p:blipFill>
        <p:spPr>
          <a:xfrm>
            <a:off x="9326651" y="3017520"/>
            <a:ext cx="548640" cy="548640"/>
          </a:xfrm>
          <a:prstGeom prst="rect">
            <a:avLst/>
          </a:prstGeom>
        </p:spPr>
      </p:pic>
      <p:sp>
        <p:nvSpPr>
          <p:cNvPr id="24" name="TextBox 23"/>
          <p:cNvSpPr txBox="1"/>
          <p:nvPr/>
        </p:nvSpPr>
        <p:spPr>
          <a:xfrm>
            <a:off x="10012451" y="2834640"/>
            <a:ext cx="1539163" cy="914400"/>
          </a:xfrm>
          <a:prstGeom prst="rect">
            <a:avLst/>
          </a:prstGeom>
          <a:noFill/>
        </p:spPr>
        <p:txBody>
          <a:bodyPr wrap="square" lIns="36576" rIns="36576" anchor="ctr">
            <a:spAutoFit/>
          </a:bodyPr>
          <a:lstStyle/>
          <a:p>
            <a:pPr algn="l">
              <a:spcAft>
                <a:spcPts val="600"/>
              </a:spcAft>
            </a:pPr>
            <a:r>
              <a:rPr sz="1800" b="1">
                <a:solidFill>
                  <a:srgbClr val="E6ECFF"/>
                </a:solidFill>
                <a:latin typeface="Calibri"/>
              </a:rPr>
              <a:t>Never in a log</a:t>
            </a:r>
          </a:p>
        </p:txBody>
      </p:sp>
      <p:pic>
        <p:nvPicPr>
          <p:cNvPr id="25" name="Picture 24" descr="user-E6ECFF.png"/>
          <p:cNvPicPr>
            <a:picLocks noChangeAspect="1"/>
          </p:cNvPicPr>
          <p:nvPr/>
        </p:nvPicPr>
        <p:blipFill>
          <a:blip r:embed="rId11"/>
          <a:stretch>
            <a:fillRect/>
          </a:stretch>
        </p:blipFill>
        <p:spPr>
          <a:xfrm>
            <a:off x="868680" y="4206240"/>
            <a:ext cx="548640" cy="548640"/>
          </a:xfrm>
          <a:prstGeom prst="rect">
            <a:avLst/>
          </a:prstGeom>
        </p:spPr>
      </p:pic>
      <p:sp>
        <p:nvSpPr>
          <p:cNvPr id="26" name="TextBox 25"/>
          <p:cNvSpPr txBox="1"/>
          <p:nvPr/>
        </p:nvSpPr>
        <p:spPr>
          <a:xfrm>
            <a:off x="594360" y="4800600"/>
            <a:ext cx="1097280" cy="411480"/>
          </a:xfrm>
          <a:prstGeom prst="rect">
            <a:avLst/>
          </a:prstGeom>
          <a:noFill/>
        </p:spPr>
        <p:txBody>
          <a:bodyPr wrap="square" lIns="36576" rIns="36576" anchor="t">
            <a:spAutoFit/>
          </a:bodyPr>
          <a:lstStyle/>
          <a:p>
            <a:pPr algn="ctr">
              <a:spcAft>
                <a:spcPts val="600"/>
              </a:spcAft>
            </a:pPr>
            <a:r>
              <a:rPr sz="1800" b="1">
                <a:solidFill>
                  <a:srgbClr val="E6ECFF"/>
                </a:solidFill>
                <a:latin typeface="Calibri"/>
              </a:rPr>
              <a:t>Mom</a:t>
            </a:r>
          </a:p>
        </p:txBody>
      </p:sp>
      <p:pic>
        <p:nvPicPr>
          <p:cNvPr id="27" name="Picture 26" descr="user-E6ECFF.png"/>
          <p:cNvPicPr>
            <a:picLocks noChangeAspect="1"/>
          </p:cNvPicPr>
          <p:nvPr/>
        </p:nvPicPr>
        <p:blipFill>
          <a:blip r:embed="rId11"/>
          <a:stretch>
            <a:fillRect/>
          </a:stretch>
        </p:blipFill>
        <p:spPr>
          <a:xfrm>
            <a:off x="5074920" y="4206240"/>
            <a:ext cx="548640" cy="548640"/>
          </a:xfrm>
          <a:prstGeom prst="rect">
            <a:avLst/>
          </a:prstGeom>
        </p:spPr>
      </p:pic>
      <p:sp>
        <p:nvSpPr>
          <p:cNvPr id="28" name="TextBox 27"/>
          <p:cNvSpPr txBox="1"/>
          <p:nvPr/>
        </p:nvSpPr>
        <p:spPr>
          <a:xfrm>
            <a:off x="4800600" y="4800600"/>
            <a:ext cx="1097280" cy="411480"/>
          </a:xfrm>
          <a:prstGeom prst="rect">
            <a:avLst/>
          </a:prstGeom>
          <a:noFill/>
        </p:spPr>
        <p:txBody>
          <a:bodyPr wrap="square" lIns="36576" rIns="36576" anchor="t">
            <a:spAutoFit/>
          </a:bodyPr>
          <a:lstStyle/>
          <a:p>
            <a:pPr algn="ctr">
              <a:spcAft>
                <a:spcPts val="600"/>
              </a:spcAft>
            </a:pPr>
            <a:r>
              <a:rPr sz="1800" b="1">
                <a:solidFill>
                  <a:srgbClr val="E6ECFF"/>
                </a:solidFill>
                <a:latin typeface="Calibri"/>
              </a:rPr>
              <a:t>Son</a:t>
            </a:r>
          </a:p>
        </p:txBody>
      </p:sp>
      <p:sp>
        <p:nvSpPr>
          <p:cNvPr id="29" name="Right Arrow 28"/>
          <p:cNvSpPr/>
          <p:nvPr/>
        </p:nvSpPr>
        <p:spPr>
          <a:xfrm>
            <a:off x="1783080" y="4315968"/>
            <a:ext cx="2926080" cy="237744"/>
          </a:xfrm>
          <a:prstGeom prst="rightArrow">
            <a:avLst/>
          </a:prstGeom>
          <a:solidFill>
            <a:srgbClr val="2EC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783080" y="3950208"/>
            <a:ext cx="2926080" cy="347472"/>
          </a:xfrm>
          <a:prstGeom prst="rect">
            <a:avLst/>
          </a:prstGeom>
          <a:noFill/>
        </p:spPr>
        <p:txBody>
          <a:bodyPr wrap="square" lIns="36576" rIns="36576" anchor="t">
            <a:spAutoFit/>
          </a:bodyPr>
          <a:lstStyle/>
          <a:p>
            <a:pPr algn="ctr">
              <a:spcAft>
                <a:spcPts val="600"/>
              </a:spcAft>
            </a:pPr>
            <a:r>
              <a:rPr sz="1600" b="0">
                <a:solidFill>
                  <a:srgbClr val="2EC27E"/>
                </a:solidFill>
                <a:latin typeface="Calibri"/>
              </a:rPr>
              <a:t>grants per tool</a:t>
            </a:r>
          </a:p>
        </p:txBody>
      </p:sp>
      <p:sp>
        <p:nvSpPr>
          <p:cNvPr id="31" name="Left Arrow 30"/>
          <p:cNvSpPr/>
          <p:nvPr/>
        </p:nvSpPr>
        <p:spPr>
          <a:xfrm>
            <a:off x="1783080" y="4736592"/>
            <a:ext cx="2926080" cy="237744"/>
          </a:xfrm>
          <a:prstGeom prst="leftArrow">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783080" y="4992624"/>
            <a:ext cx="2926080" cy="347472"/>
          </a:xfrm>
          <a:prstGeom prst="rect">
            <a:avLst/>
          </a:prstGeom>
          <a:noFill/>
        </p:spPr>
        <p:txBody>
          <a:bodyPr wrap="square" lIns="36576" rIns="36576" anchor="t">
            <a:spAutoFit/>
          </a:bodyPr>
          <a:lstStyle/>
          <a:p>
            <a:pPr algn="ctr">
              <a:spcAft>
                <a:spcPts val="600"/>
              </a:spcAft>
            </a:pPr>
            <a:r>
              <a:rPr sz="1600" b="0">
                <a:solidFill>
                  <a:srgbClr val="F4A261"/>
                </a:solidFill>
                <a:latin typeface="Calibri"/>
              </a:rPr>
              <a:t>revokes any time</a:t>
            </a:r>
          </a:p>
        </p:txBody>
      </p:sp>
      <p:sp>
        <p:nvSpPr>
          <p:cNvPr id="33" name="TextBox 32"/>
          <p:cNvSpPr txBox="1"/>
          <p:nvPr/>
        </p:nvSpPr>
        <p:spPr>
          <a:xfrm>
            <a:off x="6675120" y="3950208"/>
            <a:ext cx="4937760" cy="347472"/>
          </a:xfrm>
          <a:prstGeom prst="rect">
            <a:avLst/>
          </a:prstGeom>
          <a:noFill/>
        </p:spPr>
        <p:txBody>
          <a:bodyPr wrap="square" lIns="36576" rIns="36576" anchor="t">
            <a:spAutoFit/>
          </a:bodyPr>
          <a:lstStyle/>
          <a:p>
            <a:pPr algn="l">
              <a:spcAft>
                <a:spcPts val="600"/>
              </a:spcAft>
            </a:pPr>
            <a:r>
              <a:rPr sz="1300" b="1">
                <a:solidFill>
                  <a:srgbClr val="4CC9F0"/>
                </a:solidFill>
                <a:latin typeface="Calibri"/>
              </a:rPr>
              <a:t>AUDIT, BEFORE EVERY ANSWER</a:t>
            </a:r>
          </a:p>
        </p:txBody>
      </p:sp>
      <p:sp>
        <p:nvSpPr>
          <p:cNvPr id="34" name="Rounded Rectangle 33"/>
          <p:cNvSpPr/>
          <p:nvPr/>
        </p:nvSpPr>
        <p:spPr>
          <a:xfrm>
            <a:off x="6675120" y="4343400"/>
            <a:ext cx="731520" cy="64008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75120" y="4343400"/>
            <a:ext cx="731520" cy="640080"/>
          </a:xfrm>
          <a:prstGeom prst="rect">
            <a:avLst/>
          </a:prstGeom>
          <a:noFill/>
        </p:spPr>
        <p:txBody>
          <a:bodyPr wrap="square" lIns="36576" rIns="36576" anchor="ctr">
            <a:spAutoFit/>
          </a:bodyPr>
          <a:lstStyle/>
          <a:p>
            <a:pPr algn="ctr">
              <a:spcAft>
                <a:spcPts val="600"/>
              </a:spcAft>
            </a:pPr>
            <a:r>
              <a:rPr sz="1800" b="1">
                <a:solidFill>
                  <a:srgbClr val="E6ECFF"/>
                </a:solidFill>
                <a:latin typeface="Calibri"/>
              </a:rPr>
              <a:t>#1</a:t>
            </a:r>
          </a:p>
        </p:txBody>
      </p:sp>
      <p:cxnSp>
        <p:nvCxnSpPr>
          <p:cNvPr id="36" name="Connector 35"/>
          <p:cNvCxnSpPr/>
          <p:nvPr/>
        </p:nvCxnSpPr>
        <p:spPr>
          <a:xfrm>
            <a:off x="7406640" y="4663440"/>
            <a:ext cx="292608" cy="0"/>
          </a:xfrm>
          <a:prstGeom prst="line">
            <a:avLst/>
          </a:prstGeom>
          <a:ln w="31750">
            <a:solidFill>
              <a:srgbClr val="4CC9F0"/>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7699248" y="4343400"/>
            <a:ext cx="731520" cy="64008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699248" y="4343400"/>
            <a:ext cx="731520" cy="640080"/>
          </a:xfrm>
          <a:prstGeom prst="rect">
            <a:avLst/>
          </a:prstGeom>
          <a:noFill/>
        </p:spPr>
        <p:txBody>
          <a:bodyPr wrap="square" lIns="36576" rIns="36576" anchor="ctr">
            <a:spAutoFit/>
          </a:bodyPr>
          <a:lstStyle/>
          <a:p>
            <a:pPr algn="ctr">
              <a:spcAft>
                <a:spcPts val="600"/>
              </a:spcAft>
            </a:pPr>
            <a:r>
              <a:rPr sz="1800" b="1">
                <a:solidFill>
                  <a:srgbClr val="E6ECFF"/>
                </a:solidFill>
                <a:latin typeface="Calibri"/>
              </a:rPr>
              <a:t>#2</a:t>
            </a:r>
          </a:p>
        </p:txBody>
      </p:sp>
      <p:cxnSp>
        <p:nvCxnSpPr>
          <p:cNvPr id="39" name="Connector 38"/>
          <p:cNvCxnSpPr/>
          <p:nvPr/>
        </p:nvCxnSpPr>
        <p:spPr>
          <a:xfrm>
            <a:off x="8430768" y="4663440"/>
            <a:ext cx="292608" cy="0"/>
          </a:xfrm>
          <a:prstGeom prst="line">
            <a:avLst/>
          </a:prstGeom>
          <a:ln w="31750">
            <a:solidFill>
              <a:srgbClr val="4CC9F0"/>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723376" y="4343400"/>
            <a:ext cx="731520" cy="64008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723376" y="4343400"/>
            <a:ext cx="731520" cy="640080"/>
          </a:xfrm>
          <a:prstGeom prst="rect">
            <a:avLst/>
          </a:prstGeom>
          <a:noFill/>
        </p:spPr>
        <p:txBody>
          <a:bodyPr wrap="square" lIns="36576" rIns="36576" anchor="ctr">
            <a:spAutoFit/>
          </a:bodyPr>
          <a:lstStyle/>
          <a:p>
            <a:pPr algn="ctr">
              <a:spcAft>
                <a:spcPts val="600"/>
              </a:spcAft>
            </a:pPr>
            <a:r>
              <a:rPr sz="1800" b="1">
                <a:solidFill>
                  <a:srgbClr val="E6ECFF"/>
                </a:solidFill>
                <a:latin typeface="Calibri"/>
              </a:rPr>
              <a:t>#3</a:t>
            </a:r>
          </a:p>
        </p:txBody>
      </p:sp>
      <p:cxnSp>
        <p:nvCxnSpPr>
          <p:cNvPr id="42" name="Connector 41"/>
          <p:cNvCxnSpPr/>
          <p:nvPr/>
        </p:nvCxnSpPr>
        <p:spPr>
          <a:xfrm>
            <a:off x="9454896" y="4663440"/>
            <a:ext cx="292608" cy="0"/>
          </a:xfrm>
          <a:prstGeom prst="line">
            <a:avLst/>
          </a:prstGeom>
          <a:ln w="31750">
            <a:solidFill>
              <a:srgbClr val="4CC9F0"/>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747504" y="4343400"/>
            <a:ext cx="731520" cy="64008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747504" y="4343400"/>
            <a:ext cx="731520" cy="640080"/>
          </a:xfrm>
          <a:prstGeom prst="rect">
            <a:avLst/>
          </a:prstGeom>
          <a:noFill/>
        </p:spPr>
        <p:txBody>
          <a:bodyPr wrap="square" lIns="36576" rIns="36576" anchor="ctr">
            <a:spAutoFit/>
          </a:bodyPr>
          <a:lstStyle/>
          <a:p>
            <a:pPr algn="ctr">
              <a:spcAft>
                <a:spcPts val="600"/>
              </a:spcAft>
            </a:pPr>
            <a:r>
              <a:rPr sz="1800" b="1">
                <a:solidFill>
                  <a:srgbClr val="E6ECFF"/>
                </a:solidFill>
                <a:latin typeface="Calibri"/>
              </a:rPr>
              <a:t>#4</a:t>
            </a:r>
          </a:p>
        </p:txBody>
      </p:sp>
      <p:sp>
        <p:nvSpPr>
          <p:cNvPr id="45" name="TextBox 44"/>
          <p:cNvSpPr txBox="1"/>
          <p:nvPr/>
        </p:nvSpPr>
        <p:spPr>
          <a:xfrm>
            <a:off x="10789920" y="4343400"/>
            <a:ext cx="914400" cy="640080"/>
          </a:xfrm>
          <a:prstGeom prst="rect">
            <a:avLst/>
          </a:prstGeom>
          <a:noFill/>
        </p:spPr>
        <p:txBody>
          <a:bodyPr wrap="square" lIns="36576" rIns="36576" anchor="ctr">
            <a:spAutoFit/>
          </a:bodyPr>
          <a:lstStyle/>
          <a:p>
            <a:pPr algn="l">
              <a:spcAft>
                <a:spcPts val="600"/>
              </a:spcAft>
            </a:pPr>
            <a:r>
              <a:rPr sz="1400" b="0">
                <a:solidFill>
                  <a:srgbClr val="9AA8CC"/>
                </a:solidFill>
                <a:latin typeface="Calibri"/>
              </a:rPr>
              <a:t>hash-linked</a:t>
            </a:r>
          </a:p>
        </p:txBody>
      </p:sp>
      <p:sp>
        <p:nvSpPr>
          <p:cNvPr id="46" name="Rounded Rectangle 45"/>
          <p:cNvSpPr/>
          <p:nvPr/>
        </p:nvSpPr>
        <p:spPr>
          <a:xfrm>
            <a:off x="548640" y="5596128"/>
            <a:ext cx="11094415" cy="566928"/>
          </a:xfrm>
          <a:prstGeom prst="roundRect">
            <a:avLst>
              <a:gd name="adj" fmla="val 30000"/>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77240" y="5596128"/>
            <a:ext cx="10637215" cy="566928"/>
          </a:xfrm>
          <a:prstGeom prst="rect">
            <a:avLst/>
          </a:prstGeom>
          <a:noFill/>
        </p:spPr>
        <p:txBody>
          <a:bodyPr wrap="square" lIns="36576" rIns="36576" anchor="ctr">
            <a:spAutoFit/>
          </a:bodyPr>
          <a:lstStyle/>
          <a:p>
            <a:pPr algn="l">
              <a:spcAft>
                <a:spcPts val="600"/>
              </a:spcAft>
            </a:pPr>
            <a:r>
              <a:rPr sz="1800" b="0">
                <a:solidFill>
                  <a:srgbClr val="E6ECFF"/>
                </a:solidFill>
                <a:latin typeface="Calibri"/>
              </a:rPr>
              <a:t>TRADE-OFF   Binding needs mobile data, so not on Wi-Fi</a:t>
            </a:r>
          </a:p>
        </p:txBody>
      </p:sp>
      <p:cxnSp>
        <p:nvCxnSpPr>
          <p:cNvPr id="48" name="Connector 47"/>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48640" y="6382512"/>
            <a:ext cx="8229600" cy="310896"/>
          </a:xfrm>
          <a:prstGeom prst="rect">
            <a:avLst/>
          </a:prstGeom>
          <a:noFill/>
        </p:spPr>
        <p:txBody>
          <a:bodyPr wrap="square" lIns="36576" rIns="36576" anchor="ctr">
            <a:spAutoFit/>
          </a:bodyPr>
          <a:lstStyle/>
          <a:p>
            <a:pPr algn="l">
              <a:spcAft>
                <a:spcPts val="600"/>
              </a:spcAft>
            </a:pPr>
            <a:r>
              <a:rPr sz="1100" b="0">
                <a:solidFill>
                  <a:srgbClr val="9AA8CC"/>
                </a:solidFill>
                <a:latin typeface="Calibri"/>
              </a:rPr>
              <a:t>08  •  Ask the Tower</a:t>
            </a:r>
          </a:p>
        </p:txBody>
      </p:sp>
      <p:sp>
        <p:nvSpPr>
          <p:cNvPr id="50" name="Rectangle 49"/>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0" y="6793992"/>
            <a:ext cx="8866687"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2" name="slide-08.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11368735" y="6382512"/>
            <a:ext cx="274320" cy="274320"/>
          </a:xfrm>
          <a:prstGeom prst="rect">
            <a:avLst/>
          </a:prstGeom>
        </p:spPr>
      </p:pic>
    </p:spTree>
  </p:cSld>
  <p:clrMapOvr>
    <a:masterClrMapping/>
  </p:clrMapOvr>
  <p:transition spd="med" advTm="3176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768" fill="hold"/>
                                        <p:tgtEl>
                                          <p:spTgt spid="5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5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pic>
        <p:nvPicPr>
          <p:cNvPr id="2" name="Picture 1" descr="list-check-4CC9F0.png"/>
          <p:cNvPicPr>
            <a:picLocks noChangeAspect="1"/>
          </p:cNvPicPr>
          <p:nvPr/>
        </p:nvPicPr>
        <p:blipFill>
          <a:blip r:embed="rId5"/>
          <a:stretch>
            <a:fillRect/>
          </a:stretch>
        </p:blipFill>
        <p:spPr>
          <a:xfrm>
            <a:off x="548640" y="384048"/>
            <a:ext cx="566928" cy="566928"/>
          </a:xfrm>
          <a:prstGeom prst="rect">
            <a:avLst/>
          </a:prstGeom>
        </p:spPr>
      </p:pic>
      <p:sp>
        <p:nvSpPr>
          <p:cNvPr id="3" name="TextBox 2"/>
          <p:cNvSpPr txBox="1"/>
          <p:nvPr/>
        </p:nvSpPr>
        <p:spPr>
          <a:xfrm>
            <a:off x="1280160" y="274320"/>
            <a:ext cx="10362895" cy="777240"/>
          </a:xfrm>
          <a:prstGeom prst="rect">
            <a:avLst/>
          </a:prstGeom>
          <a:noFill/>
        </p:spPr>
        <p:txBody>
          <a:bodyPr wrap="square" lIns="36576" rIns="36576" anchor="ctr">
            <a:spAutoFit/>
          </a:bodyPr>
          <a:lstStyle/>
          <a:p>
            <a:pPr algn="l">
              <a:spcAft>
                <a:spcPts val="600"/>
              </a:spcAft>
            </a:pPr>
            <a:r>
              <a:rPr sz="3200" b="1">
                <a:solidFill>
                  <a:srgbClr val="E6ECFF"/>
                </a:solidFill>
                <a:latin typeface="Calibri"/>
              </a:rPr>
              <a:t>Plain code decides, with fixed words</a:t>
            </a:r>
          </a:p>
        </p:txBody>
      </p:sp>
      <p:sp>
        <p:nvSpPr>
          <p:cNvPr id="4" name="Rounded Rectangle 3"/>
          <p:cNvSpPr/>
          <p:nvPr/>
        </p:nvSpPr>
        <p:spPr>
          <a:xfrm>
            <a:off x="548640" y="1188720"/>
            <a:ext cx="7086600" cy="146304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61872"/>
            <a:ext cx="6675120" cy="1325880"/>
          </a:xfrm>
          <a:prstGeom prst="rect">
            <a:avLst/>
          </a:prstGeom>
          <a:noFill/>
        </p:spPr>
        <p:txBody>
          <a:bodyPr wrap="square" lIns="36576" rIns="36576" anchor="t">
            <a:spAutoFit/>
          </a:bodyPr>
          <a:lstStyle/>
          <a:p>
            <a:pPr algn="l">
              <a:spcAft>
                <a:spcPts val="300"/>
              </a:spcAft>
            </a:pPr>
            <a:r>
              <a:rPr sz="1300" b="1">
                <a:solidFill>
                  <a:srgbClr val="4CC9F0"/>
                </a:solidFill>
                <a:latin typeface="Calibri"/>
              </a:rPr>
              <a:t>DECISION</a:t>
            </a:r>
          </a:p>
          <a:p>
            <a:pPr algn="l">
              <a:spcAft>
                <a:spcPts val="300"/>
              </a:spcAft>
            </a:pPr>
            <a:r>
              <a:rPr sz="2200" b="1">
                <a:solidFill>
                  <a:srgbClr val="E6ECFF"/>
                </a:solidFill>
                <a:latin typeface="Calibri"/>
              </a:rPr>
              <a:t>Plain code decides, then picks a fixed sentence</a:t>
            </a:r>
          </a:p>
          <a:p>
            <a:pPr algn="l">
              <a:spcAft>
                <a:spcPts val="300"/>
              </a:spcAft>
            </a:pPr>
            <a:r>
              <a:rPr sz="1800" b="0">
                <a:solidFill>
                  <a:srgbClr val="9AA8CC"/>
                </a:solidFill>
                <a:latin typeface="Calibri"/>
              </a:rPr>
              <a:t>Safety advice must never drift</a:t>
            </a:r>
          </a:p>
        </p:txBody>
      </p:sp>
      <p:sp>
        <p:nvSpPr>
          <p:cNvPr id="6" name="Rounded Rectangle 5"/>
          <p:cNvSpPr/>
          <p:nvPr/>
        </p:nvSpPr>
        <p:spPr>
          <a:xfrm>
            <a:off x="7818120" y="1188720"/>
            <a:ext cx="3822191" cy="1463040"/>
          </a:xfrm>
          <a:prstGeom prst="roundRect">
            <a:avLst>
              <a:gd name="adj" fmla="val 8000"/>
            </a:avLst>
          </a:prstGeom>
          <a:solidFill>
            <a:srgbClr val="141F38"/>
          </a:solidFill>
          <a:ln w="1587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ircle-x-F4A261.png"/>
          <p:cNvPicPr>
            <a:picLocks noChangeAspect="1"/>
          </p:cNvPicPr>
          <p:nvPr/>
        </p:nvPicPr>
        <p:blipFill>
          <a:blip r:embed="rId6"/>
          <a:stretch>
            <a:fillRect/>
          </a:stretch>
        </p:blipFill>
        <p:spPr>
          <a:xfrm>
            <a:off x="8001000" y="1325880"/>
            <a:ext cx="384048" cy="384048"/>
          </a:xfrm>
          <a:prstGeom prst="rect">
            <a:avLst/>
          </a:prstGeom>
        </p:spPr>
      </p:pic>
      <p:sp>
        <p:nvSpPr>
          <p:cNvPr id="8" name="TextBox 7"/>
          <p:cNvSpPr txBox="1"/>
          <p:nvPr/>
        </p:nvSpPr>
        <p:spPr>
          <a:xfrm>
            <a:off x="8458200" y="1298448"/>
            <a:ext cx="3108960" cy="365760"/>
          </a:xfrm>
          <a:prstGeom prst="rect">
            <a:avLst/>
          </a:prstGeom>
          <a:noFill/>
        </p:spPr>
        <p:txBody>
          <a:bodyPr wrap="square" lIns="36576" rIns="36576" anchor="ctr">
            <a:spAutoFit/>
          </a:bodyPr>
          <a:lstStyle/>
          <a:p>
            <a:pPr algn="l">
              <a:spcAft>
                <a:spcPts val="600"/>
              </a:spcAft>
            </a:pPr>
            <a:r>
              <a:rPr sz="1300" b="1">
                <a:solidFill>
                  <a:srgbClr val="F4A261"/>
                </a:solidFill>
                <a:latin typeface="Calibri"/>
              </a:rPr>
              <a:t>REJECTED</a:t>
            </a:r>
          </a:p>
        </p:txBody>
      </p:sp>
      <p:sp>
        <p:nvSpPr>
          <p:cNvPr id="9" name="TextBox 8"/>
          <p:cNvSpPr txBox="1"/>
          <p:nvPr/>
        </p:nvSpPr>
        <p:spPr>
          <a:xfrm>
            <a:off x="8046720" y="1737360"/>
            <a:ext cx="3474720" cy="868680"/>
          </a:xfrm>
          <a:prstGeom prst="rect">
            <a:avLst/>
          </a:prstGeom>
          <a:noFill/>
        </p:spPr>
        <p:txBody>
          <a:bodyPr wrap="square" lIns="36576" rIns="36576" anchor="t">
            <a:spAutoFit/>
          </a:bodyPr>
          <a:lstStyle/>
          <a:p>
            <a:pPr algn="l">
              <a:spcAft>
                <a:spcPts val="600"/>
              </a:spcAft>
            </a:pPr>
            <a:r>
              <a:rPr sz="1800" b="0">
                <a:solidFill>
                  <a:srgbClr val="E6ECFF"/>
                </a:solidFill>
                <a:latin typeface="Calibri"/>
              </a:rPr>
              <a:t>A model decides, or paraphrases the advice</a:t>
            </a:r>
          </a:p>
        </p:txBody>
      </p:sp>
      <p:graphicFrame>
        <p:nvGraphicFramePr>
          <p:cNvPr id="10" name="Table 9"/>
          <p:cNvGraphicFramePr>
            <a:graphicFrameLocks noGrp="1"/>
          </p:cNvGraphicFramePr>
          <p:nvPr/>
        </p:nvGraphicFramePr>
        <p:xfrm>
          <a:off x="548640" y="2788920"/>
          <a:ext cx="11094415" cy="2633472"/>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8076895">
                  <a:extLst>
                    <a:ext uri="{9D8B030D-6E8A-4147-A177-3AD203B41FA5}">
                      <a16:colId xmlns:a16="http://schemas.microsoft.com/office/drawing/2014/main" val="20001"/>
                    </a:ext>
                  </a:extLst>
                </a:gridCol>
              </a:tblGrid>
              <a:tr h="384048">
                <a:tc>
                  <a:txBody>
                    <a:bodyPr/>
                    <a:lstStyle/>
                    <a:p>
                      <a:r>
                        <a:rPr sz="1400" b="1">
                          <a:solidFill>
                            <a:srgbClr val="4CC9F0"/>
                          </a:solidFill>
                          <a:latin typeface="Calibri"/>
                        </a:rPr>
                        <a:t>Reason code</a:t>
                      </a:r>
                    </a:p>
                  </a:txBody>
                  <a:tcPr marL="109728" marR="109728" marT="36576" marB="36576" anchor="ctr">
                    <a:solidFill>
                      <a:srgbClr val="26365C"/>
                    </a:solidFill>
                  </a:tcPr>
                </a:tc>
                <a:tc>
                  <a:txBody>
                    <a:bodyPr/>
                    <a:lstStyle/>
                    <a:p>
                      <a:r>
                        <a:rPr sz="1400" b="1">
                          <a:solidFill>
                            <a:srgbClr val="4CC9F0"/>
                          </a:solidFill>
                          <a:latin typeface="Calibri"/>
                        </a:rPr>
                        <a:t>Spoken, word for word (phrasing.py)</a:t>
                      </a:r>
                    </a:p>
                  </a:txBody>
                  <a:tcPr marL="109728" marR="109728" marT="36576" marB="36576" anchor="ctr">
                    <a:solidFill>
                      <a:srgbClr val="26365C"/>
                    </a:solidFill>
                  </a:tcPr>
                </a:tc>
                <a:extLst>
                  <a:ext uri="{0D108BD9-81ED-4DB2-BD59-A6C34878D82A}">
                    <a16:rowId xmlns:a16="http://schemas.microsoft.com/office/drawing/2014/main" val="10000"/>
                  </a:ext>
                </a:extLst>
              </a:tr>
              <a:tr h="896112">
                <a:tc>
                  <a:txBody>
                    <a:bodyPr/>
                    <a:lstStyle/>
                    <a:p>
                      <a:r>
                        <a:rPr sz="1600" b="1">
                          <a:solidFill>
                            <a:srgbClr val="4CC9F0"/>
                          </a:solidFill>
                          <a:latin typeface="Consolas"/>
                        </a:rPr>
                        <a:t>SIM_SWAPPED_RECENT</a:t>
                      </a:r>
                    </a:p>
                  </a:txBody>
                  <a:tcPr marL="109728" marR="109728" marT="36576" marB="36576" anchor="ctr">
                    <a:solidFill>
                      <a:srgbClr val="141F38"/>
                    </a:solidFill>
                  </a:tcPr>
                </a:tc>
                <a:tc>
                  <a:txBody>
                    <a:bodyPr/>
                    <a:lstStyle/>
                    <a:p>
                      <a:r>
                        <a:rPr sz="1800" b="0">
                          <a:solidFill>
                            <a:srgbClr val="E6ECFF"/>
                          </a:solidFill>
                          <a:latin typeface="Calibri"/>
                        </a:rPr>
                        <a:t>“Your SIM was moved to another device at ‹time›. If that wasn't you, don't call from your phone — I can call your carrier's support line for you from here.”</a:t>
                      </a:r>
                    </a:p>
                  </a:txBody>
                  <a:tcPr marL="109728" marR="109728" marT="36576" marB="36576" anchor="ctr">
                    <a:solidFill>
                      <a:srgbClr val="141F38"/>
                    </a:solidFill>
                  </a:tcPr>
                </a:tc>
                <a:extLst>
                  <a:ext uri="{0D108BD9-81ED-4DB2-BD59-A6C34878D82A}">
                    <a16:rowId xmlns:a16="http://schemas.microsoft.com/office/drawing/2014/main" val="10001"/>
                  </a:ext>
                </a:extLst>
              </a:tr>
              <a:tr h="896112">
                <a:tc>
                  <a:txBody>
                    <a:bodyPr/>
                    <a:lstStyle/>
                    <a:p>
                      <a:r>
                        <a:rPr sz="1600" b="1">
                          <a:solidFill>
                            <a:srgbClr val="4CC9F0"/>
                          </a:solidFill>
                          <a:latin typeface="Consolas"/>
                        </a:rPr>
                        <a:t>CALL_FORWARDING_SET</a:t>
                      </a:r>
                    </a:p>
                  </a:txBody>
                  <a:tcPr marL="109728" marR="109728" marT="36576" marB="36576" anchor="ctr">
                    <a:solidFill>
                      <a:srgbClr val="141F38"/>
                    </a:solidFill>
                  </a:tcPr>
                </a:tc>
                <a:tc>
                  <a:txBody>
                    <a:bodyPr/>
                    <a:lstStyle/>
                    <a:p>
                      <a:r>
                        <a:rPr sz="1800" b="0">
                          <a:solidFill>
                            <a:srgbClr val="E6ECFF"/>
                          </a:solidFill>
                          <a:latin typeface="Calibri"/>
                        </a:rPr>
                        <a:t>“All your calls have been forwarding since ‹time›. If you didn't set that, I can call your carrier's support line for you from here.”</a:t>
                      </a:r>
                    </a:p>
                  </a:txBody>
                  <a:tcPr marL="109728" marR="109728" marT="36576" marB="36576" anchor="ctr">
                    <a:solidFill>
                      <a:srgbClr val="141F38"/>
                    </a:solidFill>
                  </a:tcPr>
                </a:tc>
                <a:extLst>
                  <a:ext uri="{0D108BD9-81ED-4DB2-BD59-A6C34878D82A}">
                    <a16:rowId xmlns:a16="http://schemas.microsoft.com/office/drawing/2014/main" val="10002"/>
                  </a:ext>
                </a:extLst>
              </a:tr>
              <a:tr h="457200">
                <a:tc>
                  <a:txBody>
                    <a:bodyPr/>
                    <a:lstStyle/>
                    <a:p>
                      <a:r>
                        <a:rPr sz="1600" b="1">
                          <a:solidFill>
                            <a:srgbClr val="4CC9F0"/>
                          </a:solidFill>
                          <a:latin typeface="Consolas"/>
                        </a:rPr>
                        <a:t>NO_CONSENT</a:t>
                      </a:r>
                    </a:p>
                  </a:txBody>
                  <a:tcPr marL="109728" marR="109728" marT="36576" marB="36576" anchor="ctr">
                    <a:solidFill>
                      <a:srgbClr val="141F38"/>
                    </a:solidFill>
                  </a:tcPr>
                </a:tc>
                <a:tc>
                  <a:txBody>
                    <a:bodyPr/>
                    <a:lstStyle/>
                    <a:p>
                      <a:r>
                        <a:rPr sz="1800" b="0">
                          <a:solidFill>
                            <a:srgbClr val="E6ECFF"/>
                          </a:solidFill>
                          <a:latin typeface="Calibri"/>
                        </a:rPr>
                        <a:t>“‹Name› hasn't shared that with you.”</a:t>
                      </a:r>
                    </a:p>
                  </a:txBody>
                  <a:tcPr marL="109728" marR="109728" marT="36576" marB="36576" anchor="ctr">
                    <a:solidFill>
                      <a:srgbClr val="141F38"/>
                    </a:solidFill>
                  </a:tcPr>
                </a:tc>
                <a:extLst>
                  <a:ext uri="{0D108BD9-81ED-4DB2-BD59-A6C34878D82A}">
                    <a16:rowId xmlns:a16="http://schemas.microsoft.com/office/drawing/2014/main" val="10003"/>
                  </a:ext>
                </a:extLst>
              </a:tr>
            </a:tbl>
          </a:graphicData>
        </a:graphic>
      </p:graphicFrame>
      <p:sp>
        <p:nvSpPr>
          <p:cNvPr id="11" name="Rounded Rectangle 10"/>
          <p:cNvSpPr/>
          <p:nvPr/>
        </p:nvSpPr>
        <p:spPr>
          <a:xfrm>
            <a:off x="548640" y="5596128"/>
            <a:ext cx="11094415" cy="566928"/>
          </a:xfrm>
          <a:prstGeom prst="roundRect">
            <a:avLst>
              <a:gd name="adj" fmla="val 30000"/>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5596128"/>
            <a:ext cx="10637215" cy="566928"/>
          </a:xfrm>
          <a:prstGeom prst="rect">
            <a:avLst/>
          </a:prstGeom>
          <a:noFill/>
        </p:spPr>
        <p:txBody>
          <a:bodyPr wrap="square" lIns="36576" rIns="36576" anchor="ctr">
            <a:spAutoFit/>
          </a:bodyPr>
          <a:lstStyle/>
          <a:p>
            <a:pPr algn="l">
              <a:spcAft>
                <a:spcPts val="600"/>
              </a:spcAft>
            </a:pPr>
            <a:r>
              <a:rPr sz="1800" b="0">
                <a:solidFill>
                  <a:srgbClr val="E6ECFF"/>
                </a:solidFill>
                <a:latin typeface="Calibri"/>
              </a:rPr>
              <a:t>TRADE-OFF   Fixed wording can sound stiff</a:t>
            </a:r>
          </a:p>
        </p:txBody>
      </p:sp>
      <p:cxnSp>
        <p:nvCxnSpPr>
          <p:cNvPr id="13" name="Connector 12"/>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6382512"/>
            <a:ext cx="8229600" cy="310896"/>
          </a:xfrm>
          <a:prstGeom prst="rect">
            <a:avLst/>
          </a:prstGeom>
          <a:noFill/>
        </p:spPr>
        <p:txBody>
          <a:bodyPr wrap="square" lIns="36576" rIns="36576" anchor="ctr">
            <a:spAutoFit/>
          </a:bodyPr>
          <a:lstStyle/>
          <a:p>
            <a:pPr algn="l">
              <a:spcAft>
                <a:spcPts val="600"/>
              </a:spcAft>
            </a:pPr>
            <a:r>
              <a:rPr sz="1100" b="0">
                <a:solidFill>
                  <a:srgbClr val="9AA8CC"/>
                </a:solidFill>
                <a:latin typeface="Calibri"/>
              </a:rPr>
              <a:t>09  •  Ask the Tower</a:t>
            </a:r>
          </a:p>
        </p:txBody>
      </p:sp>
      <p:sp>
        <p:nvSpPr>
          <p:cNvPr id="15" name="Rectangle 14"/>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6793992"/>
            <a:ext cx="9975023"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slide-09.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368735" y="6382512"/>
            <a:ext cx="274320" cy="274320"/>
          </a:xfrm>
          <a:prstGeom prst="rect">
            <a:avLst/>
          </a:prstGeom>
        </p:spPr>
      </p:pic>
    </p:spTree>
  </p:cSld>
  <p:clrMapOvr>
    <a:masterClrMapping/>
  </p:clrMapOvr>
  <p:transition spd="med" advTm="2448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480"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17"/>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pic>
        <p:nvPicPr>
          <p:cNvPr id="2" name="Picture 1" descr="stopwatch-4CC9F0.png"/>
          <p:cNvPicPr>
            <a:picLocks noChangeAspect="1"/>
          </p:cNvPicPr>
          <p:nvPr/>
        </p:nvPicPr>
        <p:blipFill>
          <a:blip r:embed="rId5"/>
          <a:stretch>
            <a:fillRect/>
          </a:stretch>
        </p:blipFill>
        <p:spPr>
          <a:xfrm>
            <a:off x="548640" y="384048"/>
            <a:ext cx="566928" cy="566928"/>
          </a:xfrm>
          <a:prstGeom prst="rect">
            <a:avLst/>
          </a:prstGeom>
        </p:spPr>
      </p:pic>
      <p:sp>
        <p:nvSpPr>
          <p:cNvPr id="3" name="TextBox 2"/>
          <p:cNvSpPr txBox="1"/>
          <p:nvPr/>
        </p:nvSpPr>
        <p:spPr>
          <a:xfrm>
            <a:off x="1280160" y="274320"/>
            <a:ext cx="10362895" cy="777240"/>
          </a:xfrm>
          <a:prstGeom prst="rect">
            <a:avLst/>
          </a:prstGeom>
          <a:noFill/>
        </p:spPr>
        <p:txBody>
          <a:bodyPr wrap="square" lIns="36576" rIns="36576" anchor="ctr">
            <a:spAutoFit/>
          </a:bodyPr>
          <a:lstStyle/>
          <a:p>
            <a:pPr algn="l">
              <a:spcAft>
                <a:spcPts val="600"/>
              </a:spcAft>
            </a:pPr>
            <a:r>
              <a:rPr sz="3200" b="1">
                <a:solidFill>
                  <a:srgbClr val="E6ECFF"/>
                </a:solidFill>
                <a:latin typeface="Calibri"/>
              </a:rPr>
              <a:t>Fast enough for voice</a:t>
            </a:r>
          </a:p>
        </p:txBody>
      </p:sp>
      <p:sp>
        <p:nvSpPr>
          <p:cNvPr id="4" name="Rounded Rectangle 3"/>
          <p:cNvSpPr/>
          <p:nvPr/>
        </p:nvSpPr>
        <p:spPr>
          <a:xfrm>
            <a:off x="548640" y="1188720"/>
            <a:ext cx="7086600" cy="146304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61872"/>
            <a:ext cx="6675120" cy="1325880"/>
          </a:xfrm>
          <a:prstGeom prst="rect">
            <a:avLst/>
          </a:prstGeom>
          <a:noFill/>
        </p:spPr>
        <p:txBody>
          <a:bodyPr wrap="square" lIns="36576" rIns="36576" anchor="t">
            <a:spAutoFit/>
          </a:bodyPr>
          <a:lstStyle/>
          <a:p>
            <a:pPr algn="l">
              <a:spcAft>
                <a:spcPts val="300"/>
              </a:spcAft>
            </a:pPr>
            <a:r>
              <a:rPr sz="1300" b="1">
                <a:solidFill>
                  <a:srgbClr val="4CC9F0"/>
                </a:solidFill>
                <a:latin typeface="Calibri"/>
              </a:rPr>
              <a:t>DECISION</a:t>
            </a:r>
          </a:p>
          <a:p>
            <a:pPr algn="l">
              <a:spcAft>
                <a:spcPts val="300"/>
              </a:spcAft>
            </a:pPr>
            <a:r>
              <a:rPr sz="2200" b="1">
                <a:solidFill>
                  <a:srgbClr val="E6ECFF"/>
                </a:solidFill>
                <a:latin typeface="Calibri"/>
              </a:rPr>
              <a:t>Keep sessions warm; skip the carrier when we can</a:t>
            </a:r>
          </a:p>
          <a:p>
            <a:pPr algn="l">
              <a:spcAft>
                <a:spcPts val="300"/>
              </a:spcAft>
            </a:pPr>
            <a:r>
              <a:rPr sz="1800" b="0">
                <a:solidFill>
                  <a:srgbClr val="9AA8CC"/>
                </a:solidFill>
                <a:latin typeface="Calibri"/>
              </a:rPr>
              <a:t>A spoken answer has to feel instant</a:t>
            </a:r>
          </a:p>
        </p:txBody>
      </p:sp>
      <p:sp>
        <p:nvSpPr>
          <p:cNvPr id="6" name="Rounded Rectangle 5"/>
          <p:cNvSpPr/>
          <p:nvPr/>
        </p:nvSpPr>
        <p:spPr>
          <a:xfrm>
            <a:off x="7818120" y="1188720"/>
            <a:ext cx="3822191" cy="1463040"/>
          </a:xfrm>
          <a:prstGeom prst="roundRect">
            <a:avLst>
              <a:gd name="adj" fmla="val 8000"/>
            </a:avLst>
          </a:prstGeom>
          <a:solidFill>
            <a:srgbClr val="141F38"/>
          </a:solidFill>
          <a:ln w="1587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ircle-x-F4A261.png"/>
          <p:cNvPicPr>
            <a:picLocks noChangeAspect="1"/>
          </p:cNvPicPr>
          <p:nvPr/>
        </p:nvPicPr>
        <p:blipFill>
          <a:blip r:embed="rId6"/>
          <a:stretch>
            <a:fillRect/>
          </a:stretch>
        </p:blipFill>
        <p:spPr>
          <a:xfrm>
            <a:off x="8001000" y="1325880"/>
            <a:ext cx="384048" cy="384048"/>
          </a:xfrm>
          <a:prstGeom prst="rect">
            <a:avLst/>
          </a:prstGeom>
        </p:spPr>
      </p:pic>
      <p:sp>
        <p:nvSpPr>
          <p:cNvPr id="8" name="TextBox 7"/>
          <p:cNvSpPr txBox="1"/>
          <p:nvPr/>
        </p:nvSpPr>
        <p:spPr>
          <a:xfrm>
            <a:off x="8458200" y="1298448"/>
            <a:ext cx="3108960" cy="365760"/>
          </a:xfrm>
          <a:prstGeom prst="rect">
            <a:avLst/>
          </a:prstGeom>
          <a:noFill/>
        </p:spPr>
        <p:txBody>
          <a:bodyPr wrap="square" lIns="36576" rIns="36576" anchor="ctr">
            <a:spAutoFit/>
          </a:bodyPr>
          <a:lstStyle/>
          <a:p>
            <a:pPr algn="l">
              <a:spcAft>
                <a:spcPts val="600"/>
              </a:spcAft>
            </a:pPr>
            <a:r>
              <a:rPr sz="1300" b="1">
                <a:solidFill>
                  <a:srgbClr val="F4A261"/>
                </a:solidFill>
                <a:latin typeface="Calibri"/>
              </a:rPr>
              <a:t>REJECTED</a:t>
            </a:r>
          </a:p>
        </p:txBody>
      </p:sp>
      <p:sp>
        <p:nvSpPr>
          <p:cNvPr id="9" name="TextBox 8"/>
          <p:cNvSpPr txBox="1"/>
          <p:nvPr/>
        </p:nvSpPr>
        <p:spPr>
          <a:xfrm>
            <a:off x="8046720" y="1737360"/>
            <a:ext cx="3474720" cy="868680"/>
          </a:xfrm>
          <a:prstGeom prst="rect">
            <a:avLst/>
          </a:prstGeom>
          <a:noFill/>
        </p:spPr>
        <p:txBody>
          <a:bodyPr wrap="square" lIns="36576" rIns="36576" anchor="t">
            <a:spAutoFit/>
          </a:bodyPr>
          <a:lstStyle/>
          <a:p>
            <a:pPr algn="l">
              <a:spcAft>
                <a:spcPts val="600"/>
              </a:spcAft>
            </a:pPr>
            <a:r>
              <a:rPr sz="1800" b="0">
                <a:solidFill>
                  <a:srgbClr val="E6ECFF"/>
                </a:solidFill>
                <a:latin typeface="Calibri"/>
              </a:rPr>
              <a:t>A new session for every question</a:t>
            </a:r>
          </a:p>
        </p:txBody>
      </p:sp>
      <p:sp>
        <p:nvSpPr>
          <p:cNvPr id="10" name="Rounded Rectangle 9"/>
          <p:cNvSpPr/>
          <p:nvPr/>
        </p:nvSpPr>
        <p:spPr>
          <a:xfrm>
            <a:off x="548640" y="2971800"/>
            <a:ext cx="3474720" cy="2286000"/>
          </a:xfrm>
          <a:prstGeom prst="roundRect">
            <a:avLst>
              <a:gd name="adj" fmla="val 8000"/>
            </a:avLst>
          </a:prstGeom>
          <a:solidFill>
            <a:srgbClr val="141F38"/>
          </a:solidFill>
          <a:ln w="1587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3063240"/>
            <a:ext cx="3017520" cy="365760"/>
          </a:xfrm>
          <a:prstGeom prst="rect">
            <a:avLst/>
          </a:prstGeom>
          <a:noFill/>
        </p:spPr>
        <p:txBody>
          <a:bodyPr wrap="square" lIns="36576" rIns="36576" anchor="t">
            <a:spAutoFit/>
          </a:bodyPr>
          <a:lstStyle/>
          <a:p>
            <a:pPr algn="l">
              <a:spcAft>
                <a:spcPts val="600"/>
              </a:spcAft>
            </a:pPr>
            <a:r>
              <a:rPr sz="1300" b="1">
                <a:solidFill>
                  <a:srgbClr val="F4A261"/>
                </a:solidFill>
                <a:latin typeface="Calibri"/>
              </a:rPr>
              <a:t>BEFORE</a:t>
            </a:r>
          </a:p>
        </p:txBody>
      </p:sp>
      <p:pic>
        <p:nvPicPr>
          <p:cNvPr id="12" name="Picture 11" descr="circle-x-F4A261.png"/>
          <p:cNvPicPr>
            <a:picLocks noChangeAspect="1"/>
          </p:cNvPicPr>
          <p:nvPr/>
        </p:nvPicPr>
        <p:blipFill>
          <a:blip r:embed="rId6"/>
          <a:stretch>
            <a:fillRect/>
          </a:stretch>
        </p:blipFill>
        <p:spPr>
          <a:xfrm>
            <a:off x="1874519" y="3429000"/>
            <a:ext cx="822960" cy="822960"/>
          </a:xfrm>
          <a:prstGeom prst="rect">
            <a:avLst/>
          </a:prstGeom>
        </p:spPr>
      </p:pic>
      <p:sp>
        <p:nvSpPr>
          <p:cNvPr id="13" name="TextBox 12"/>
          <p:cNvSpPr txBox="1"/>
          <p:nvPr/>
        </p:nvSpPr>
        <p:spPr>
          <a:xfrm>
            <a:off x="777240" y="4343400"/>
            <a:ext cx="3017520" cy="868680"/>
          </a:xfrm>
          <a:prstGeom prst="rect">
            <a:avLst/>
          </a:prstGeom>
          <a:noFill/>
        </p:spPr>
        <p:txBody>
          <a:bodyPr wrap="square" lIns="36576" rIns="36576" anchor="t">
            <a:spAutoFit/>
          </a:bodyPr>
          <a:lstStyle/>
          <a:p>
            <a:pPr algn="ctr">
              <a:spcAft>
                <a:spcPts val="600"/>
              </a:spcAft>
            </a:pPr>
            <a:r>
              <a:rPr sz="2000" b="1">
                <a:solidFill>
                  <a:srgbClr val="E6ECFF"/>
                </a:solidFill>
                <a:latin typeface="Calibri"/>
              </a:rPr>
              <a:t>New session every time: about 7 s</a:t>
            </a:r>
          </a:p>
        </p:txBody>
      </p:sp>
      <p:sp>
        <p:nvSpPr>
          <p:cNvPr id="14" name="Rounded Rectangle 13"/>
          <p:cNvSpPr/>
          <p:nvPr/>
        </p:nvSpPr>
        <p:spPr>
          <a:xfrm>
            <a:off x="4572000" y="2971800"/>
            <a:ext cx="3474720" cy="2286000"/>
          </a:xfrm>
          <a:prstGeom prst="roundRect">
            <a:avLst>
              <a:gd name="adj" fmla="val 8000"/>
            </a:avLst>
          </a:prstGeom>
          <a:solidFill>
            <a:srgbClr val="141F38"/>
          </a:solidFill>
          <a:ln w="15875">
            <a:solidFill>
              <a:srgbClr val="2EC2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00600" y="3063240"/>
            <a:ext cx="3017520" cy="365760"/>
          </a:xfrm>
          <a:prstGeom prst="rect">
            <a:avLst/>
          </a:prstGeom>
          <a:noFill/>
        </p:spPr>
        <p:txBody>
          <a:bodyPr wrap="square" lIns="36576" rIns="36576" anchor="t">
            <a:spAutoFit/>
          </a:bodyPr>
          <a:lstStyle/>
          <a:p>
            <a:pPr algn="l">
              <a:spcAft>
                <a:spcPts val="600"/>
              </a:spcAft>
            </a:pPr>
            <a:r>
              <a:rPr sz="1300" b="1">
                <a:solidFill>
                  <a:srgbClr val="2EC27E"/>
                </a:solidFill>
                <a:latin typeface="Calibri"/>
              </a:rPr>
              <a:t>AFTER</a:t>
            </a:r>
          </a:p>
        </p:txBody>
      </p:sp>
      <p:pic>
        <p:nvPicPr>
          <p:cNvPr id="16" name="Picture 15" descr="circle-check-2EC27E.png"/>
          <p:cNvPicPr>
            <a:picLocks noChangeAspect="1"/>
          </p:cNvPicPr>
          <p:nvPr/>
        </p:nvPicPr>
        <p:blipFill>
          <a:blip r:embed="rId7"/>
          <a:stretch>
            <a:fillRect/>
          </a:stretch>
        </p:blipFill>
        <p:spPr>
          <a:xfrm>
            <a:off x="5897880" y="3429000"/>
            <a:ext cx="822960" cy="822960"/>
          </a:xfrm>
          <a:prstGeom prst="rect">
            <a:avLst/>
          </a:prstGeom>
        </p:spPr>
      </p:pic>
      <p:sp>
        <p:nvSpPr>
          <p:cNvPr id="17" name="TextBox 16"/>
          <p:cNvSpPr txBox="1"/>
          <p:nvPr/>
        </p:nvSpPr>
        <p:spPr>
          <a:xfrm>
            <a:off x="4800600" y="4343400"/>
            <a:ext cx="3017520" cy="868680"/>
          </a:xfrm>
          <a:prstGeom prst="rect">
            <a:avLst/>
          </a:prstGeom>
          <a:noFill/>
        </p:spPr>
        <p:txBody>
          <a:bodyPr wrap="square" lIns="36576" rIns="36576" anchor="t">
            <a:spAutoFit/>
          </a:bodyPr>
          <a:lstStyle/>
          <a:p>
            <a:pPr algn="ctr">
              <a:spcAft>
                <a:spcPts val="600"/>
              </a:spcAft>
            </a:pPr>
            <a:r>
              <a:rPr sz="2000" b="1">
                <a:solidFill>
                  <a:srgbClr val="E6ECFF"/>
                </a:solidFill>
                <a:latin typeface="Calibri"/>
              </a:rPr>
              <a:t>Warm session: under half a second</a:t>
            </a:r>
          </a:p>
        </p:txBody>
      </p:sp>
      <p:sp>
        <p:nvSpPr>
          <p:cNvPr id="18" name="Right Arrow 17"/>
          <p:cNvSpPr/>
          <p:nvPr/>
        </p:nvSpPr>
        <p:spPr>
          <a:xfrm>
            <a:off x="4096512" y="3886200"/>
            <a:ext cx="411480" cy="384048"/>
          </a:xfrm>
          <a:prstGeom prst="rightArrow">
            <a:avLst/>
          </a:prstGeom>
          <a:solidFill>
            <a:srgbClr val="9AA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321040" y="2971800"/>
            <a:ext cx="3319272" cy="2286000"/>
          </a:xfrm>
          <a:prstGeom prst="roundRect">
            <a:avLst>
              <a:gd name="adj" fmla="val 8000"/>
            </a:avLst>
          </a:prstGeom>
          <a:solidFill>
            <a:srgbClr val="141F38"/>
          </a:solidFill>
          <a:ln w="1587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database-8A94A6.png"/>
          <p:cNvPicPr>
            <a:picLocks noChangeAspect="1"/>
          </p:cNvPicPr>
          <p:nvPr/>
        </p:nvPicPr>
        <p:blipFill>
          <a:blip r:embed="rId8"/>
          <a:stretch>
            <a:fillRect/>
          </a:stretch>
        </p:blipFill>
        <p:spPr>
          <a:xfrm>
            <a:off x="9573768" y="3200400"/>
            <a:ext cx="822960" cy="822960"/>
          </a:xfrm>
          <a:prstGeom prst="rect">
            <a:avLst/>
          </a:prstGeom>
        </p:spPr>
      </p:pic>
      <p:sp>
        <p:nvSpPr>
          <p:cNvPr id="21" name="TextBox 20"/>
          <p:cNvSpPr txBox="1"/>
          <p:nvPr/>
        </p:nvSpPr>
        <p:spPr>
          <a:xfrm>
            <a:off x="8503920" y="4160520"/>
            <a:ext cx="2971800" cy="1005840"/>
          </a:xfrm>
          <a:prstGeom prst="rect">
            <a:avLst/>
          </a:prstGeom>
          <a:noFill/>
        </p:spPr>
        <p:txBody>
          <a:bodyPr wrap="square" lIns="36576" rIns="36576" anchor="t">
            <a:spAutoFit/>
          </a:bodyPr>
          <a:lstStyle/>
          <a:p>
            <a:pPr algn="ctr">
              <a:spcAft>
                <a:spcPts val="600"/>
              </a:spcAft>
            </a:pPr>
            <a:r>
              <a:rPr sz="2000" b="0">
                <a:solidFill>
                  <a:srgbClr val="E6ECFF"/>
                </a:solidFill>
                <a:latin typeface="Calibri"/>
              </a:rPr>
              <a:t>Watched line: no carrier call</a:t>
            </a:r>
          </a:p>
        </p:txBody>
      </p:sp>
      <p:sp>
        <p:nvSpPr>
          <p:cNvPr id="22" name="Rounded Rectangle 21"/>
          <p:cNvSpPr/>
          <p:nvPr/>
        </p:nvSpPr>
        <p:spPr>
          <a:xfrm>
            <a:off x="548640" y="5596128"/>
            <a:ext cx="11094415" cy="566928"/>
          </a:xfrm>
          <a:prstGeom prst="roundRect">
            <a:avLst>
              <a:gd name="adj" fmla="val 30000"/>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5596128"/>
            <a:ext cx="10637215" cy="566928"/>
          </a:xfrm>
          <a:prstGeom prst="rect">
            <a:avLst/>
          </a:prstGeom>
          <a:noFill/>
        </p:spPr>
        <p:txBody>
          <a:bodyPr wrap="square" lIns="36576" rIns="36576" anchor="ctr">
            <a:spAutoFit/>
          </a:bodyPr>
          <a:lstStyle/>
          <a:p>
            <a:pPr algn="l">
              <a:spcAft>
                <a:spcPts val="600"/>
              </a:spcAft>
            </a:pPr>
            <a:r>
              <a:rPr sz="1800" b="0">
                <a:solidFill>
                  <a:srgbClr val="E6ECFF"/>
                </a:solidFill>
                <a:latin typeface="Calibri"/>
              </a:rPr>
              <a:t>TRADE-OFF   Warm sessions have to be kept alive</a:t>
            </a:r>
          </a:p>
        </p:txBody>
      </p:sp>
      <p:cxnSp>
        <p:nvCxnSpPr>
          <p:cNvPr id="24" name="Connector 23"/>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48640" y="6382512"/>
            <a:ext cx="8229600" cy="310896"/>
          </a:xfrm>
          <a:prstGeom prst="rect">
            <a:avLst/>
          </a:prstGeom>
          <a:noFill/>
        </p:spPr>
        <p:txBody>
          <a:bodyPr wrap="square" lIns="36576" rIns="36576" anchor="ctr">
            <a:spAutoFit/>
          </a:bodyPr>
          <a:lstStyle/>
          <a:p>
            <a:pPr algn="l">
              <a:spcAft>
                <a:spcPts val="600"/>
              </a:spcAft>
            </a:pPr>
            <a:r>
              <a:rPr sz="1100" b="0">
                <a:solidFill>
                  <a:srgbClr val="9AA8CC"/>
                </a:solidFill>
                <a:latin typeface="Calibri"/>
              </a:rPr>
              <a:t>10  •  Ask the Tower</a:t>
            </a:r>
          </a:p>
        </p:txBody>
      </p:sp>
      <p:sp>
        <p:nvSpPr>
          <p:cNvPr id="26" name="Rectangle 25"/>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793992"/>
            <a:ext cx="11083359"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slide-10.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368735" y="6382512"/>
            <a:ext cx="274320" cy="274320"/>
          </a:xfrm>
          <a:prstGeom prst="rect">
            <a:avLst/>
          </a:prstGeom>
        </p:spPr>
      </p:pic>
    </p:spTree>
  </p:cSld>
  <p:clrMapOvr>
    <a:masterClrMapping/>
  </p:clrMapOvr>
  <p:transition spd="med" advTm="1962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62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28"/>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1094415" cy="777240"/>
          </a:xfrm>
          <a:prstGeom prst="rect">
            <a:avLst/>
          </a:prstGeom>
          <a:noFill/>
        </p:spPr>
        <p:txBody>
          <a:bodyPr wrap="square" lIns="36576" rIns="36576" anchor="ctr">
            <a:spAutoFit/>
          </a:bodyPr>
          <a:lstStyle/>
          <a:p>
            <a:pPr algn="l">
              <a:spcAft>
                <a:spcPts val="600"/>
              </a:spcAft>
            </a:pPr>
            <a:r>
              <a:rPr sz="3200" b="1">
                <a:solidFill>
                  <a:srgbClr val="E6ECFF"/>
                </a:solidFill>
                <a:latin typeface="Calibri"/>
              </a:rPr>
              <a:t>What AWS taught us</a:t>
            </a:r>
          </a:p>
        </p:txBody>
      </p:sp>
      <p:sp>
        <p:nvSpPr>
          <p:cNvPr id="3" name="Rounded Rectangle 2"/>
          <p:cNvSpPr/>
          <p:nvPr/>
        </p:nvSpPr>
        <p:spPr>
          <a:xfrm>
            <a:off x="548640" y="1234440"/>
            <a:ext cx="3545738" cy="3977639"/>
          </a:xfrm>
          <a:prstGeom prst="roundRect">
            <a:avLst>
              <a:gd name="adj" fmla="val 8000"/>
            </a:avLst>
          </a:prstGeom>
          <a:solidFill>
            <a:srgbClr val="141F38"/>
          </a:solidFill>
          <a:ln w="15875">
            <a:solidFill>
              <a:srgbClr val="26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rrows-right-4CC9F0.png"/>
          <p:cNvPicPr>
            <a:picLocks noChangeAspect="1"/>
          </p:cNvPicPr>
          <p:nvPr/>
        </p:nvPicPr>
        <p:blipFill>
          <a:blip r:embed="rId5"/>
          <a:stretch>
            <a:fillRect/>
          </a:stretch>
        </p:blipFill>
        <p:spPr>
          <a:xfrm>
            <a:off x="822959" y="1463040"/>
            <a:ext cx="731520" cy="731520"/>
          </a:xfrm>
          <a:prstGeom prst="rect">
            <a:avLst/>
          </a:prstGeom>
        </p:spPr>
      </p:pic>
      <p:sp>
        <p:nvSpPr>
          <p:cNvPr id="5" name="TextBox 4"/>
          <p:cNvSpPr txBox="1"/>
          <p:nvPr/>
        </p:nvSpPr>
        <p:spPr>
          <a:xfrm>
            <a:off x="777240" y="2377440"/>
            <a:ext cx="3088538" cy="1280160"/>
          </a:xfrm>
          <a:prstGeom prst="rect">
            <a:avLst/>
          </a:prstGeom>
          <a:noFill/>
        </p:spPr>
        <p:txBody>
          <a:bodyPr wrap="square" lIns="36576" rIns="36576" anchor="t">
            <a:spAutoFit/>
          </a:bodyPr>
          <a:lstStyle/>
          <a:p>
            <a:pPr algn="l">
              <a:spcAft>
                <a:spcPts val="600"/>
              </a:spcAft>
            </a:pPr>
            <a:r>
              <a:rPr sz="2200" b="1" dirty="0">
                <a:solidFill>
                  <a:srgbClr val="E6ECFF"/>
                </a:solidFill>
                <a:latin typeface="Calibri"/>
              </a:rPr>
              <a:t>Gateway arguments are flat</a:t>
            </a:r>
          </a:p>
        </p:txBody>
      </p:sp>
      <p:sp>
        <p:nvSpPr>
          <p:cNvPr id="6" name="TextBox 5"/>
          <p:cNvSpPr txBox="1"/>
          <p:nvPr/>
        </p:nvSpPr>
        <p:spPr>
          <a:xfrm>
            <a:off x="777240" y="3657600"/>
            <a:ext cx="3088538" cy="1463040"/>
          </a:xfrm>
          <a:prstGeom prst="rect">
            <a:avLst/>
          </a:prstGeom>
          <a:noFill/>
        </p:spPr>
        <p:txBody>
          <a:bodyPr wrap="square" lIns="36576" rIns="36576" anchor="t">
            <a:spAutoFit/>
          </a:bodyPr>
          <a:lstStyle/>
          <a:p>
            <a:pPr algn="l">
              <a:spcAft>
                <a:spcPts val="600"/>
              </a:spcAft>
            </a:pPr>
            <a:r>
              <a:rPr sz="1800" b="0">
                <a:solidFill>
                  <a:srgbClr val="9AA8CC"/>
                </a:solidFill>
                <a:latin typeface="Calibri"/>
              </a:rPr>
              <a:t>No body wrapper: fields at the top</a:t>
            </a:r>
          </a:p>
        </p:txBody>
      </p:sp>
      <p:sp>
        <p:nvSpPr>
          <p:cNvPr id="7" name="Rounded Rectangle 6"/>
          <p:cNvSpPr/>
          <p:nvPr/>
        </p:nvSpPr>
        <p:spPr>
          <a:xfrm>
            <a:off x="4322978" y="1234440"/>
            <a:ext cx="3545738" cy="3977639"/>
          </a:xfrm>
          <a:prstGeom prst="roundRect">
            <a:avLst>
              <a:gd name="adj" fmla="val 8000"/>
            </a:avLst>
          </a:prstGeom>
          <a:solidFill>
            <a:srgbClr val="141F38"/>
          </a:solidFill>
          <a:ln w="15875">
            <a:solidFill>
              <a:srgbClr val="26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hield-lock-4CC9F0.png"/>
          <p:cNvPicPr>
            <a:picLocks noChangeAspect="1"/>
          </p:cNvPicPr>
          <p:nvPr/>
        </p:nvPicPr>
        <p:blipFill>
          <a:blip r:embed="rId6"/>
          <a:stretch>
            <a:fillRect/>
          </a:stretch>
        </p:blipFill>
        <p:spPr>
          <a:xfrm>
            <a:off x="4597298" y="1463040"/>
            <a:ext cx="731520" cy="731520"/>
          </a:xfrm>
          <a:prstGeom prst="rect">
            <a:avLst/>
          </a:prstGeom>
        </p:spPr>
      </p:pic>
      <p:sp>
        <p:nvSpPr>
          <p:cNvPr id="9" name="TextBox 8"/>
          <p:cNvSpPr txBox="1"/>
          <p:nvPr/>
        </p:nvSpPr>
        <p:spPr>
          <a:xfrm>
            <a:off x="4551578" y="2377440"/>
            <a:ext cx="3088538" cy="1280160"/>
          </a:xfrm>
          <a:prstGeom prst="rect">
            <a:avLst/>
          </a:prstGeom>
          <a:noFill/>
        </p:spPr>
        <p:txBody>
          <a:bodyPr wrap="square" lIns="36576" rIns="36576" anchor="t">
            <a:spAutoFit/>
          </a:bodyPr>
          <a:lstStyle/>
          <a:p>
            <a:pPr algn="l">
              <a:spcAft>
                <a:spcPts val="600"/>
              </a:spcAft>
            </a:pPr>
            <a:r>
              <a:rPr sz="2200" b="1">
                <a:solidFill>
                  <a:srgbClr val="E6ECFF"/>
                </a:solidFill>
                <a:latin typeface="Calibri"/>
              </a:rPr>
              <a:t>No 3LO behind IAM</a:t>
            </a:r>
          </a:p>
        </p:txBody>
      </p:sp>
      <p:sp>
        <p:nvSpPr>
          <p:cNvPr id="10" name="TextBox 9"/>
          <p:cNvSpPr txBox="1"/>
          <p:nvPr/>
        </p:nvSpPr>
        <p:spPr>
          <a:xfrm>
            <a:off x="4551578" y="3657600"/>
            <a:ext cx="3088538" cy="1463040"/>
          </a:xfrm>
          <a:prstGeom prst="rect">
            <a:avLst/>
          </a:prstGeom>
          <a:noFill/>
        </p:spPr>
        <p:txBody>
          <a:bodyPr wrap="square" lIns="36576" rIns="36576" anchor="t">
            <a:spAutoFit/>
          </a:bodyPr>
          <a:lstStyle/>
          <a:p>
            <a:pPr algn="l">
              <a:spcAft>
                <a:spcPts val="600"/>
              </a:spcAft>
            </a:pPr>
            <a:r>
              <a:rPr sz="1800" b="0">
                <a:solidFill>
                  <a:srgbClr val="9AA8CC"/>
                </a:solidFill>
                <a:latin typeface="Calibri"/>
              </a:rPr>
              <a:t>The binding page exchanges its own code</a:t>
            </a:r>
          </a:p>
        </p:txBody>
      </p:sp>
      <p:sp>
        <p:nvSpPr>
          <p:cNvPr id="11" name="Rounded Rectangle 10"/>
          <p:cNvSpPr/>
          <p:nvPr/>
        </p:nvSpPr>
        <p:spPr>
          <a:xfrm>
            <a:off x="8097316" y="1234440"/>
            <a:ext cx="3545738" cy="3977639"/>
          </a:xfrm>
          <a:prstGeom prst="roundRect">
            <a:avLst>
              <a:gd name="adj" fmla="val 8000"/>
            </a:avLst>
          </a:prstGeom>
          <a:solidFill>
            <a:srgbClr val="141F38"/>
          </a:solidFill>
          <a:ln w="15875">
            <a:solidFill>
              <a:srgbClr val="26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lert-triangle-4CC9F0.png"/>
          <p:cNvPicPr>
            <a:picLocks noChangeAspect="1"/>
          </p:cNvPicPr>
          <p:nvPr/>
        </p:nvPicPr>
        <p:blipFill>
          <a:blip r:embed="rId7"/>
          <a:stretch>
            <a:fillRect/>
          </a:stretch>
        </p:blipFill>
        <p:spPr>
          <a:xfrm>
            <a:off x="8371636" y="1463040"/>
            <a:ext cx="731520" cy="731520"/>
          </a:xfrm>
          <a:prstGeom prst="rect">
            <a:avLst/>
          </a:prstGeom>
        </p:spPr>
      </p:pic>
      <p:sp>
        <p:nvSpPr>
          <p:cNvPr id="13" name="TextBox 12"/>
          <p:cNvSpPr txBox="1"/>
          <p:nvPr/>
        </p:nvSpPr>
        <p:spPr>
          <a:xfrm>
            <a:off x="8325916" y="2377440"/>
            <a:ext cx="3088538" cy="1280160"/>
          </a:xfrm>
          <a:prstGeom prst="rect">
            <a:avLst/>
          </a:prstGeom>
          <a:noFill/>
        </p:spPr>
        <p:txBody>
          <a:bodyPr wrap="square" lIns="36576" rIns="36576" anchor="t">
            <a:spAutoFit/>
          </a:bodyPr>
          <a:lstStyle/>
          <a:p>
            <a:pPr algn="l">
              <a:spcAft>
                <a:spcPts val="600"/>
              </a:spcAft>
            </a:pPr>
            <a:r>
              <a:rPr sz="2200" b="1">
                <a:solidFill>
                  <a:srgbClr val="E6ECFF"/>
                </a:solidFill>
                <a:latin typeface="Calibri"/>
              </a:rPr>
              <a:t>Bedrock quota is 0</a:t>
            </a:r>
          </a:p>
        </p:txBody>
      </p:sp>
      <p:sp>
        <p:nvSpPr>
          <p:cNvPr id="14" name="TextBox 13"/>
          <p:cNvSpPr txBox="1"/>
          <p:nvPr/>
        </p:nvSpPr>
        <p:spPr>
          <a:xfrm>
            <a:off x="8325916" y="3657600"/>
            <a:ext cx="3088538" cy="1463040"/>
          </a:xfrm>
          <a:prstGeom prst="rect">
            <a:avLst/>
          </a:prstGeom>
          <a:noFill/>
        </p:spPr>
        <p:txBody>
          <a:bodyPr wrap="square" lIns="36576" rIns="36576" anchor="t">
            <a:spAutoFit/>
          </a:bodyPr>
          <a:lstStyle/>
          <a:p>
            <a:pPr algn="l">
              <a:spcAft>
                <a:spcPts val="600"/>
              </a:spcAft>
            </a:pPr>
            <a:r>
              <a:rPr sz="1800" b="0">
                <a:solidFill>
                  <a:srgbClr val="9AA8CC"/>
                </a:solidFill>
                <a:latin typeface="Calibri"/>
              </a:rPr>
              <a:t>New account: a cross-account role serves it</a:t>
            </a:r>
          </a:p>
        </p:txBody>
      </p:sp>
      <p:cxnSp>
        <p:nvCxnSpPr>
          <p:cNvPr id="15" name="Connector 14"/>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6382512"/>
            <a:ext cx="8229600" cy="310896"/>
          </a:xfrm>
          <a:prstGeom prst="rect">
            <a:avLst/>
          </a:prstGeom>
          <a:noFill/>
        </p:spPr>
        <p:txBody>
          <a:bodyPr wrap="square" lIns="36576" rIns="36576" anchor="ctr">
            <a:spAutoFit/>
          </a:bodyPr>
          <a:lstStyle/>
          <a:p>
            <a:pPr algn="l">
              <a:spcAft>
                <a:spcPts val="600"/>
              </a:spcAft>
            </a:pPr>
            <a:r>
              <a:rPr sz="1100" b="0">
                <a:solidFill>
                  <a:srgbClr val="9AA8CC"/>
                </a:solidFill>
                <a:latin typeface="Calibri"/>
              </a:rPr>
              <a:t>11  •  Ask the Tower</a:t>
            </a:r>
          </a:p>
        </p:txBody>
      </p:sp>
      <p:sp>
        <p:nvSpPr>
          <p:cNvPr id="17" name="Rectangle 16"/>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0" y="6793992"/>
            <a:ext cx="12191695"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slide-1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368735" y="6382512"/>
            <a:ext cx="274320" cy="274320"/>
          </a:xfrm>
          <a:prstGeom prst="rect">
            <a:avLst/>
          </a:prstGeom>
        </p:spPr>
      </p:pic>
    </p:spTree>
  </p:cSld>
  <p:clrMapOvr>
    <a:masterClrMapping/>
  </p:clrMapOvr>
  <p:transition spd="med" advTm="2111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110"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19"/>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1830</Words>
  <Application>Microsoft Office PowerPoint</Application>
  <PresentationFormat>Widescreen</PresentationFormat>
  <Paragraphs>136</Paragraphs>
  <Slides>11</Slides>
  <Notes>11</Notes>
  <HiddenSlides>0</HiddenSlides>
  <MMClips>11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Asish Bose (Nokia)</cp:lastModifiedBy>
  <cp:revision>1</cp:revision>
  <dcterms:created xsi:type="dcterms:W3CDTF">2013-01-27T09:14:16Z</dcterms:created>
  <dcterms:modified xsi:type="dcterms:W3CDTF">2026-10-19T17:24:09Z</dcterms:modified>
  <cp:category/>
</cp:coreProperties>
</file>