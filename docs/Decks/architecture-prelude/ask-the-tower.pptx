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media1.mp3" ContentType="audio/mpeg"/>
  <Override PartName="/ppt/media/media10.mp3" ContentType="audio/mpeg"/>
  <Override PartName="/ppt/media/media11.mp3" ContentType="audio/mpeg"/>
  <Override PartName="/ppt/media/media12.mp3" ContentType="audio/mpeg"/>
  <Override PartName="/ppt/media/media2.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1">
                <a:solidFill>
                  <a:srgbClr val="E6ECFF"/>
                </a:solidFill>
                <a:latin typeface="Calibri"/>
              </a:rPr>
              <a:t>Tests passed, by layer (0 failed)</a:t>
            </a:r>
          </a:p>
        </c:rich>
      </c:tx>
      <c:layout/>
      <c:overlay val="0"/>
    </c:title>
    <c:autoTitleDeleted val="0"/>
    <c:plotArea>
      <c:barChart>
        <c:barDir val="col"/>
        <c:grouping val="clustered"/>
        <c:ser>
          <c:idx val="0"/>
          <c:order val="0"/>
          <c:tx>
            <c:strRef>
              <c:f>Sheet1!$B$1</c:f>
              <c:strCache>
                <c:ptCount val="1"/>
                <c:pt idx="0">
                  <c:v>Passed</c:v>
                </c:pt>
              </c:strCache>
            </c:strRef>
          </c:tx>
          <c:spPr>
            <a:solidFill>
              <a:srgbClr val="2EC27E"/>
            </a:solidFill>
          </c:spPr>
          <c:cat>
            <c:strRef>
              <c:f>Sheet1!$A$2:$A$5</c:f>
              <c:strCache>
                <c:ptCount val="4"/>
                <c:pt idx="0">
                  <c:v>Unit</c:v>
                </c:pt>
                <c:pt idx="1">
                  <c:v>Integration</c:v>
                </c:pt>
                <c:pt idx="2">
                  <c:v>E2E local</c:v>
                </c:pt>
                <c:pt idx="3">
                  <c:v>E2E on AWS</c:v>
                </c:pt>
              </c:strCache>
            </c:strRef>
          </c:cat>
          <c:val>
            <c:numRef>
              <c:f>Sheet1!$B$2:$B$5</c:f>
              <c:numCache>
                <c:formatCode>General</c:formatCode>
                <c:ptCount val="4"/>
                <c:pt idx="0">
                  <c:v>999</c:v>
                </c:pt>
                <c:pt idx="1">
                  <c:v>1236</c:v>
                </c:pt>
                <c:pt idx="2">
                  <c:v>30</c:v>
                </c:pt>
                <c:pt idx="3">
                  <c:v>13</c:v>
                </c:pt>
              </c:numCache>
            </c:numRef>
          </c:val>
        </c:ser>
        <c:dLbls>
          <c:txPr>
            <a:bodyPr/>
            <a:lstStyle/>
            <a:p>
              <a:pPr>
                <a:defRPr sz="1800" b="1">
                  <a:solidFill>
                    <a:srgbClr val="E6ECFF"/>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26365C"/>
            </a:solidFill>
          </a:ln>
        </c:spPr>
        <c:txPr>
          <a:bodyPr/>
          <a:lstStyle/>
          <a:p>
            <a:pPr>
              <a:defRPr sz="1600">
                <a:solidFill>
                  <a:srgbClr val="E6ECFF"/>
                </a:solidFill>
                <a:latin typeface="Calibri"/>
              </a:defRPr>
            </a:pPr>
          </a:p>
        </c:txPr>
        <c:crossAx val="-2113994440"/>
        <c:crosses val="autoZero"/>
        <c:auto val="1"/>
        <c:lblAlgn val="ctr"/>
        <c:lblOffset val="100"/>
        <c:noMultiLvlLbl val="0"/>
      </c:catAx>
      <c:valAx>
        <c:axId val="-2113994440"/>
        <c:scaling>
          <c:max val="1421.3999999999999"/>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Ask the Tower, built by Asish Bose and Badhrinath Padmanabhan. Before the demo video, we want to spend a few minutes on how it's built, because most of the interesting work is in the parts you can't hear. The idea is simple. You ask Alexa Plus, "is my line OK?", and the answer isn't a guess or a web search. It comes from the carrier's own network, over standard CAMARA APIs, and only for lines whose owners have said yes. Let's start with why anyone would need to ask that question at 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A SIM swap doesn't announce itself. At first it feels like bad signal: the phone goes quiet, while the network has already logged that your number moved to another SIM. Call forwarding is quieter still; your calls just go somewhere else. The FBI logged nine hundred and seventy-one SIM-swap complaints in 2025, with seventeen point four million dollars lost, and those are only the reported cases. Older people are hit hard, and their families usually hear about it too late. The network knows right away. The person whose line it is can't 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Tower is an MCP server with exactly three tools. Line-is-OK asks two CAMARA questions: was the SIM moved, and are calls being forwarded. Is-reachable asks whether the phone is on the network. And watch-line asks our Alerts service to text a second person, say a son watching his mother's line, when either fact changes. Alexa Plus can't speak first through MCP, so the proactive part is an SMS, not a voice. All of it is consent first: a line is bound once, with one tap on the phone, and each tool is granted per person, and can be revoked. Here's how it runs on AWS.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deployment as it actually runs. A question comes in from Alexa Plus, or from our web chat page, signed in with Cognito. It lands on Tower, our MCP server on AgentCore Runtime. Tower reads consent from DynamoDB, with numbers protected by KMS, and asks the carrier through AgentCore Gateway, which turns the CAMARA OpenAPI specs into MCP tools and gets its OAuth tokens from AgentCore Identity. The carrier is our CAMARA-conformant mock, on Fargate behind an internal load balancer. The amber line is the proactive path: Lambdas, EventBridge Scheduler, and SNS. Now, the six decisions behind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one: where Tower lives. We host it as an MCP server on AgentCore Runtime: Streamable HTTP, stateless, with plain JSON responses. Runtime's J-W-T authorizer checks the Cognito token at the edge, and we pass the Authorization header through so Tower verifies it again itself. Tower never assumes that someone else checked. All state lives in DynamoDB, so any instance can answer. We rejected running our own containers on EKS. The Helm charts exist and pass on kind, but left up, EKS costs about a hundred and fifty dollars a month. Being stateless has a cost, and you'll see it on the latency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two: Tower never talks to the carrier directly. AgentCore Gateway turns our vendored CAMARA OpenAPI specs into MCP tools, and AgentCore Identity holds the outbound OAuth credentials, so Tower holds no carrier secret at all. And because these are standard CAMARA APIs, an operator's sandbox replaces our mock as a configuration change that Tower can't even see. The alternative, a direct client with the secret in Runtime config, is still there as our cut line, but we didn't need it. The price is one more network hop, and a Gateway session that we have to keep warm.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three: privacy by construction. A line is bound with CAMARA Number Verification. You open a link on your phone, over mobile data, and tap once, and the carrier itself confirms the number. From then on, the tables key the line by an H-MAC, the number is stored only as KMS-encrypted ciphertext, and a test greps every log and transcript for anything shaped like a phone number. Grants are per line and per tool, and can be revoked. Every check, allowed or refused, goes into a hash-chained audit before the answer leaves. The trade-off is real friction: binding won't work on Wi-Fi.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four: no model decides anything that matters. The policy engine is plain Python: facts from the carrier in, one outcome and a reason code out, like SIM swapped recent, or call forwarding set. Every decision it can make is printed as a table and tested. Each outcome carries a summary sentence written to be read out word for word. After a SIM swap it says: don't call from your phone. I can call your carrier's support line for you from here. Because the phone may be the thing that was taken. We rejected letting a model paraphrase safety advice. The cost is wording that sometimes sounds stiff.</a:t>
            </a:r>
          </a:p>
          <a:p/>
          <a:p>
            <a:r>
              <a:t>[not spoken] TODO(verify) Whether Alexa+ reads `summary` verbatim or paraphrases is still open (01 §open questions); the web chat agent is instructed to read it verbatim (`services/ref-client/prompts/ref-client/system.md`).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five: latency. A voice answer has to feel instant, so each carrier call gets a hard three hundred millisecond timeout. If Alerts is already watching a line, Tower answers from the stored state and skips the carrier entirely. On AWS we found two hidden costs. Opening a fresh Gateway session per call took about four hundred and sixty milliseconds, so Tower keeps one session open, and a warm call takes about one hundred and fifty. And because Tower is stateless, any request without a session id landed on a cold micro-VM: about seven seconds. One session id per client brought that to about point four seconds.</a:t>
            </a:r>
          </a:p>
          <a:p/>
          <a:p>
            <a:r>
              <a:t>[not spoken] The budget bar is derived from `artifacts/latency-aws.md`: fixed ≈ 360 ms = `watch_line` p95 (no carrier call); carrier ≈ 168 ms = `line_is_ok` p95 (528 ms) minus that. TODO(verify) the split inside the fixed cost (network, authorizer, store, audit) is not measured.</a:t>
            </a:r>
          </a:p>
          <a:p>
            <a:r>
              <a:t>[not spoken] TODO(verify) "0.4 s" is the measured p50 of `line_is_ok` in `artifacts/latency-aws.md` (429.6 ms), taken with the session id in place; the repo has no before/after pair measured in one run. The "≈ 7 s" is from Tower's log on 2026-10-14, quoted in `services/ref-client/src/ref_client/mcp_client.py`.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six is how two people operate this, and it's also where AWS taught us the most. Everything is Terraform, run from an Ops tab that walks the AWS pipeline as fourteen steps, one click each. For the live demo, an admin path to the mock opens for exactly one address, behind a bearer token, and closes right after. Lessons from the first apply: Gateway passes tool arguments flat, not wrapped in a body. A Gateway with an IAM authorizer refuses three-legged OAuth targets, so the binding page exchanges the code itself. And a new account's daily Bedrock token quota is zero, so the web chat agent uses a cross-account role.</a:t>
            </a:r>
          </a:p>
          <a:p/>
          <a:p>
            <a:r>
              <a:t>[not spoken] TODO(verify) That the demo admin path was closed after the recorded demo: `deploy/terraform/envs/aws.tfvars` has `demo_admin_cidrs = []` after `make admin-close` (deployment-agentcore.md step 12b is still marked TODO(human)).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it work? Nine hundred and ninety-nine unit tests and one thousand two hundred and thirty-six integration tests pass, including CAMARA conformance with zero failing operations, and privacy tests with zero hits. On AWS, the demo stories match the golden transcripts end to end, and chaos on every tool, timeouts, server errors and rate limits, never gives a wrong answer. Latency, honestly: our target is four hundred milliseconds at the ninety-fifth percentile. Is-reachable makes it, at three eighty-five. Line-is-OK misses, at five twenty-eight. Watch-line, which never calls the carrier, still takes about three hundred. That's a fixed cost on every call.</a:t>
            </a:r>
          </a:p>
          <a:p/>
          <a:p>
            <a:r>
              <a:t>[not spoken] TODO(verify) Where the ~300 ms fixed cost goes (laptop → Runtime network, the authorizer, consent read, audit write): `artifacts/latency-aws.md` measures client-side wall time only; the per-step split needs a `LOG_LEVEL=debug` run, which is not recorded in the repo.</a:t>
            </a:r>
          </a:p>
          <a:p>
            <a:r>
              <a:t>[not spoken] Counts: `artifacts/test-report.md` (2026-10-14): unit 999/999; integration 1236 passed, 1 skipped; e2e local 30 passed, 3 skipped; e2e aws 13 passed, 20 skipped, 0 failed.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architecture. Now the demo. Here is what Asish hears on his Echo, in three moments. First, his phone loses signal and he asks Alexa whether his line is OK. His SIM was moved, and Alexa tells him not to call from that phone. Second, he asks whether anything is forwarding his calls. Third, he checks on Mom's line, which she chose to share with him. It's as it was, and he'll get a text if that changes. Every answer you're about to hear came from a carrier API, passed a consent check, and was audited before it was spoken. Let's watch.</a:t>
            </a:r>
          </a:p>
          <a:p/>
          <a:p>
            <a:r>
              <a:t>[not spoken] TODO(verify) The demo footage is on an Echo: `docs/architecture/alexa/registration.md` still says "Status: not run" (the toolkit is US-only; the fallback is the reference client / web chat). Change "on his Echo" if the video shows the simulator or the web chat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 Id="rId6" Type="http://schemas.microsoft.com/office/2007/relationships/media" Target="../media/media1.mp3"/><Relationship Id="rId7" Type="http://schemas.openxmlformats.org/officeDocument/2006/relationships/vide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2.xml"/><Relationship Id="rId6" Type="http://schemas.microsoft.com/office/2007/relationships/media" Target="../media/media2.mp3"/><Relationship Id="rId7" Type="http://schemas.openxmlformats.org/officeDocument/2006/relationships/video" Target="../media/media2.mp3"/><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3.xml"/><Relationship Id="rId7" Type="http://schemas.microsoft.com/office/2007/relationships/media" Target="../media/media3.mp3"/><Relationship Id="rId8" Type="http://schemas.openxmlformats.org/officeDocument/2006/relationships/video" Target="../media/media3.mp3"/><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 Id="rId4" Type="http://schemas.microsoft.com/office/2007/relationships/media" Target="../media/media4.mp3"/><Relationship Id="rId5" Type="http://schemas.openxmlformats.org/officeDocument/2006/relationships/video" Target="../media/media4.mp3"/><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notesSlide" Target="../notesSlides/notesSlide5.xml"/><Relationship Id="rId9" Type="http://schemas.microsoft.com/office/2007/relationships/media" Target="../media/media5.mp3"/><Relationship Id="rId10" Type="http://schemas.openxmlformats.org/officeDocument/2006/relationships/video" Target="../media/media5.mp3"/><Relationship Id="rId1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6.xml"/><Relationship Id="rId7" Type="http://schemas.microsoft.com/office/2007/relationships/media" Target="../media/media6.mp3"/><Relationship Id="rId8" Type="http://schemas.openxmlformats.org/officeDocument/2006/relationships/video" Target="../media/media6.mp3"/><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notesSlide" Target="../notesSlides/notesSlide7.xml"/><Relationship Id="rId10" Type="http://schemas.microsoft.com/office/2007/relationships/media" Target="../media/media7.mp3"/><Relationship Id="rId11" Type="http://schemas.openxmlformats.org/officeDocument/2006/relationships/video" Target="../media/media7.mp3"/><Relationship Id="rId1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3.png"/><Relationship Id="rId4" Type="http://schemas.openxmlformats.org/officeDocument/2006/relationships/notesSlide" Target="../notesSlides/notesSlide8.xml"/><Relationship Id="rId5" Type="http://schemas.microsoft.com/office/2007/relationships/media" Target="../media/media8.mp3"/><Relationship Id="rId6" Type="http://schemas.openxmlformats.org/officeDocument/2006/relationships/video" Target="../media/media8.mp3"/><Relationship Id="rId7"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3.png"/><Relationship Id="rId4" Type="http://schemas.openxmlformats.org/officeDocument/2006/relationships/image" Target="../media/image26.png"/><Relationship Id="rId5" Type="http://schemas.openxmlformats.org/officeDocument/2006/relationships/notesSlide" Target="../notesSlides/notesSlide9.xml"/><Relationship Id="rId6" Type="http://schemas.microsoft.com/office/2007/relationships/media" Target="../media/media9.mp3"/><Relationship Id="rId7" Type="http://schemas.openxmlformats.org/officeDocument/2006/relationships/video" Target="../media/media9.mp3"/><Relationship Id="rId8"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10.xml"/><Relationship Id="rId8" Type="http://schemas.microsoft.com/office/2007/relationships/media" Target="../media/media10.mp3"/><Relationship Id="rId9" Type="http://schemas.openxmlformats.org/officeDocument/2006/relationships/video" Target="../media/media10.mp3"/><Relationship Id="rId10"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notesSlide" Target="../notesSlides/notesSlide11.xml"/><Relationship Id="rId6" Type="http://schemas.microsoft.com/office/2007/relationships/media" Target="../media/media11.mp3"/><Relationship Id="rId7" Type="http://schemas.openxmlformats.org/officeDocument/2006/relationships/video" Target="../media/media11.mp3"/><Relationship Id="rId8"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2.xml"/><Relationship Id="rId5" Type="http://schemas.microsoft.com/office/2007/relationships/media" Target="../media/media12.mp3"/><Relationship Id="rId6" Type="http://schemas.openxmlformats.org/officeDocument/2006/relationships/video" Target="../media/media12.mp3"/><Relationship Id="rId7"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device-speaker-4CC9F0.png"/>
          <p:cNvPicPr>
            <a:picLocks noChangeAspect="1"/>
          </p:cNvPicPr>
          <p:nvPr/>
        </p:nvPicPr>
        <p:blipFill>
          <a:blip r:embed="rId2"/>
          <a:stretch>
            <a:fillRect/>
          </a:stretch>
        </p:blipFill>
        <p:spPr>
          <a:xfrm>
            <a:off x="1188720" y="1143000"/>
            <a:ext cx="1554480" cy="1554480"/>
          </a:xfrm>
          <a:prstGeom prst="rect">
            <a:avLst/>
          </a:prstGeom>
        </p:spPr>
      </p:pic>
      <p:pic>
        <p:nvPicPr>
          <p:cNvPr id="3" name="Picture 2" descr="device-mobile-E6ECFF.png"/>
          <p:cNvPicPr>
            <a:picLocks noChangeAspect="1"/>
          </p:cNvPicPr>
          <p:nvPr/>
        </p:nvPicPr>
        <p:blipFill>
          <a:blip r:embed="rId3"/>
          <a:stretch>
            <a:fillRect/>
          </a:stretch>
        </p:blipFill>
        <p:spPr>
          <a:xfrm>
            <a:off x="9464040" y="1143000"/>
            <a:ext cx="1554480" cy="1554480"/>
          </a:xfrm>
          <a:prstGeom prst="rect">
            <a:avLst/>
          </a:prstGeom>
        </p:spPr>
      </p:pic>
      <p:pic>
        <p:nvPicPr>
          <p:cNvPr id="4" name="Picture 3" descr="antenna-bars-5-2EC27E.png"/>
          <p:cNvPicPr>
            <a:picLocks noChangeAspect="1"/>
          </p:cNvPicPr>
          <p:nvPr/>
        </p:nvPicPr>
        <p:blipFill>
          <a:blip r:embed="rId4"/>
          <a:stretch>
            <a:fillRect/>
          </a:stretch>
        </p:blipFill>
        <p:spPr>
          <a:xfrm>
            <a:off x="10744200" y="777240"/>
            <a:ext cx="685800" cy="685800"/>
          </a:xfrm>
          <a:prstGeom prst="rect">
            <a:avLst/>
          </a:prstGeom>
        </p:spPr>
      </p:pic>
      <p:cxnSp>
        <p:nvCxnSpPr>
          <p:cNvPr id="5" name="Connector 4"/>
          <p:cNvCxnSpPr/>
          <p:nvPr/>
        </p:nvCxnSpPr>
        <p:spPr>
          <a:xfrm>
            <a:off x="2926080" y="1920240"/>
            <a:ext cx="6355080" cy="0"/>
          </a:xfrm>
          <a:prstGeom prst="line">
            <a:avLst/>
          </a:prstGeom>
          <a:ln w="38100">
            <a:solidFill>
              <a:srgbClr val="4CC9F0"/>
            </a:solidFill>
            <a:prstDash val="sysDot"/>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880360"/>
            <a:ext cx="10728655" cy="1188720"/>
          </a:xfrm>
          <a:prstGeom prst="rect">
            <a:avLst/>
          </a:prstGeom>
          <a:noFill/>
        </p:spPr>
        <p:txBody>
          <a:bodyPr wrap="square" anchor="t" lIns="36576" rIns="36576">
            <a:spAutoFit/>
          </a:bodyPr>
          <a:lstStyle/>
          <a:p>
            <a:pPr algn="ctr">
              <a:spcAft>
                <a:spcPts val="600"/>
              </a:spcAft>
            </a:pPr>
            <a:r>
              <a:rPr sz="6600" b="1">
                <a:solidFill>
                  <a:srgbClr val="E6ECFF"/>
                </a:solidFill>
                <a:latin typeface="Calibri"/>
              </a:rPr>
              <a:t>Ask the Tower</a:t>
            </a:r>
          </a:p>
        </p:txBody>
      </p:sp>
      <p:sp>
        <p:nvSpPr>
          <p:cNvPr id="7" name="TextBox 6"/>
          <p:cNvSpPr txBox="1"/>
          <p:nvPr/>
        </p:nvSpPr>
        <p:spPr>
          <a:xfrm>
            <a:off x="1097280" y="4114800"/>
            <a:ext cx="9997135" cy="731520"/>
          </a:xfrm>
          <a:prstGeom prst="rect">
            <a:avLst/>
          </a:prstGeom>
          <a:noFill/>
        </p:spPr>
        <p:txBody>
          <a:bodyPr wrap="square" anchor="t" lIns="36576" rIns="36576">
            <a:spAutoFit/>
          </a:bodyPr>
          <a:lstStyle/>
          <a:p>
            <a:pPr algn="ctr">
              <a:spcAft>
                <a:spcPts val="600"/>
              </a:spcAft>
            </a:pPr>
            <a:r>
              <a:rPr sz="2600" b="0">
                <a:solidFill>
                  <a:srgbClr val="9AA8CC"/>
                </a:solidFill>
                <a:latin typeface="Calibri"/>
              </a:rPr>
              <a:t>“Is my line OK?” for Alexa+, answered from the carrier network.</a:t>
            </a:r>
          </a:p>
        </p:txBody>
      </p:sp>
      <p:sp>
        <p:nvSpPr>
          <p:cNvPr id="8" name="TextBox 7"/>
          <p:cNvSpPr txBox="1"/>
          <p:nvPr/>
        </p:nvSpPr>
        <p:spPr>
          <a:xfrm>
            <a:off x="1097280" y="4892040"/>
            <a:ext cx="9997135" cy="457200"/>
          </a:xfrm>
          <a:prstGeom prst="rect">
            <a:avLst/>
          </a:prstGeom>
          <a:noFill/>
        </p:spPr>
        <p:txBody>
          <a:bodyPr wrap="square" anchor="t" lIns="36576" rIns="36576">
            <a:spAutoFit/>
          </a:bodyPr>
          <a:lstStyle/>
          <a:p>
            <a:pPr algn="ctr">
              <a:spcAft>
                <a:spcPts val="600"/>
              </a:spcAft>
            </a:pPr>
            <a:r>
              <a:rPr sz="2000" b="0">
                <a:solidFill>
                  <a:srgbClr val="4CC9F0"/>
                </a:solidFill>
                <a:latin typeface="Calibri"/>
              </a:rPr>
              <a:t>Asish Bose &amp; Badhrinath Padmanabhan · Canada</a:t>
            </a:r>
          </a:p>
        </p:txBody>
      </p:sp>
      <p:cxnSp>
        <p:nvCxnSpPr>
          <p:cNvPr id="9" name="Connector 8"/>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01  •  Ask the Tower  •  Alexa+ MCP track</a:t>
            </a:r>
          </a:p>
        </p:txBody>
      </p:sp>
      <p:sp>
        <p:nvSpPr>
          <p:cNvPr id="11" name="Rectangle 10"/>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793992"/>
            <a:ext cx="1015974"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slide-01.mp3">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2"/>
          <a:stretch>
            <a:fillRect/>
          </a:stretch>
        </p:blipFill>
        <p:spPr>
          <a:xfrm>
            <a:off x="11368735" y="6382512"/>
            <a:ext cx="274320" cy="274320"/>
          </a:xfrm>
          <a:prstGeom prst="rect">
            <a:avLst/>
          </a:prstGeom>
        </p:spPr>
      </p:pic>
    </p:spTree>
  </p:cSld>
  <p:clrMapOvr>
    <a:masterClrMapping/>
  </p:clrMapOvr>
  <p:transition spd="med" advClick="1" advTm="247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793"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3"/>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The problem: you find out too late</a:t>
            </a:r>
          </a:p>
        </p:txBody>
      </p:sp>
      <p:sp>
        <p:nvSpPr>
          <p:cNvPr id="3" name="Pentagon 2"/>
          <p:cNvSpPr/>
          <p:nvPr/>
        </p:nvSpPr>
        <p:spPr>
          <a:xfrm>
            <a:off x="548640" y="1325880"/>
            <a:ext cx="3886200" cy="2331720"/>
          </a:xfrm>
          <a:prstGeom prst="homePlate">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vice-sim-F4A261.png"/>
          <p:cNvPicPr>
            <a:picLocks noChangeAspect="1"/>
          </p:cNvPicPr>
          <p:nvPr/>
        </p:nvPicPr>
        <p:blipFill>
          <a:blip r:embed="rId2"/>
          <a:stretch>
            <a:fillRect/>
          </a:stretch>
        </p:blipFill>
        <p:spPr>
          <a:xfrm>
            <a:off x="1828799" y="1508760"/>
            <a:ext cx="868680" cy="868680"/>
          </a:xfrm>
          <a:prstGeom prst="rect">
            <a:avLst/>
          </a:prstGeom>
        </p:spPr>
      </p:pic>
      <p:sp>
        <p:nvSpPr>
          <p:cNvPr id="5" name="TextBox 4"/>
          <p:cNvSpPr txBox="1"/>
          <p:nvPr/>
        </p:nvSpPr>
        <p:spPr>
          <a:xfrm>
            <a:off x="868680" y="2468880"/>
            <a:ext cx="2788920" cy="1097280"/>
          </a:xfrm>
          <a:prstGeom prst="rect">
            <a:avLst/>
          </a:prstGeom>
          <a:noFill/>
        </p:spPr>
        <p:txBody>
          <a:bodyPr wrap="square" anchor="t" lIns="36576" rIns="36576">
            <a:spAutoFit/>
          </a:bodyPr>
          <a:lstStyle/>
          <a:p>
            <a:pPr algn="ctr">
              <a:spcAft>
                <a:spcPts val="600"/>
              </a:spcAft>
            </a:pPr>
            <a:r>
              <a:rPr sz="2000" b="1">
                <a:solidFill>
                  <a:srgbClr val="E6ECFF"/>
                </a:solidFill>
                <a:latin typeface="Calibri"/>
              </a:rPr>
              <a:t>SIM moved to another device</a:t>
            </a:r>
          </a:p>
        </p:txBody>
      </p:sp>
      <p:sp>
        <p:nvSpPr>
          <p:cNvPr id="6" name="Chevron 5"/>
          <p:cNvSpPr/>
          <p:nvPr/>
        </p:nvSpPr>
        <p:spPr>
          <a:xfrm>
            <a:off x="4206240" y="1325880"/>
            <a:ext cx="3886200" cy="2331720"/>
          </a:xfrm>
          <a:prstGeom prst="chevron">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hone-outgoing-F4A261.png"/>
          <p:cNvPicPr>
            <a:picLocks noChangeAspect="1"/>
          </p:cNvPicPr>
          <p:nvPr/>
        </p:nvPicPr>
        <p:blipFill>
          <a:blip r:embed="rId3"/>
          <a:stretch>
            <a:fillRect/>
          </a:stretch>
        </p:blipFill>
        <p:spPr>
          <a:xfrm>
            <a:off x="5714999" y="1508760"/>
            <a:ext cx="868680" cy="868680"/>
          </a:xfrm>
          <a:prstGeom prst="rect">
            <a:avLst/>
          </a:prstGeom>
        </p:spPr>
      </p:pic>
      <p:sp>
        <p:nvSpPr>
          <p:cNvPr id="8" name="TextBox 7"/>
          <p:cNvSpPr txBox="1"/>
          <p:nvPr/>
        </p:nvSpPr>
        <p:spPr>
          <a:xfrm>
            <a:off x="4983479" y="2468880"/>
            <a:ext cx="2331720" cy="1097280"/>
          </a:xfrm>
          <a:prstGeom prst="rect">
            <a:avLst/>
          </a:prstGeom>
          <a:noFill/>
        </p:spPr>
        <p:txBody>
          <a:bodyPr wrap="square" anchor="t" lIns="36576" rIns="36576">
            <a:spAutoFit/>
          </a:bodyPr>
          <a:lstStyle/>
          <a:p>
            <a:pPr algn="ctr">
              <a:spcAft>
                <a:spcPts val="600"/>
              </a:spcAft>
            </a:pPr>
            <a:r>
              <a:rPr sz="2000" b="1">
                <a:solidFill>
                  <a:srgbClr val="E6ECFF"/>
                </a:solidFill>
                <a:latin typeface="Calibri"/>
              </a:rPr>
              <a:t>Calls and texts reach the attacker</a:t>
            </a:r>
          </a:p>
        </p:txBody>
      </p:sp>
      <p:sp>
        <p:nvSpPr>
          <p:cNvPr id="9" name="Chevron 8"/>
          <p:cNvSpPr/>
          <p:nvPr/>
        </p:nvSpPr>
        <p:spPr>
          <a:xfrm>
            <a:off x="7863840" y="1325880"/>
            <a:ext cx="3886200" cy="2331720"/>
          </a:xfrm>
          <a:prstGeom prst="chevron">
            <a:avLst>
              <a:gd name="adj" fmla="val 22000"/>
            </a:avLst>
          </a:prstGeom>
          <a:solidFill>
            <a:srgbClr val="141F38"/>
          </a:solidFill>
          <a:ln w="25400">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uilding-bank-F4A261.png"/>
          <p:cNvPicPr>
            <a:picLocks noChangeAspect="1"/>
          </p:cNvPicPr>
          <p:nvPr/>
        </p:nvPicPr>
        <p:blipFill>
          <a:blip r:embed="rId4"/>
          <a:stretch>
            <a:fillRect/>
          </a:stretch>
        </p:blipFill>
        <p:spPr>
          <a:xfrm>
            <a:off x="9372600" y="1508760"/>
            <a:ext cx="868680" cy="868680"/>
          </a:xfrm>
          <a:prstGeom prst="rect">
            <a:avLst/>
          </a:prstGeom>
        </p:spPr>
      </p:pic>
      <p:sp>
        <p:nvSpPr>
          <p:cNvPr id="11" name="TextBox 10"/>
          <p:cNvSpPr txBox="1"/>
          <p:nvPr/>
        </p:nvSpPr>
        <p:spPr>
          <a:xfrm>
            <a:off x="8641080" y="2468880"/>
            <a:ext cx="2331720" cy="1097280"/>
          </a:xfrm>
          <a:prstGeom prst="rect">
            <a:avLst/>
          </a:prstGeom>
          <a:noFill/>
        </p:spPr>
        <p:txBody>
          <a:bodyPr wrap="square" anchor="t" lIns="36576" rIns="36576">
            <a:spAutoFit/>
          </a:bodyPr>
          <a:lstStyle/>
          <a:p>
            <a:pPr algn="ctr">
              <a:spcAft>
                <a:spcPts val="600"/>
              </a:spcAft>
            </a:pPr>
            <a:r>
              <a:rPr sz="2000" b="1">
                <a:solidFill>
                  <a:srgbClr val="E6ECFF"/>
                </a:solidFill>
                <a:latin typeface="Calibri"/>
              </a:rPr>
              <a:t>Bank codes go to the attacker</a:t>
            </a:r>
          </a:p>
        </p:txBody>
      </p:sp>
      <p:sp>
        <p:nvSpPr>
          <p:cNvPr id="12" name="TextBox 11"/>
          <p:cNvSpPr txBox="1"/>
          <p:nvPr/>
        </p:nvSpPr>
        <p:spPr>
          <a:xfrm>
            <a:off x="548640" y="3931920"/>
            <a:ext cx="3291840" cy="1463040"/>
          </a:xfrm>
          <a:prstGeom prst="rect">
            <a:avLst/>
          </a:prstGeom>
          <a:noFill/>
        </p:spPr>
        <p:txBody>
          <a:bodyPr wrap="square" anchor="ctr" lIns="36576" rIns="36576">
            <a:spAutoFit/>
          </a:bodyPr>
          <a:lstStyle/>
          <a:p>
            <a:pPr algn="l">
              <a:spcAft>
                <a:spcPts val="600"/>
              </a:spcAft>
            </a:pPr>
            <a:r>
              <a:rPr sz="9600" b="1">
                <a:solidFill>
                  <a:srgbClr val="F4A261"/>
                </a:solidFill>
                <a:latin typeface="Calibri"/>
              </a:rPr>
              <a:t>971</a:t>
            </a:r>
          </a:p>
        </p:txBody>
      </p:sp>
      <p:sp>
        <p:nvSpPr>
          <p:cNvPr id="13" name="TextBox 12"/>
          <p:cNvSpPr txBox="1"/>
          <p:nvPr/>
        </p:nvSpPr>
        <p:spPr>
          <a:xfrm>
            <a:off x="3840480" y="4069080"/>
            <a:ext cx="7772400" cy="640080"/>
          </a:xfrm>
          <a:prstGeom prst="rect">
            <a:avLst/>
          </a:prstGeom>
          <a:noFill/>
        </p:spPr>
        <p:txBody>
          <a:bodyPr wrap="square" anchor="ctr" lIns="36576" rIns="36576">
            <a:spAutoFit/>
          </a:bodyPr>
          <a:lstStyle/>
          <a:p>
            <a:pPr algn="l">
              <a:spcAft>
                <a:spcPts val="600"/>
              </a:spcAft>
            </a:pPr>
            <a:r>
              <a:rPr sz="2200" b="0">
                <a:solidFill>
                  <a:srgbClr val="E6ECFF"/>
                </a:solidFill>
                <a:latin typeface="Calibri"/>
              </a:rPr>
              <a:t>SIM-swap complaints to the FBI in 2025 · $17.4 million lost</a:t>
            </a:r>
          </a:p>
        </p:txBody>
      </p:sp>
      <p:sp>
        <p:nvSpPr>
          <p:cNvPr id="14" name="TextBox 13"/>
          <p:cNvSpPr txBox="1"/>
          <p:nvPr/>
        </p:nvSpPr>
        <p:spPr>
          <a:xfrm>
            <a:off x="3840480" y="4754880"/>
            <a:ext cx="7772400" cy="548640"/>
          </a:xfrm>
          <a:prstGeom prst="rect">
            <a:avLst/>
          </a:prstGeom>
          <a:noFill/>
        </p:spPr>
        <p:txBody>
          <a:bodyPr wrap="square" anchor="ctr" lIns="36576" rIns="36576">
            <a:spAutoFit/>
          </a:bodyPr>
          <a:lstStyle/>
          <a:p>
            <a:pPr algn="l">
              <a:spcAft>
                <a:spcPts val="600"/>
              </a:spcAft>
            </a:pPr>
            <a:r>
              <a:rPr sz="2000" b="0">
                <a:solidFill>
                  <a:srgbClr val="9AA8CC"/>
                </a:solidFill>
                <a:latin typeface="Calibri"/>
              </a:rPr>
              <a:t>The network knows at once. The person can't ask.</a:t>
            </a:r>
          </a:p>
        </p:txBody>
      </p:sp>
      <p:cxnSp>
        <p:nvCxnSpPr>
          <p:cNvPr id="15" name="Connector 14"/>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02  •  Ask the Tower  •  The problem</a:t>
            </a:r>
          </a:p>
        </p:txBody>
      </p:sp>
      <p:sp>
        <p:nvSpPr>
          <p:cNvPr id="17" name="Rectangle 16"/>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793992"/>
            <a:ext cx="2031949"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lide-02.mp3">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1368735" y="6382512"/>
            <a:ext cx="274320" cy="274320"/>
          </a:xfrm>
          <a:prstGeom prst="rect">
            <a:avLst/>
          </a:prstGeom>
        </p:spPr>
      </p:pic>
    </p:spTree>
  </p:cSld>
  <p:clrMapOvr>
    <a:masterClrMapping/>
  </p:clrMapOvr>
  <p:transition spd="med" advClick="1" advTm="271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11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9"/>
                </p:tgtEl>
              </p:cMediaNode>
            </p:audi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What Tower does</a:t>
            </a:r>
          </a:p>
        </p:txBody>
      </p:sp>
      <p:sp>
        <p:nvSpPr>
          <p:cNvPr id="3" name="Rounded Rectangle 2"/>
          <p:cNvSpPr/>
          <p:nvPr/>
        </p:nvSpPr>
        <p:spPr>
          <a:xfrm>
            <a:off x="548640" y="1325880"/>
            <a:ext cx="3520440" cy="35204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91640"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ield-check-4CC9F0.png"/>
          <p:cNvPicPr>
            <a:picLocks noChangeAspect="1"/>
          </p:cNvPicPr>
          <p:nvPr/>
        </p:nvPicPr>
        <p:blipFill>
          <a:blip r:embed="rId2"/>
          <a:stretch>
            <a:fillRect/>
          </a:stretch>
        </p:blipFill>
        <p:spPr>
          <a:xfrm>
            <a:off x="1920240" y="1783080"/>
            <a:ext cx="777240" cy="777240"/>
          </a:xfrm>
          <a:prstGeom prst="rect">
            <a:avLst/>
          </a:prstGeom>
        </p:spPr>
      </p:pic>
      <p:sp>
        <p:nvSpPr>
          <p:cNvPr id="6" name="TextBox 5"/>
          <p:cNvSpPr txBox="1"/>
          <p:nvPr/>
        </p:nvSpPr>
        <p:spPr>
          <a:xfrm>
            <a:off x="731520" y="2926080"/>
            <a:ext cx="3154680" cy="548640"/>
          </a:xfrm>
          <a:prstGeom prst="rect">
            <a:avLst/>
          </a:prstGeom>
          <a:noFill/>
        </p:spPr>
        <p:txBody>
          <a:bodyPr wrap="square" anchor="t" lIns="36576" rIns="36576">
            <a:spAutoFit/>
          </a:bodyPr>
          <a:lstStyle/>
          <a:p>
            <a:pPr algn="ctr">
              <a:spcAft>
                <a:spcPts val="600"/>
              </a:spcAft>
            </a:pPr>
            <a:r>
              <a:rPr sz="2600" b="1">
                <a:solidFill>
                  <a:srgbClr val="4CC9F0"/>
                </a:solidFill>
                <a:latin typeface="Consolas"/>
              </a:rPr>
              <a:t>line_is_ok</a:t>
            </a:r>
          </a:p>
        </p:txBody>
      </p:sp>
      <p:sp>
        <p:nvSpPr>
          <p:cNvPr id="7" name="TextBox 6"/>
          <p:cNvSpPr txBox="1"/>
          <p:nvPr/>
        </p:nvSpPr>
        <p:spPr>
          <a:xfrm>
            <a:off x="777240" y="3566160"/>
            <a:ext cx="3063240" cy="1188720"/>
          </a:xfrm>
          <a:prstGeom prst="rect">
            <a:avLst/>
          </a:prstGeom>
          <a:noFill/>
        </p:spPr>
        <p:txBody>
          <a:bodyPr wrap="square" anchor="t" lIns="36576" rIns="36576">
            <a:spAutoFit/>
          </a:bodyPr>
          <a:lstStyle/>
          <a:p>
            <a:pPr algn="ctr">
              <a:spcAft>
                <a:spcPts val="600"/>
              </a:spcAft>
            </a:pPr>
            <a:r>
              <a:rPr sz="2000" b="0">
                <a:solidFill>
                  <a:srgbClr val="E6ECFF"/>
                </a:solidFill>
                <a:latin typeface="Calibri"/>
              </a:rPr>
              <a:t>SIM moved? Calls forwarded?</a:t>
            </a:r>
          </a:p>
        </p:txBody>
      </p:sp>
      <p:sp>
        <p:nvSpPr>
          <p:cNvPr id="8" name="Rounded Rectangle 7"/>
          <p:cNvSpPr/>
          <p:nvPr/>
        </p:nvSpPr>
        <p:spPr>
          <a:xfrm>
            <a:off x="4334255" y="1325880"/>
            <a:ext cx="3520440" cy="35204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77255"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ntenna-bars-5-4CC9F0.png"/>
          <p:cNvPicPr>
            <a:picLocks noChangeAspect="1"/>
          </p:cNvPicPr>
          <p:nvPr/>
        </p:nvPicPr>
        <p:blipFill>
          <a:blip r:embed="rId3"/>
          <a:stretch>
            <a:fillRect/>
          </a:stretch>
        </p:blipFill>
        <p:spPr>
          <a:xfrm>
            <a:off x="5705855" y="1783080"/>
            <a:ext cx="777240" cy="777240"/>
          </a:xfrm>
          <a:prstGeom prst="rect">
            <a:avLst/>
          </a:prstGeom>
        </p:spPr>
      </p:pic>
      <p:sp>
        <p:nvSpPr>
          <p:cNvPr id="11" name="TextBox 10"/>
          <p:cNvSpPr txBox="1"/>
          <p:nvPr/>
        </p:nvSpPr>
        <p:spPr>
          <a:xfrm>
            <a:off x="4517136" y="2926080"/>
            <a:ext cx="3154680" cy="548640"/>
          </a:xfrm>
          <a:prstGeom prst="rect">
            <a:avLst/>
          </a:prstGeom>
          <a:noFill/>
        </p:spPr>
        <p:txBody>
          <a:bodyPr wrap="square" anchor="t" lIns="36576" rIns="36576">
            <a:spAutoFit/>
          </a:bodyPr>
          <a:lstStyle/>
          <a:p>
            <a:pPr algn="ctr">
              <a:spcAft>
                <a:spcPts val="600"/>
              </a:spcAft>
            </a:pPr>
            <a:r>
              <a:rPr sz="2600" b="1">
                <a:solidFill>
                  <a:srgbClr val="4CC9F0"/>
                </a:solidFill>
                <a:latin typeface="Consolas"/>
              </a:rPr>
              <a:t>is_reachable</a:t>
            </a:r>
          </a:p>
        </p:txBody>
      </p:sp>
      <p:sp>
        <p:nvSpPr>
          <p:cNvPr id="12" name="TextBox 11"/>
          <p:cNvSpPr txBox="1"/>
          <p:nvPr/>
        </p:nvSpPr>
        <p:spPr>
          <a:xfrm>
            <a:off x="4562855" y="3566160"/>
            <a:ext cx="3063240" cy="1188720"/>
          </a:xfrm>
          <a:prstGeom prst="rect">
            <a:avLst/>
          </a:prstGeom>
          <a:noFill/>
        </p:spPr>
        <p:txBody>
          <a:bodyPr wrap="square" anchor="t" lIns="36576" rIns="36576">
            <a:spAutoFit/>
          </a:bodyPr>
          <a:lstStyle/>
          <a:p>
            <a:pPr algn="ctr">
              <a:spcAft>
                <a:spcPts val="600"/>
              </a:spcAft>
            </a:pPr>
            <a:r>
              <a:rPr sz="2000" b="0">
                <a:solidFill>
                  <a:srgbClr val="E6ECFF"/>
                </a:solidFill>
                <a:latin typeface="Calibri"/>
              </a:rPr>
              <a:t>Is this phone on the network?</a:t>
            </a:r>
          </a:p>
        </p:txBody>
      </p:sp>
      <p:sp>
        <p:nvSpPr>
          <p:cNvPr id="13" name="Rounded Rectangle 12"/>
          <p:cNvSpPr/>
          <p:nvPr/>
        </p:nvSpPr>
        <p:spPr>
          <a:xfrm>
            <a:off x="8119871" y="1325880"/>
            <a:ext cx="3520440" cy="35204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62872" y="1554480"/>
            <a:ext cx="1234440" cy="1234440"/>
          </a:xfrm>
          <a:prstGeom prst="ellipse">
            <a:avLst/>
          </a:prstGeom>
          <a:solidFill>
            <a:srgbClr val="0B1220"/>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ell-4CC9F0.png"/>
          <p:cNvPicPr>
            <a:picLocks noChangeAspect="1"/>
          </p:cNvPicPr>
          <p:nvPr/>
        </p:nvPicPr>
        <p:blipFill>
          <a:blip r:embed="rId4"/>
          <a:stretch>
            <a:fillRect/>
          </a:stretch>
        </p:blipFill>
        <p:spPr>
          <a:xfrm>
            <a:off x="9491472" y="1783080"/>
            <a:ext cx="777240" cy="777240"/>
          </a:xfrm>
          <a:prstGeom prst="rect">
            <a:avLst/>
          </a:prstGeom>
        </p:spPr>
      </p:pic>
      <p:sp>
        <p:nvSpPr>
          <p:cNvPr id="16" name="TextBox 15"/>
          <p:cNvSpPr txBox="1"/>
          <p:nvPr/>
        </p:nvSpPr>
        <p:spPr>
          <a:xfrm>
            <a:off x="8302751" y="2926080"/>
            <a:ext cx="3154680" cy="548640"/>
          </a:xfrm>
          <a:prstGeom prst="rect">
            <a:avLst/>
          </a:prstGeom>
          <a:noFill/>
        </p:spPr>
        <p:txBody>
          <a:bodyPr wrap="square" anchor="t" lIns="36576" rIns="36576">
            <a:spAutoFit/>
          </a:bodyPr>
          <a:lstStyle/>
          <a:p>
            <a:pPr algn="ctr">
              <a:spcAft>
                <a:spcPts val="600"/>
              </a:spcAft>
            </a:pPr>
            <a:r>
              <a:rPr sz="2600" b="1">
                <a:solidFill>
                  <a:srgbClr val="4CC9F0"/>
                </a:solidFill>
                <a:latin typeface="Consolas"/>
              </a:rPr>
              <a:t>watch_line</a:t>
            </a:r>
          </a:p>
        </p:txBody>
      </p:sp>
      <p:sp>
        <p:nvSpPr>
          <p:cNvPr id="17" name="TextBox 16"/>
          <p:cNvSpPr txBox="1"/>
          <p:nvPr/>
        </p:nvSpPr>
        <p:spPr>
          <a:xfrm>
            <a:off x="8348471" y="3566160"/>
            <a:ext cx="3063240" cy="1188720"/>
          </a:xfrm>
          <a:prstGeom prst="rect">
            <a:avLst/>
          </a:prstGeom>
          <a:noFill/>
        </p:spPr>
        <p:txBody>
          <a:bodyPr wrap="square" anchor="t" lIns="36576" rIns="36576">
            <a:spAutoFit/>
          </a:bodyPr>
          <a:lstStyle/>
          <a:p>
            <a:pPr algn="ctr">
              <a:spcAft>
                <a:spcPts val="600"/>
              </a:spcAft>
            </a:pPr>
            <a:r>
              <a:rPr sz="2000" b="0">
                <a:solidFill>
                  <a:srgbClr val="E6ECFF"/>
                </a:solidFill>
                <a:latin typeface="Calibri"/>
              </a:rPr>
              <a:t>Text a watcher when it changes</a:t>
            </a:r>
          </a:p>
        </p:txBody>
      </p:sp>
      <p:sp>
        <p:nvSpPr>
          <p:cNvPr id="18" name="Rounded Rectangle 17"/>
          <p:cNvSpPr/>
          <p:nvPr/>
        </p:nvSpPr>
        <p:spPr>
          <a:xfrm>
            <a:off x="548640" y="5166360"/>
            <a:ext cx="11094415" cy="685800"/>
          </a:xfrm>
          <a:prstGeom prst="roundRect">
            <a:avLst>
              <a:gd name="adj" fmla="val 50000"/>
            </a:avLst>
          </a:prstGeom>
          <a:solidFill>
            <a:srgbClr val="141F38"/>
          </a:solidFill>
          <a:ln w="190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ck-4CC9F0.png"/>
          <p:cNvPicPr>
            <a:picLocks noChangeAspect="1"/>
          </p:cNvPicPr>
          <p:nvPr/>
        </p:nvPicPr>
        <p:blipFill>
          <a:blip r:embed="rId5"/>
          <a:stretch>
            <a:fillRect/>
          </a:stretch>
        </p:blipFill>
        <p:spPr>
          <a:xfrm>
            <a:off x="777240" y="5317236"/>
            <a:ext cx="384048" cy="384048"/>
          </a:xfrm>
          <a:prstGeom prst="rect">
            <a:avLst/>
          </a:prstGeom>
        </p:spPr>
      </p:pic>
      <p:sp>
        <p:nvSpPr>
          <p:cNvPr id="20" name="TextBox 19"/>
          <p:cNvSpPr txBox="1"/>
          <p:nvPr/>
        </p:nvSpPr>
        <p:spPr>
          <a:xfrm>
            <a:off x="1280160" y="5166360"/>
            <a:ext cx="10134295" cy="685800"/>
          </a:xfrm>
          <a:prstGeom prst="rect">
            <a:avLst/>
          </a:prstGeom>
          <a:noFill/>
        </p:spPr>
        <p:txBody>
          <a:bodyPr wrap="square" anchor="ctr" lIns="36576" rIns="36576">
            <a:spAutoFit/>
          </a:bodyPr>
          <a:lstStyle/>
          <a:p>
            <a:pPr algn="l">
              <a:spcAft>
                <a:spcPts val="600"/>
              </a:spcAft>
            </a:pPr>
            <a:r>
              <a:rPr sz="2000" b="0">
                <a:solidFill>
                  <a:srgbClr val="4CC9F0"/>
                </a:solidFill>
                <a:latin typeface="Calibri"/>
              </a:rPr>
              <a:t>Consent first · bound with one tap · granted per tool · revocable</a:t>
            </a:r>
          </a:p>
        </p:txBody>
      </p:sp>
      <p:cxnSp>
        <p:nvCxnSpPr>
          <p:cNvPr id="21" name="Connector 20"/>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03  •  Ask the Tower  •  What Tower does</a:t>
            </a:r>
          </a:p>
        </p:txBody>
      </p:sp>
      <p:sp>
        <p:nvSpPr>
          <p:cNvPr id="23" name="Rectangle 22"/>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793992"/>
            <a:ext cx="3047923"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slide-03.mp3">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9"/>
          <a:stretch>
            <a:fillRect/>
          </a:stretch>
        </p:blipFill>
        <p:spPr>
          <a:xfrm>
            <a:off x="11368735" y="6382512"/>
            <a:ext cx="274320" cy="274320"/>
          </a:xfrm>
          <a:prstGeom prst="rect">
            <a:avLst/>
          </a:prstGeom>
        </p:spPr>
      </p:pic>
    </p:spTree>
  </p:cSld>
  <p:clrMapOvr>
    <a:masterClrMapping/>
  </p:clrMapOvr>
  <p:transition spd="med" advClick="1" advTm="2970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70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5"/>
                </p:tgtEl>
              </p:cMediaNode>
            </p:audi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Architecture, as deployed on AWS</a:t>
            </a:r>
          </a:p>
        </p:txBody>
      </p:sp>
      <p:sp>
        <p:nvSpPr>
          <p:cNvPr id="3" name="Rounded Rectangle 2"/>
          <p:cNvSpPr/>
          <p:nvPr/>
        </p:nvSpPr>
        <p:spPr>
          <a:xfrm>
            <a:off x="429768" y="1115568"/>
            <a:ext cx="8658016" cy="5129784"/>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2-aws-as-built.png"/>
          <p:cNvPicPr>
            <a:picLocks noChangeAspect="1"/>
          </p:cNvPicPr>
          <p:nvPr/>
        </p:nvPicPr>
        <p:blipFill>
          <a:blip r:embed="rId2"/>
          <a:stretch>
            <a:fillRect/>
          </a:stretch>
        </p:blipFill>
        <p:spPr>
          <a:xfrm>
            <a:off x="502920" y="1188720"/>
            <a:ext cx="8511712" cy="4983480"/>
          </a:xfrm>
          <a:prstGeom prst="rect">
            <a:avLst/>
          </a:prstGeom>
        </p:spPr>
      </p:pic>
      <p:sp>
        <p:nvSpPr>
          <p:cNvPr id="5" name="Oval 4"/>
          <p:cNvSpPr/>
          <p:nvPr/>
        </p:nvSpPr>
        <p:spPr>
          <a:xfrm>
            <a:off x="9288952" y="123444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88952" y="1234440"/>
            <a:ext cx="384048" cy="384048"/>
          </a:xfrm>
          <a:prstGeom prst="rect">
            <a:avLst/>
          </a:prstGeom>
          <a:noFill/>
        </p:spPr>
        <p:txBody>
          <a:bodyPr wrap="square" anchor="ctr" lIns="36576" rIns="36576">
            <a:spAutoFit/>
          </a:bodyPr>
          <a:lstStyle/>
          <a:p>
            <a:pPr algn="ctr">
              <a:spcAft>
                <a:spcPts val="600"/>
              </a:spcAft>
            </a:pPr>
            <a:r>
              <a:rPr sz="1500" b="1">
                <a:solidFill>
                  <a:srgbClr val="0B1220"/>
                </a:solidFill>
                <a:latin typeface="Calibri"/>
              </a:rPr>
              <a:t>1</a:t>
            </a:r>
          </a:p>
        </p:txBody>
      </p:sp>
      <p:sp>
        <p:nvSpPr>
          <p:cNvPr id="7" name="TextBox 6"/>
          <p:cNvSpPr txBox="1"/>
          <p:nvPr/>
        </p:nvSpPr>
        <p:spPr>
          <a:xfrm>
            <a:off x="9791872" y="1161288"/>
            <a:ext cx="1988342" cy="100584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Alexa+ or web chat asks</a:t>
            </a:r>
          </a:p>
        </p:txBody>
      </p:sp>
      <p:sp>
        <p:nvSpPr>
          <p:cNvPr id="8" name="Oval 7"/>
          <p:cNvSpPr/>
          <p:nvPr/>
        </p:nvSpPr>
        <p:spPr>
          <a:xfrm>
            <a:off x="9288952" y="233172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88952" y="2331720"/>
            <a:ext cx="384048" cy="384048"/>
          </a:xfrm>
          <a:prstGeom prst="rect">
            <a:avLst/>
          </a:prstGeom>
          <a:noFill/>
        </p:spPr>
        <p:txBody>
          <a:bodyPr wrap="square" anchor="ctr" lIns="36576" rIns="36576">
            <a:spAutoFit/>
          </a:bodyPr>
          <a:lstStyle/>
          <a:p>
            <a:pPr algn="ctr">
              <a:spcAft>
                <a:spcPts val="600"/>
              </a:spcAft>
            </a:pPr>
            <a:r>
              <a:rPr sz="1500" b="1">
                <a:solidFill>
                  <a:srgbClr val="0B1220"/>
                </a:solidFill>
                <a:latin typeface="Calibri"/>
              </a:rPr>
              <a:t>2</a:t>
            </a:r>
          </a:p>
        </p:txBody>
      </p:sp>
      <p:sp>
        <p:nvSpPr>
          <p:cNvPr id="10" name="TextBox 9"/>
          <p:cNvSpPr txBox="1"/>
          <p:nvPr/>
        </p:nvSpPr>
        <p:spPr>
          <a:xfrm>
            <a:off x="9791872" y="2258568"/>
            <a:ext cx="1988342" cy="100584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Tower, our MCP server, on Runtime</a:t>
            </a:r>
          </a:p>
        </p:txBody>
      </p:sp>
      <p:sp>
        <p:nvSpPr>
          <p:cNvPr id="11" name="Oval 10"/>
          <p:cNvSpPr/>
          <p:nvPr/>
        </p:nvSpPr>
        <p:spPr>
          <a:xfrm>
            <a:off x="9288952" y="3429000"/>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8952" y="3429000"/>
            <a:ext cx="384048" cy="384048"/>
          </a:xfrm>
          <a:prstGeom prst="rect">
            <a:avLst/>
          </a:prstGeom>
          <a:noFill/>
        </p:spPr>
        <p:txBody>
          <a:bodyPr wrap="square" anchor="ctr" lIns="36576" rIns="36576">
            <a:spAutoFit/>
          </a:bodyPr>
          <a:lstStyle/>
          <a:p>
            <a:pPr algn="ctr">
              <a:spcAft>
                <a:spcPts val="600"/>
              </a:spcAft>
            </a:pPr>
            <a:r>
              <a:rPr sz="1500" b="1">
                <a:solidFill>
                  <a:srgbClr val="0B1220"/>
                </a:solidFill>
                <a:latin typeface="Calibri"/>
              </a:rPr>
              <a:t>3</a:t>
            </a:r>
          </a:p>
        </p:txBody>
      </p:sp>
      <p:sp>
        <p:nvSpPr>
          <p:cNvPr id="13" name="TextBox 12"/>
          <p:cNvSpPr txBox="1"/>
          <p:nvPr/>
        </p:nvSpPr>
        <p:spPr>
          <a:xfrm>
            <a:off x="9791872" y="3355848"/>
            <a:ext cx="1988342" cy="100584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Gateway + Identity: CAMARA as MCP tools</a:t>
            </a:r>
          </a:p>
        </p:txBody>
      </p:sp>
      <p:sp>
        <p:nvSpPr>
          <p:cNvPr id="14" name="Oval 13"/>
          <p:cNvSpPr/>
          <p:nvPr/>
        </p:nvSpPr>
        <p:spPr>
          <a:xfrm>
            <a:off x="9288952" y="4526279"/>
            <a:ext cx="384048" cy="384048"/>
          </a:xfrm>
          <a:prstGeom prst="ellipse">
            <a:avLst/>
          </a:prstGeom>
          <a:solidFill>
            <a:srgbClr val="4CC9F0"/>
          </a:solidFill>
          <a:ln w="1905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8952" y="4526279"/>
            <a:ext cx="384048" cy="384048"/>
          </a:xfrm>
          <a:prstGeom prst="rect">
            <a:avLst/>
          </a:prstGeom>
          <a:noFill/>
        </p:spPr>
        <p:txBody>
          <a:bodyPr wrap="square" anchor="ctr" lIns="36576" rIns="36576">
            <a:spAutoFit/>
          </a:bodyPr>
          <a:lstStyle/>
          <a:p>
            <a:pPr algn="ctr">
              <a:spcAft>
                <a:spcPts val="600"/>
              </a:spcAft>
            </a:pPr>
            <a:r>
              <a:rPr sz="1500" b="1">
                <a:solidFill>
                  <a:srgbClr val="0B1220"/>
                </a:solidFill>
                <a:latin typeface="Calibri"/>
              </a:rPr>
              <a:t>4</a:t>
            </a:r>
          </a:p>
        </p:txBody>
      </p:sp>
      <p:sp>
        <p:nvSpPr>
          <p:cNvPr id="16" name="TextBox 15"/>
          <p:cNvSpPr txBox="1"/>
          <p:nvPr/>
        </p:nvSpPr>
        <p:spPr>
          <a:xfrm>
            <a:off x="9791872" y="4453127"/>
            <a:ext cx="1988342" cy="100584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Carrier: CAMARA mock on Fargate</a:t>
            </a:r>
          </a:p>
        </p:txBody>
      </p:sp>
      <p:sp>
        <p:nvSpPr>
          <p:cNvPr id="17" name="TextBox 16"/>
          <p:cNvSpPr txBox="1"/>
          <p:nvPr/>
        </p:nvSpPr>
        <p:spPr>
          <a:xfrm>
            <a:off x="9288952" y="5486400"/>
            <a:ext cx="2491262" cy="777240"/>
          </a:xfrm>
          <a:prstGeom prst="rect">
            <a:avLst/>
          </a:prstGeom>
          <a:noFill/>
        </p:spPr>
        <p:txBody>
          <a:bodyPr wrap="square" anchor="t" lIns="36576" rIns="36576">
            <a:spAutoFit/>
          </a:bodyPr>
          <a:lstStyle/>
          <a:p>
            <a:pPr algn="l">
              <a:spcAft>
                <a:spcPts val="600"/>
              </a:spcAft>
            </a:pPr>
            <a:r>
              <a:rPr sz="1400" b="0">
                <a:solidFill>
                  <a:srgbClr val="9AA8CC"/>
                </a:solidFill>
                <a:latin typeface="Calibri"/>
              </a:rPr>
              <a:t>accent = our code · grey = AWS managed · amber = carrier boundary</a:t>
            </a:r>
          </a:p>
        </p:txBody>
      </p:sp>
      <p:cxnSp>
        <p:nvCxnSpPr>
          <p:cNvPr id="18" name="Connector 17"/>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04  •  Ask the Tower  •  Architecture</a:t>
            </a:r>
          </a:p>
        </p:txBody>
      </p:sp>
      <p:sp>
        <p:nvSpPr>
          <p:cNvPr id="20" name="Rectangle 19"/>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793992"/>
            <a:ext cx="4063898"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slide-04.mp3">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1368735" y="6382512"/>
            <a:ext cx="274320" cy="274320"/>
          </a:xfrm>
          <a:prstGeom prst="rect">
            <a:avLst/>
          </a:prstGeom>
        </p:spPr>
      </p:pic>
    </p:spTree>
  </p:cSld>
  <p:clrMapOvr>
    <a:masterClrMapping/>
  </p:clrMapOvr>
  <p:transition spd="med" advClick="1" advTm="326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68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2"/>
                </p:tgtEl>
              </p:cMediaNode>
            </p:audi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key-4CC9F0.png"/>
          <p:cNvPicPr>
            <a:picLocks noChangeAspect="1"/>
          </p:cNvPicPr>
          <p:nvPr/>
        </p:nvPicPr>
        <p:blipFill>
          <a:blip r:embed="rId2"/>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1: stateless MCP on AgentCore Runtime</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61872"/>
            <a:ext cx="6675120" cy="1325880"/>
          </a:xfrm>
          <a:prstGeom prst="rect">
            <a:avLst/>
          </a:prstGeom>
          <a:noFill/>
        </p:spPr>
        <p:txBody>
          <a:bodyPr wrap="square" anchor="t" lIns="36576" rIns="36576">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A stateless MCP server on AgentCore Runtime</a:t>
            </a:r>
          </a:p>
          <a:p>
            <a:pPr algn="l">
              <a:spcAft>
                <a:spcPts val="300"/>
              </a:spcAft>
            </a:pPr>
            <a:r>
              <a:rPr sz="1800" b="0">
                <a:solidFill>
                  <a:srgbClr val="9AA8CC"/>
                </a:solidFill>
                <a:latin typeface="Calibri"/>
              </a:rPr>
              <a:t>Managed MCP hosting; all state in DynamoDB</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x-F4A261.png"/>
          <p:cNvPicPr>
            <a:picLocks noChangeAspect="1"/>
          </p:cNvPicPr>
          <p:nvPr/>
        </p:nvPicPr>
        <p:blipFill>
          <a:blip r:embed="rId3"/>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anchor="ctr" lIns="36576" rIns="36576">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Our own containers on EKS, ~$150 a month</a:t>
            </a:r>
          </a:p>
        </p:txBody>
      </p:sp>
      <p:sp>
        <p:nvSpPr>
          <p:cNvPr id="10" name="Oval 9"/>
          <p:cNvSpPr/>
          <p:nvPr/>
        </p:nvSpPr>
        <p:spPr>
          <a:xfrm>
            <a:off x="1386801"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evice-speaker-8A94A6.png"/>
          <p:cNvPicPr>
            <a:picLocks noChangeAspect="1"/>
          </p:cNvPicPr>
          <p:nvPr/>
        </p:nvPicPr>
        <p:blipFill>
          <a:blip r:embed="rId4"/>
          <a:stretch>
            <a:fillRect/>
          </a:stretch>
        </p:blipFill>
        <p:spPr>
          <a:xfrm>
            <a:off x="1606257" y="3236976"/>
            <a:ext cx="658368" cy="658368"/>
          </a:xfrm>
          <a:prstGeom prst="rect">
            <a:avLst/>
          </a:prstGeom>
        </p:spPr>
      </p:pic>
      <p:sp>
        <p:nvSpPr>
          <p:cNvPr id="12" name="TextBox 11"/>
          <p:cNvSpPr txBox="1"/>
          <p:nvPr/>
        </p:nvSpPr>
        <p:spPr>
          <a:xfrm>
            <a:off x="883881" y="4251960"/>
            <a:ext cx="2103120" cy="1097280"/>
          </a:xfrm>
          <a:prstGeom prst="rect">
            <a:avLst/>
          </a:prstGeom>
          <a:noFill/>
        </p:spPr>
        <p:txBody>
          <a:bodyPr wrap="square" anchor="t" lIns="36576" rIns="36576">
            <a:spAutoFit/>
          </a:bodyPr>
          <a:lstStyle/>
          <a:p>
            <a:pPr algn="ctr">
              <a:spcAft>
                <a:spcPts val="600"/>
              </a:spcAft>
            </a:pPr>
            <a:r>
              <a:rPr sz="1800" b="0">
                <a:solidFill>
                  <a:srgbClr val="E6ECFF"/>
                </a:solidFill>
                <a:latin typeface="Calibri"/>
              </a:rPr>
              <a:t>Alexa+ or web chat</a:t>
            </a:r>
          </a:p>
        </p:txBody>
      </p:sp>
      <p:sp>
        <p:nvSpPr>
          <p:cNvPr id="13" name="Right Arrow 12"/>
          <p:cNvSpPr/>
          <p:nvPr/>
        </p:nvSpPr>
        <p:spPr>
          <a:xfrm>
            <a:off x="2666961"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160405"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ey-8A94A6.png"/>
          <p:cNvPicPr>
            <a:picLocks noChangeAspect="1"/>
          </p:cNvPicPr>
          <p:nvPr/>
        </p:nvPicPr>
        <p:blipFill>
          <a:blip r:embed="rId5"/>
          <a:stretch>
            <a:fillRect/>
          </a:stretch>
        </p:blipFill>
        <p:spPr>
          <a:xfrm>
            <a:off x="4379861" y="3236976"/>
            <a:ext cx="658368" cy="658368"/>
          </a:xfrm>
          <a:prstGeom prst="rect">
            <a:avLst/>
          </a:prstGeom>
        </p:spPr>
      </p:pic>
      <p:sp>
        <p:nvSpPr>
          <p:cNvPr id="16" name="TextBox 15"/>
          <p:cNvSpPr txBox="1"/>
          <p:nvPr/>
        </p:nvSpPr>
        <p:spPr>
          <a:xfrm>
            <a:off x="3657485" y="4251960"/>
            <a:ext cx="2103120" cy="1097280"/>
          </a:xfrm>
          <a:prstGeom prst="rect">
            <a:avLst/>
          </a:prstGeom>
          <a:noFill/>
        </p:spPr>
        <p:txBody>
          <a:bodyPr wrap="square" anchor="t" lIns="36576" rIns="36576">
            <a:spAutoFit/>
          </a:bodyPr>
          <a:lstStyle/>
          <a:p>
            <a:pPr algn="ctr">
              <a:spcAft>
                <a:spcPts val="600"/>
              </a:spcAft>
            </a:pPr>
            <a:r>
              <a:rPr sz="1800" b="0">
                <a:solidFill>
                  <a:srgbClr val="E6ECFF"/>
                </a:solidFill>
                <a:latin typeface="Calibri"/>
              </a:rPr>
              <a:t>Bearer JWT from Cognito</a:t>
            </a:r>
          </a:p>
        </p:txBody>
      </p:sp>
      <p:sp>
        <p:nvSpPr>
          <p:cNvPr id="17" name="Right Arrow 16"/>
          <p:cNvSpPr/>
          <p:nvPr/>
        </p:nvSpPr>
        <p:spPr>
          <a:xfrm>
            <a:off x="5440565"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34009" y="3017520"/>
            <a:ext cx="1097280" cy="1097280"/>
          </a:xfrm>
          <a:prstGeom prst="ellipse">
            <a:avLst/>
          </a:prstGeom>
          <a:solidFill>
            <a:srgbClr val="141F38"/>
          </a:solidFill>
          <a:ln w="25400">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loud-8A94A6.png"/>
          <p:cNvPicPr>
            <a:picLocks noChangeAspect="1"/>
          </p:cNvPicPr>
          <p:nvPr/>
        </p:nvPicPr>
        <p:blipFill>
          <a:blip r:embed="rId6"/>
          <a:stretch>
            <a:fillRect/>
          </a:stretch>
        </p:blipFill>
        <p:spPr>
          <a:xfrm>
            <a:off x="7153465" y="3236976"/>
            <a:ext cx="658368" cy="658368"/>
          </a:xfrm>
          <a:prstGeom prst="rect">
            <a:avLst/>
          </a:prstGeom>
        </p:spPr>
      </p:pic>
      <p:sp>
        <p:nvSpPr>
          <p:cNvPr id="20" name="TextBox 19"/>
          <p:cNvSpPr txBox="1"/>
          <p:nvPr/>
        </p:nvSpPr>
        <p:spPr>
          <a:xfrm>
            <a:off x="6431089" y="4251960"/>
            <a:ext cx="2103120" cy="1097280"/>
          </a:xfrm>
          <a:prstGeom prst="rect">
            <a:avLst/>
          </a:prstGeom>
          <a:noFill/>
        </p:spPr>
        <p:txBody>
          <a:bodyPr wrap="square" anchor="t" lIns="36576" rIns="36576">
            <a:spAutoFit/>
          </a:bodyPr>
          <a:lstStyle/>
          <a:p>
            <a:pPr algn="ctr">
              <a:spcAft>
                <a:spcPts val="600"/>
              </a:spcAft>
            </a:pPr>
            <a:r>
              <a:rPr sz="1800" b="0">
                <a:solidFill>
                  <a:srgbClr val="E6ECFF"/>
                </a:solidFill>
                <a:latin typeface="Calibri"/>
              </a:rPr>
              <a:t>Runtime authorizer checks it</a:t>
            </a:r>
          </a:p>
        </p:txBody>
      </p:sp>
      <p:sp>
        <p:nvSpPr>
          <p:cNvPr id="21" name="Right Arrow 20"/>
          <p:cNvSpPr/>
          <p:nvPr/>
        </p:nvSpPr>
        <p:spPr>
          <a:xfrm>
            <a:off x="8214169" y="3401568"/>
            <a:ext cx="1310563" cy="329184"/>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707613" y="3017520"/>
            <a:ext cx="1097280" cy="1097280"/>
          </a:xfrm>
          <a:prstGeom prst="ellipse">
            <a:avLst/>
          </a:prstGeom>
          <a:solidFill>
            <a:srgbClr val="141F38"/>
          </a:solidFill>
          <a:ln w="2540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ield-check-4CC9F0.png"/>
          <p:cNvPicPr>
            <a:picLocks noChangeAspect="1"/>
          </p:cNvPicPr>
          <p:nvPr/>
        </p:nvPicPr>
        <p:blipFill>
          <a:blip r:embed="rId7"/>
          <a:stretch>
            <a:fillRect/>
          </a:stretch>
        </p:blipFill>
        <p:spPr>
          <a:xfrm>
            <a:off x="9927069" y="3236976"/>
            <a:ext cx="658368" cy="658368"/>
          </a:xfrm>
          <a:prstGeom prst="rect">
            <a:avLst/>
          </a:prstGeom>
        </p:spPr>
      </p:pic>
      <p:sp>
        <p:nvSpPr>
          <p:cNvPr id="24" name="TextBox 23"/>
          <p:cNvSpPr txBox="1"/>
          <p:nvPr/>
        </p:nvSpPr>
        <p:spPr>
          <a:xfrm>
            <a:off x="9204693" y="4251960"/>
            <a:ext cx="2103120" cy="1097280"/>
          </a:xfrm>
          <a:prstGeom prst="rect">
            <a:avLst/>
          </a:prstGeom>
          <a:noFill/>
        </p:spPr>
        <p:txBody>
          <a:bodyPr wrap="square" anchor="t" lIns="36576" rIns="36576">
            <a:spAutoFit/>
          </a:bodyPr>
          <a:lstStyle/>
          <a:p>
            <a:pPr algn="ctr">
              <a:spcAft>
                <a:spcPts val="600"/>
              </a:spcAft>
            </a:pPr>
            <a:r>
              <a:rPr sz="1800" b="0">
                <a:solidFill>
                  <a:srgbClr val="E6ECFF"/>
                </a:solidFill>
                <a:latin typeface="Calibri"/>
              </a:rPr>
              <a:t>Tower verifies it again</a:t>
            </a:r>
          </a:p>
        </p:txBody>
      </p:sp>
      <p:sp>
        <p:nvSpPr>
          <p:cNvPr id="25" name="Rounded Rectangle 24"/>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596128"/>
            <a:ext cx="10637215" cy="566928"/>
          </a:xfrm>
          <a:prstGeom prst="rect">
            <a:avLst/>
          </a:prstGeom>
          <a:noFill/>
        </p:spPr>
        <p:txBody>
          <a:bodyPr wrap="square" anchor="ctr" lIns="36576" rIns="36576">
            <a:spAutoFit/>
          </a:bodyPr>
          <a:lstStyle/>
          <a:p>
            <a:pPr algn="l">
              <a:spcAft>
                <a:spcPts val="600"/>
              </a:spcAft>
            </a:pPr>
            <a:r>
              <a:rPr sz="1800" b="0">
                <a:solidFill>
                  <a:srgbClr val="E6ECFF"/>
                </a:solidFill>
                <a:latin typeface="Calibri"/>
              </a:rPr>
              <a:t>TRADE-OFF   No server session id, so clients must send one</a:t>
            </a:r>
          </a:p>
        </p:txBody>
      </p:sp>
      <p:cxnSp>
        <p:nvCxnSpPr>
          <p:cNvPr id="27" name="Connector 26"/>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05  •  Ask the Tower  •  Decisions</a:t>
            </a:r>
          </a:p>
        </p:txBody>
      </p:sp>
      <p:sp>
        <p:nvSpPr>
          <p:cNvPr id="29" name="Rectangle 28"/>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793992"/>
            <a:ext cx="5079873"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slide-05.mp3">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1368735" y="6382512"/>
            <a:ext cx="274320" cy="274320"/>
          </a:xfrm>
          <a:prstGeom prst="rect">
            <a:avLst/>
          </a:prstGeom>
        </p:spPr>
      </p:pic>
    </p:spTree>
  </p:cSld>
  <p:clrMapOvr>
    <a:masterClrMapping/>
  </p:clrMapOvr>
  <p:transition spd="med" advClick="1" advTm="331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153"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31"/>
                </p:tgtEl>
              </p:cMediaNode>
            </p:audi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route-4CC9F0.png"/>
          <p:cNvPicPr>
            <a:picLocks noChangeAspect="1"/>
          </p:cNvPicPr>
          <p:nvPr/>
        </p:nvPicPr>
        <p:blipFill>
          <a:blip r:embed="rId2"/>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2: the carrier only via Gateway</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61872"/>
            <a:ext cx="6675120" cy="1325880"/>
          </a:xfrm>
          <a:prstGeom prst="rect">
            <a:avLst/>
          </a:prstGeom>
          <a:noFill/>
        </p:spPr>
        <p:txBody>
          <a:bodyPr wrap="square" anchor="t" lIns="36576" rIns="36576">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Tower reaches the carrier only through Gateway</a:t>
            </a:r>
          </a:p>
          <a:p>
            <a:pPr algn="l">
              <a:spcAft>
                <a:spcPts val="300"/>
              </a:spcAft>
            </a:pPr>
            <a:r>
              <a:rPr sz="1800" b="0">
                <a:solidFill>
                  <a:srgbClr val="9AA8CC"/>
                </a:solidFill>
                <a:latin typeface="Calibri"/>
              </a:rPr>
              <a:t>Standard CAMARA: an operator swaps in, Tower unchanged</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x-F4A261.png"/>
          <p:cNvPicPr>
            <a:picLocks noChangeAspect="1"/>
          </p:cNvPicPr>
          <p:nvPr/>
        </p:nvPicPr>
        <p:blipFill>
          <a:blip r:embed="rId3"/>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anchor="ctr" lIns="36576" rIns="36576">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A direct client, secret in Runtime config</a:t>
            </a:r>
          </a:p>
        </p:txBody>
      </p:sp>
      <p:sp>
        <p:nvSpPr>
          <p:cNvPr id="10" name="Rounded Rectangle 9"/>
          <p:cNvSpPr/>
          <p:nvPr/>
        </p:nvSpPr>
        <p:spPr>
          <a:xfrm>
            <a:off x="548640" y="2971800"/>
            <a:ext cx="3474720" cy="22860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63240"/>
            <a:ext cx="3017520" cy="365760"/>
          </a:xfrm>
          <a:prstGeom prst="rect">
            <a:avLst/>
          </a:prstGeom>
          <a:noFill/>
        </p:spPr>
        <p:txBody>
          <a:bodyPr wrap="square" anchor="t" lIns="36576" rIns="36576">
            <a:spAutoFit/>
          </a:bodyPr>
          <a:lstStyle/>
          <a:p>
            <a:pPr algn="l">
              <a:spcAft>
                <a:spcPts val="600"/>
              </a:spcAft>
            </a:pPr>
            <a:r>
              <a:rPr sz="1300" b="1">
                <a:solidFill>
                  <a:srgbClr val="F4A261"/>
                </a:solidFill>
                <a:latin typeface="Calibri"/>
              </a:rPr>
              <a:t>BEFORE</a:t>
            </a:r>
          </a:p>
        </p:txBody>
      </p:sp>
      <p:pic>
        <p:nvPicPr>
          <p:cNvPr id="12" name="Picture 11" descr="circle-x-F4A261.png"/>
          <p:cNvPicPr>
            <a:picLocks noChangeAspect="1"/>
          </p:cNvPicPr>
          <p:nvPr/>
        </p:nvPicPr>
        <p:blipFill>
          <a:blip r:embed="rId3"/>
          <a:stretch>
            <a:fillRect/>
          </a:stretch>
        </p:blipFill>
        <p:spPr>
          <a:xfrm>
            <a:off x="1874519" y="3429000"/>
            <a:ext cx="822960" cy="822960"/>
          </a:xfrm>
          <a:prstGeom prst="rect">
            <a:avLst/>
          </a:prstGeom>
        </p:spPr>
      </p:pic>
      <p:sp>
        <p:nvSpPr>
          <p:cNvPr id="13" name="TextBox 12"/>
          <p:cNvSpPr txBox="1"/>
          <p:nvPr/>
        </p:nvSpPr>
        <p:spPr>
          <a:xfrm>
            <a:off x="777240" y="4343400"/>
            <a:ext cx="3017520" cy="868680"/>
          </a:xfrm>
          <a:prstGeom prst="rect">
            <a:avLst/>
          </a:prstGeom>
          <a:noFill/>
        </p:spPr>
        <p:txBody>
          <a:bodyPr wrap="square" anchor="t" lIns="36576" rIns="36576">
            <a:spAutoFit/>
          </a:bodyPr>
          <a:lstStyle/>
          <a:p>
            <a:pPr algn="ctr">
              <a:spcAft>
                <a:spcPts val="600"/>
              </a:spcAft>
            </a:pPr>
            <a:r>
              <a:rPr sz="2000" b="1">
                <a:solidFill>
                  <a:srgbClr val="E6ECFF"/>
                </a:solidFill>
                <a:latin typeface="Calibri"/>
              </a:rPr>
              <a:t>Tower holds carrier credentials</a:t>
            </a:r>
          </a:p>
        </p:txBody>
      </p:sp>
      <p:sp>
        <p:nvSpPr>
          <p:cNvPr id="14" name="Rounded Rectangle 13"/>
          <p:cNvSpPr/>
          <p:nvPr/>
        </p:nvSpPr>
        <p:spPr>
          <a:xfrm>
            <a:off x="4572000" y="2971800"/>
            <a:ext cx="3474720" cy="22860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3063240"/>
            <a:ext cx="3017520" cy="365760"/>
          </a:xfrm>
          <a:prstGeom prst="rect">
            <a:avLst/>
          </a:prstGeom>
          <a:noFill/>
        </p:spPr>
        <p:txBody>
          <a:bodyPr wrap="square" anchor="t" lIns="36576" rIns="36576">
            <a:spAutoFit/>
          </a:bodyPr>
          <a:lstStyle/>
          <a:p>
            <a:pPr algn="l">
              <a:spcAft>
                <a:spcPts val="600"/>
              </a:spcAft>
            </a:pPr>
            <a:r>
              <a:rPr sz="1300" b="1">
                <a:solidFill>
                  <a:srgbClr val="2EC27E"/>
                </a:solidFill>
                <a:latin typeface="Calibri"/>
              </a:rPr>
              <a:t>AFTER</a:t>
            </a:r>
          </a:p>
        </p:txBody>
      </p:sp>
      <p:pic>
        <p:nvPicPr>
          <p:cNvPr id="16" name="Picture 15" descr="circle-check-2EC27E.png"/>
          <p:cNvPicPr>
            <a:picLocks noChangeAspect="1"/>
          </p:cNvPicPr>
          <p:nvPr/>
        </p:nvPicPr>
        <p:blipFill>
          <a:blip r:embed="rId4"/>
          <a:stretch>
            <a:fillRect/>
          </a:stretch>
        </p:blipFill>
        <p:spPr>
          <a:xfrm>
            <a:off x="5897880" y="3429000"/>
            <a:ext cx="822960" cy="822960"/>
          </a:xfrm>
          <a:prstGeom prst="rect">
            <a:avLst/>
          </a:prstGeom>
        </p:spPr>
      </p:pic>
      <p:sp>
        <p:nvSpPr>
          <p:cNvPr id="17" name="TextBox 16"/>
          <p:cNvSpPr txBox="1"/>
          <p:nvPr/>
        </p:nvSpPr>
        <p:spPr>
          <a:xfrm>
            <a:off x="4800600" y="4343400"/>
            <a:ext cx="3017520" cy="868680"/>
          </a:xfrm>
          <a:prstGeom prst="rect">
            <a:avLst/>
          </a:prstGeom>
          <a:noFill/>
        </p:spPr>
        <p:txBody>
          <a:bodyPr wrap="square" anchor="t" lIns="36576" rIns="36576">
            <a:spAutoFit/>
          </a:bodyPr>
          <a:lstStyle/>
          <a:p>
            <a:pPr algn="ctr">
              <a:spcAft>
                <a:spcPts val="600"/>
              </a:spcAft>
            </a:pPr>
            <a:r>
              <a:rPr sz="2000" b="1">
                <a:solidFill>
                  <a:srgbClr val="E6ECFF"/>
                </a:solidFill>
                <a:latin typeface="Calibri"/>
              </a:rPr>
              <a:t>Gateway + Identity hold them</a:t>
            </a:r>
          </a:p>
        </p:txBody>
      </p:sp>
      <p:sp>
        <p:nvSpPr>
          <p:cNvPr id="18" name="Right Arrow 17"/>
          <p:cNvSpPr/>
          <p:nvPr/>
        </p:nvSpPr>
        <p:spPr>
          <a:xfrm>
            <a:off x="4096512" y="3886200"/>
            <a:ext cx="411480" cy="384048"/>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0" y="2971800"/>
            <a:ext cx="3319272" cy="2286000"/>
          </a:xfrm>
          <a:prstGeom prst="roundRect">
            <a:avLst>
              <a:gd name="adj" fmla="val 8000"/>
            </a:avLst>
          </a:prstGeom>
          <a:solidFill>
            <a:srgbClr val="141F38"/>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ute-8A94A6.png"/>
          <p:cNvPicPr>
            <a:picLocks noChangeAspect="1"/>
          </p:cNvPicPr>
          <p:nvPr/>
        </p:nvPicPr>
        <p:blipFill>
          <a:blip r:embed="rId5"/>
          <a:stretch>
            <a:fillRect/>
          </a:stretch>
        </p:blipFill>
        <p:spPr>
          <a:xfrm>
            <a:off x="9573768" y="3200400"/>
            <a:ext cx="822960" cy="822960"/>
          </a:xfrm>
          <a:prstGeom prst="rect">
            <a:avLst/>
          </a:prstGeom>
        </p:spPr>
      </p:pic>
      <p:sp>
        <p:nvSpPr>
          <p:cNvPr id="21" name="TextBox 20"/>
          <p:cNvSpPr txBox="1"/>
          <p:nvPr/>
        </p:nvSpPr>
        <p:spPr>
          <a:xfrm>
            <a:off x="8503920" y="4160520"/>
            <a:ext cx="2971800" cy="1005840"/>
          </a:xfrm>
          <a:prstGeom prst="rect">
            <a:avLst/>
          </a:prstGeom>
          <a:noFill/>
        </p:spPr>
        <p:txBody>
          <a:bodyPr wrap="square" anchor="t" lIns="36576" rIns="36576">
            <a:spAutoFit/>
          </a:bodyPr>
          <a:lstStyle/>
          <a:p>
            <a:pPr algn="ctr">
              <a:spcAft>
                <a:spcPts val="600"/>
              </a:spcAft>
            </a:pPr>
            <a:r>
              <a:rPr sz="2000" b="0">
                <a:solidFill>
                  <a:srgbClr val="E6ECFF"/>
                </a:solidFill>
                <a:latin typeface="Calibri"/>
              </a:rPr>
              <a:t>5 CAMARA targets become MCP tools</a:t>
            </a:r>
          </a:p>
        </p:txBody>
      </p:sp>
      <p:sp>
        <p:nvSpPr>
          <p:cNvPr id="22" name="Rounded Rectangle 21"/>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596128"/>
            <a:ext cx="10637215" cy="566928"/>
          </a:xfrm>
          <a:prstGeom prst="rect">
            <a:avLst/>
          </a:prstGeom>
          <a:noFill/>
        </p:spPr>
        <p:txBody>
          <a:bodyPr wrap="square" anchor="ctr" lIns="36576" rIns="36576">
            <a:spAutoFit/>
          </a:bodyPr>
          <a:lstStyle/>
          <a:p>
            <a:pPr algn="l">
              <a:spcAft>
                <a:spcPts val="600"/>
              </a:spcAft>
            </a:pPr>
            <a:r>
              <a:rPr sz="1800" b="0">
                <a:solidFill>
                  <a:srgbClr val="E6ECFF"/>
                </a:solidFill>
                <a:latin typeface="Calibri"/>
              </a:rPr>
              <a:t>TRADE-OFF   One more hop, and a session to keep warm</a:t>
            </a:r>
          </a:p>
        </p:txBody>
      </p:sp>
      <p:cxnSp>
        <p:nvCxnSpPr>
          <p:cNvPr id="24" name="Connector 23"/>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06  •  Ask the Tower  •  Decisions</a:t>
            </a:r>
          </a:p>
        </p:txBody>
      </p:sp>
      <p:sp>
        <p:nvSpPr>
          <p:cNvPr id="26" name="Rectangle 25"/>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793992"/>
            <a:ext cx="6095847"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lide-06.mp3">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9"/>
          <a:stretch>
            <a:fillRect/>
          </a:stretch>
        </p:blipFill>
        <p:spPr>
          <a:xfrm>
            <a:off x="11368735" y="6382512"/>
            <a:ext cx="274320" cy="274320"/>
          </a:xfrm>
          <a:prstGeom prst="rect">
            <a:avLst/>
          </a:prstGeom>
        </p:spPr>
      </p:pic>
    </p:spTree>
  </p:cSld>
  <p:clrMapOvr>
    <a:masterClrMapping/>
  </p:clrMapOvr>
  <p:transition spd="med" advClick="1" advTm="286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66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8"/>
                </p:tgtEl>
              </p:cMediaNode>
            </p:audi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lock-4CC9F0.png"/>
          <p:cNvPicPr>
            <a:picLocks noChangeAspect="1"/>
          </p:cNvPicPr>
          <p:nvPr/>
        </p:nvPicPr>
        <p:blipFill>
          <a:blip r:embed="rId2"/>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3: consent and privacy by construction</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61872"/>
            <a:ext cx="6675120" cy="1325880"/>
          </a:xfrm>
          <a:prstGeom prst="rect">
            <a:avLst/>
          </a:prstGeom>
          <a:noFill/>
        </p:spPr>
        <p:txBody>
          <a:bodyPr wrap="square" anchor="t" lIns="36576" rIns="36576">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Privacy is enforced by construction</a:t>
            </a:r>
          </a:p>
          <a:p>
            <a:pPr algn="l">
              <a:spcAft>
                <a:spcPts val="300"/>
              </a:spcAft>
            </a:pPr>
            <a:r>
              <a:rPr sz="1800" b="0">
                <a:solidFill>
                  <a:srgbClr val="9AA8CC"/>
                </a:solidFill>
                <a:latin typeface="Calibri"/>
              </a:rPr>
              <a:t>Number Verification binds the line: one tap, mobile data</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x-F4A261.png"/>
          <p:cNvPicPr>
            <a:picLocks noChangeAspect="1"/>
          </p:cNvPicPr>
          <p:nvPr/>
        </p:nvPicPr>
        <p:blipFill>
          <a:blip r:embed="rId3"/>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anchor="ctr" lIns="36576" rIns="36576">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Trusting a typed number; redacting logs later</a:t>
            </a:r>
          </a:p>
        </p:txBody>
      </p:sp>
      <p:sp>
        <p:nvSpPr>
          <p:cNvPr id="10" name="Rounded Rectangle 9"/>
          <p:cNvSpPr/>
          <p:nvPr/>
        </p:nvSpPr>
        <p:spPr>
          <a:xfrm>
            <a:off x="548640" y="2834640"/>
            <a:ext cx="2499283" cy="9144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evice-mobile-F4A261.png"/>
          <p:cNvPicPr>
            <a:picLocks noChangeAspect="1"/>
          </p:cNvPicPr>
          <p:nvPr/>
        </p:nvPicPr>
        <p:blipFill>
          <a:blip r:embed="rId4"/>
          <a:stretch>
            <a:fillRect/>
          </a:stretch>
        </p:blipFill>
        <p:spPr>
          <a:xfrm>
            <a:off x="731520" y="3017520"/>
            <a:ext cx="548640" cy="548640"/>
          </a:xfrm>
          <a:prstGeom prst="rect">
            <a:avLst/>
          </a:prstGeom>
        </p:spPr>
      </p:pic>
      <p:sp>
        <p:nvSpPr>
          <p:cNvPr id="12" name="TextBox 11"/>
          <p:cNvSpPr txBox="1"/>
          <p:nvPr/>
        </p:nvSpPr>
        <p:spPr>
          <a:xfrm>
            <a:off x="1417319" y="2834640"/>
            <a:ext cx="1539163" cy="914400"/>
          </a:xfrm>
          <a:prstGeom prst="rect">
            <a:avLst/>
          </a:prstGeom>
          <a:noFill/>
        </p:spPr>
        <p:txBody>
          <a:bodyPr wrap="square" anchor="ctr" lIns="36576" rIns="36576">
            <a:spAutoFit/>
          </a:bodyPr>
          <a:lstStyle/>
          <a:p>
            <a:pPr algn="l">
              <a:spcAft>
                <a:spcPts val="600"/>
              </a:spcAft>
            </a:pPr>
            <a:r>
              <a:rPr sz="1800" b="1">
                <a:solidFill>
                  <a:srgbClr val="E6ECFF"/>
                </a:solidFill>
                <a:latin typeface="Calibri"/>
              </a:rPr>
              <a:t>Phone number</a:t>
            </a:r>
          </a:p>
        </p:txBody>
      </p:sp>
      <p:sp>
        <p:nvSpPr>
          <p:cNvPr id="13" name="Right Arrow 12"/>
          <p:cNvSpPr/>
          <p:nvPr/>
        </p:nvSpPr>
        <p:spPr>
          <a:xfrm>
            <a:off x="3075355"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3683" y="2834640"/>
            <a:ext cx="2499283" cy="91440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ey-4CC9F0.png"/>
          <p:cNvPicPr>
            <a:picLocks noChangeAspect="1"/>
          </p:cNvPicPr>
          <p:nvPr/>
        </p:nvPicPr>
        <p:blipFill>
          <a:blip r:embed="rId5"/>
          <a:stretch>
            <a:fillRect/>
          </a:stretch>
        </p:blipFill>
        <p:spPr>
          <a:xfrm>
            <a:off x="3596563" y="3017520"/>
            <a:ext cx="548640" cy="548640"/>
          </a:xfrm>
          <a:prstGeom prst="rect">
            <a:avLst/>
          </a:prstGeom>
        </p:spPr>
      </p:pic>
      <p:sp>
        <p:nvSpPr>
          <p:cNvPr id="16" name="TextBox 15"/>
          <p:cNvSpPr txBox="1"/>
          <p:nvPr/>
        </p:nvSpPr>
        <p:spPr>
          <a:xfrm>
            <a:off x="4282363" y="2834640"/>
            <a:ext cx="1539163" cy="914400"/>
          </a:xfrm>
          <a:prstGeom prst="rect">
            <a:avLst/>
          </a:prstGeom>
          <a:noFill/>
        </p:spPr>
        <p:txBody>
          <a:bodyPr wrap="square" anchor="ctr" lIns="36576" rIns="36576">
            <a:spAutoFit/>
          </a:bodyPr>
          <a:lstStyle/>
          <a:p>
            <a:pPr algn="l">
              <a:spcAft>
                <a:spcPts val="600"/>
              </a:spcAft>
            </a:pPr>
            <a:r>
              <a:rPr sz="1800" b="1">
                <a:solidFill>
                  <a:srgbClr val="E6ECFF"/>
                </a:solidFill>
                <a:latin typeface="Calibri"/>
              </a:rPr>
              <a:t>HMAC → line id</a:t>
            </a:r>
          </a:p>
        </p:txBody>
      </p:sp>
      <p:sp>
        <p:nvSpPr>
          <p:cNvPr id="17" name="Right Arrow 16"/>
          <p:cNvSpPr/>
          <p:nvPr/>
        </p:nvSpPr>
        <p:spPr>
          <a:xfrm>
            <a:off x="5940399"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2834640"/>
            <a:ext cx="2499283" cy="914400"/>
          </a:xfrm>
          <a:prstGeom prst="roundRect">
            <a:avLst>
              <a:gd name="adj" fmla="val 8000"/>
            </a:avLst>
          </a:prstGeom>
          <a:solidFill>
            <a:srgbClr val="141F38"/>
          </a:solidFill>
          <a:ln w="1587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ck-8A94A6.png"/>
          <p:cNvPicPr>
            <a:picLocks noChangeAspect="1"/>
          </p:cNvPicPr>
          <p:nvPr/>
        </p:nvPicPr>
        <p:blipFill>
          <a:blip r:embed="rId6"/>
          <a:stretch>
            <a:fillRect/>
          </a:stretch>
        </p:blipFill>
        <p:spPr>
          <a:xfrm>
            <a:off x="6461607" y="3017520"/>
            <a:ext cx="548640" cy="548640"/>
          </a:xfrm>
          <a:prstGeom prst="rect">
            <a:avLst/>
          </a:prstGeom>
        </p:spPr>
      </p:pic>
      <p:sp>
        <p:nvSpPr>
          <p:cNvPr id="20" name="TextBox 19"/>
          <p:cNvSpPr txBox="1"/>
          <p:nvPr/>
        </p:nvSpPr>
        <p:spPr>
          <a:xfrm>
            <a:off x="7147407" y="2834640"/>
            <a:ext cx="1539163" cy="914400"/>
          </a:xfrm>
          <a:prstGeom prst="rect">
            <a:avLst/>
          </a:prstGeom>
          <a:noFill/>
        </p:spPr>
        <p:txBody>
          <a:bodyPr wrap="square" anchor="ctr" lIns="36576" rIns="36576">
            <a:spAutoFit/>
          </a:bodyPr>
          <a:lstStyle/>
          <a:p>
            <a:pPr algn="l">
              <a:spcAft>
                <a:spcPts val="600"/>
              </a:spcAft>
            </a:pPr>
            <a:r>
              <a:rPr sz="1800" b="1">
                <a:solidFill>
                  <a:srgbClr val="E6ECFF"/>
                </a:solidFill>
                <a:latin typeface="Calibri"/>
              </a:rPr>
              <a:t>KMS → ciphertext</a:t>
            </a:r>
          </a:p>
        </p:txBody>
      </p:sp>
      <p:sp>
        <p:nvSpPr>
          <p:cNvPr id="21" name="Right Arrow 20"/>
          <p:cNvSpPr/>
          <p:nvPr/>
        </p:nvSpPr>
        <p:spPr>
          <a:xfrm>
            <a:off x="8805443" y="3163824"/>
            <a:ext cx="310896" cy="256032"/>
          </a:xfrm>
          <a:prstGeom prst="rightArrow">
            <a:avLst/>
          </a:prstGeom>
          <a:solidFill>
            <a:srgbClr val="9AA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3771" y="2834640"/>
            <a:ext cx="2499283" cy="9144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ye-2EC27E.png"/>
          <p:cNvPicPr>
            <a:picLocks noChangeAspect="1"/>
          </p:cNvPicPr>
          <p:nvPr/>
        </p:nvPicPr>
        <p:blipFill>
          <a:blip r:embed="rId7"/>
          <a:stretch>
            <a:fillRect/>
          </a:stretch>
        </p:blipFill>
        <p:spPr>
          <a:xfrm>
            <a:off x="9326651" y="3017520"/>
            <a:ext cx="548640" cy="548640"/>
          </a:xfrm>
          <a:prstGeom prst="rect">
            <a:avLst/>
          </a:prstGeom>
        </p:spPr>
      </p:pic>
      <p:sp>
        <p:nvSpPr>
          <p:cNvPr id="24" name="TextBox 23"/>
          <p:cNvSpPr txBox="1"/>
          <p:nvPr/>
        </p:nvSpPr>
        <p:spPr>
          <a:xfrm>
            <a:off x="10012451" y="2834640"/>
            <a:ext cx="1539163" cy="914400"/>
          </a:xfrm>
          <a:prstGeom prst="rect">
            <a:avLst/>
          </a:prstGeom>
          <a:noFill/>
        </p:spPr>
        <p:txBody>
          <a:bodyPr wrap="square" anchor="ctr" lIns="36576" rIns="36576">
            <a:spAutoFit/>
          </a:bodyPr>
          <a:lstStyle/>
          <a:p>
            <a:pPr algn="l">
              <a:spcAft>
                <a:spcPts val="600"/>
              </a:spcAft>
            </a:pPr>
            <a:r>
              <a:rPr sz="1800" b="1">
                <a:solidFill>
                  <a:srgbClr val="E6ECFF"/>
                </a:solidFill>
                <a:latin typeface="Calibri"/>
              </a:rPr>
              <a:t>Never in a log</a:t>
            </a:r>
          </a:p>
        </p:txBody>
      </p:sp>
      <p:pic>
        <p:nvPicPr>
          <p:cNvPr id="25" name="Picture 24" descr="user-E6ECFF.png"/>
          <p:cNvPicPr>
            <a:picLocks noChangeAspect="1"/>
          </p:cNvPicPr>
          <p:nvPr/>
        </p:nvPicPr>
        <p:blipFill>
          <a:blip r:embed="rId8"/>
          <a:stretch>
            <a:fillRect/>
          </a:stretch>
        </p:blipFill>
        <p:spPr>
          <a:xfrm>
            <a:off x="868680" y="4206240"/>
            <a:ext cx="548640" cy="548640"/>
          </a:xfrm>
          <a:prstGeom prst="rect">
            <a:avLst/>
          </a:prstGeom>
        </p:spPr>
      </p:pic>
      <p:sp>
        <p:nvSpPr>
          <p:cNvPr id="26" name="TextBox 25"/>
          <p:cNvSpPr txBox="1"/>
          <p:nvPr/>
        </p:nvSpPr>
        <p:spPr>
          <a:xfrm>
            <a:off x="594360" y="4800600"/>
            <a:ext cx="1097280" cy="411480"/>
          </a:xfrm>
          <a:prstGeom prst="rect">
            <a:avLst/>
          </a:prstGeom>
          <a:noFill/>
        </p:spPr>
        <p:txBody>
          <a:bodyPr wrap="square" anchor="t" lIns="36576" rIns="36576">
            <a:spAutoFit/>
          </a:bodyPr>
          <a:lstStyle/>
          <a:p>
            <a:pPr algn="ctr">
              <a:spcAft>
                <a:spcPts val="600"/>
              </a:spcAft>
            </a:pPr>
            <a:r>
              <a:rPr sz="1800" b="1">
                <a:solidFill>
                  <a:srgbClr val="E6ECFF"/>
                </a:solidFill>
                <a:latin typeface="Calibri"/>
              </a:rPr>
              <a:t>Mom</a:t>
            </a:r>
          </a:p>
        </p:txBody>
      </p:sp>
      <p:pic>
        <p:nvPicPr>
          <p:cNvPr id="27" name="Picture 26" descr="user-E6ECFF.png"/>
          <p:cNvPicPr>
            <a:picLocks noChangeAspect="1"/>
          </p:cNvPicPr>
          <p:nvPr/>
        </p:nvPicPr>
        <p:blipFill>
          <a:blip r:embed="rId8"/>
          <a:stretch>
            <a:fillRect/>
          </a:stretch>
        </p:blipFill>
        <p:spPr>
          <a:xfrm>
            <a:off x="5074920" y="4206240"/>
            <a:ext cx="548640" cy="548640"/>
          </a:xfrm>
          <a:prstGeom prst="rect">
            <a:avLst/>
          </a:prstGeom>
        </p:spPr>
      </p:pic>
      <p:sp>
        <p:nvSpPr>
          <p:cNvPr id="28" name="TextBox 27"/>
          <p:cNvSpPr txBox="1"/>
          <p:nvPr/>
        </p:nvSpPr>
        <p:spPr>
          <a:xfrm>
            <a:off x="4800600" y="4800600"/>
            <a:ext cx="1097280" cy="411480"/>
          </a:xfrm>
          <a:prstGeom prst="rect">
            <a:avLst/>
          </a:prstGeom>
          <a:noFill/>
        </p:spPr>
        <p:txBody>
          <a:bodyPr wrap="square" anchor="t" lIns="36576" rIns="36576">
            <a:spAutoFit/>
          </a:bodyPr>
          <a:lstStyle/>
          <a:p>
            <a:pPr algn="ctr">
              <a:spcAft>
                <a:spcPts val="600"/>
              </a:spcAft>
            </a:pPr>
            <a:r>
              <a:rPr sz="1800" b="1">
                <a:solidFill>
                  <a:srgbClr val="E6ECFF"/>
                </a:solidFill>
                <a:latin typeface="Calibri"/>
              </a:rPr>
              <a:t>Asish</a:t>
            </a:r>
          </a:p>
        </p:txBody>
      </p:sp>
      <p:sp>
        <p:nvSpPr>
          <p:cNvPr id="29" name="Right Arrow 28"/>
          <p:cNvSpPr/>
          <p:nvPr/>
        </p:nvSpPr>
        <p:spPr>
          <a:xfrm>
            <a:off x="1783080" y="4315968"/>
            <a:ext cx="2926080" cy="237744"/>
          </a:xfrm>
          <a:prstGeom prst="rightArrow">
            <a:avLst/>
          </a:prstGeom>
          <a:solidFill>
            <a:srgbClr val="2EC2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83080" y="3950208"/>
            <a:ext cx="2926080" cy="347472"/>
          </a:xfrm>
          <a:prstGeom prst="rect">
            <a:avLst/>
          </a:prstGeom>
          <a:noFill/>
        </p:spPr>
        <p:txBody>
          <a:bodyPr wrap="square" anchor="t" lIns="36576" rIns="36576">
            <a:spAutoFit/>
          </a:bodyPr>
          <a:lstStyle/>
          <a:p>
            <a:pPr algn="ctr">
              <a:spcAft>
                <a:spcPts val="600"/>
              </a:spcAft>
            </a:pPr>
            <a:r>
              <a:rPr sz="1600" b="0">
                <a:solidFill>
                  <a:srgbClr val="2EC27E"/>
                </a:solidFill>
                <a:latin typeface="Calibri"/>
              </a:rPr>
              <a:t>grants per tool</a:t>
            </a:r>
          </a:p>
        </p:txBody>
      </p:sp>
      <p:sp>
        <p:nvSpPr>
          <p:cNvPr id="31" name="Left Arrow 30"/>
          <p:cNvSpPr/>
          <p:nvPr/>
        </p:nvSpPr>
        <p:spPr>
          <a:xfrm>
            <a:off x="1783080" y="4736592"/>
            <a:ext cx="2926080" cy="237744"/>
          </a:xfrm>
          <a:prstGeom prst="leftArrow">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83080" y="4992624"/>
            <a:ext cx="2926080" cy="347472"/>
          </a:xfrm>
          <a:prstGeom prst="rect">
            <a:avLst/>
          </a:prstGeom>
          <a:noFill/>
        </p:spPr>
        <p:txBody>
          <a:bodyPr wrap="square" anchor="t" lIns="36576" rIns="36576">
            <a:spAutoFit/>
          </a:bodyPr>
          <a:lstStyle/>
          <a:p>
            <a:pPr algn="ctr">
              <a:spcAft>
                <a:spcPts val="600"/>
              </a:spcAft>
            </a:pPr>
            <a:r>
              <a:rPr sz="1600" b="0">
                <a:solidFill>
                  <a:srgbClr val="F4A261"/>
                </a:solidFill>
                <a:latin typeface="Calibri"/>
              </a:rPr>
              <a:t>revokes any time</a:t>
            </a:r>
          </a:p>
        </p:txBody>
      </p:sp>
      <p:sp>
        <p:nvSpPr>
          <p:cNvPr id="33" name="TextBox 32"/>
          <p:cNvSpPr txBox="1"/>
          <p:nvPr/>
        </p:nvSpPr>
        <p:spPr>
          <a:xfrm>
            <a:off x="6675120" y="3950208"/>
            <a:ext cx="4937760" cy="347472"/>
          </a:xfrm>
          <a:prstGeom prst="rect">
            <a:avLst/>
          </a:prstGeom>
          <a:noFill/>
        </p:spPr>
        <p:txBody>
          <a:bodyPr wrap="square" anchor="t" lIns="36576" rIns="36576">
            <a:spAutoFit/>
          </a:bodyPr>
          <a:lstStyle/>
          <a:p>
            <a:pPr algn="l">
              <a:spcAft>
                <a:spcPts val="600"/>
              </a:spcAft>
            </a:pPr>
            <a:r>
              <a:rPr sz="1300" b="1">
                <a:solidFill>
                  <a:srgbClr val="4CC9F0"/>
                </a:solidFill>
                <a:latin typeface="Calibri"/>
              </a:rPr>
              <a:t>AUDIT, BEFORE EVERY ANSWER</a:t>
            </a:r>
          </a:p>
        </p:txBody>
      </p:sp>
      <p:sp>
        <p:nvSpPr>
          <p:cNvPr id="34" name="Rounded Rectangle 33"/>
          <p:cNvSpPr/>
          <p:nvPr/>
        </p:nvSpPr>
        <p:spPr>
          <a:xfrm>
            <a:off x="6675120"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343400"/>
            <a:ext cx="731520" cy="640080"/>
          </a:xfrm>
          <a:prstGeom prst="rect">
            <a:avLst/>
          </a:prstGeom>
          <a:noFill/>
        </p:spPr>
        <p:txBody>
          <a:bodyPr wrap="square" anchor="ctr" lIns="36576" rIns="36576">
            <a:spAutoFit/>
          </a:bodyPr>
          <a:lstStyle/>
          <a:p>
            <a:pPr algn="ctr">
              <a:spcAft>
                <a:spcPts val="600"/>
              </a:spcAft>
            </a:pPr>
            <a:r>
              <a:rPr sz="1800" b="1">
                <a:solidFill>
                  <a:srgbClr val="E6ECFF"/>
                </a:solidFill>
                <a:latin typeface="Calibri"/>
              </a:rPr>
              <a:t>#1</a:t>
            </a:r>
          </a:p>
        </p:txBody>
      </p:sp>
      <p:cxnSp>
        <p:nvCxnSpPr>
          <p:cNvPr id="36" name="Connector 35"/>
          <p:cNvCxnSpPr/>
          <p:nvPr/>
        </p:nvCxnSpPr>
        <p:spPr>
          <a:xfrm>
            <a:off x="7406640"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699248"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99248" y="4343400"/>
            <a:ext cx="731520" cy="640080"/>
          </a:xfrm>
          <a:prstGeom prst="rect">
            <a:avLst/>
          </a:prstGeom>
          <a:noFill/>
        </p:spPr>
        <p:txBody>
          <a:bodyPr wrap="square" anchor="ctr" lIns="36576" rIns="36576">
            <a:spAutoFit/>
          </a:bodyPr>
          <a:lstStyle/>
          <a:p>
            <a:pPr algn="ctr">
              <a:spcAft>
                <a:spcPts val="600"/>
              </a:spcAft>
            </a:pPr>
            <a:r>
              <a:rPr sz="1800" b="1">
                <a:solidFill>
                  <a:srgbClr val="E6ECFF"/>
                </a:solidFill>
                <a:latin typeface="Calibri"/>
              </a:rPr>
              <a:t>#2</a:t>
            </a:r>
          </a:p>
        </p:txBody>
      </p:sp>
      <p:cxnSp>
        <p:nvCxnSpPr>
          <p:cNvPr id="39" name="Connector 38"/>
          <p:cNvCxnSpPr/>
          <p:nvPr/>
        </p:nvCxnSpPr>
        <p:spPr>
          <a:xfrm>
            <a:off x="8430768"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723376"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3376" y="4343400"/>
            <a:ext cx="731520" cy="640080"/>
          </a:xfrm>
          <a:prstGeom prst="rect">
            <a:avLst/>
          </a:prstGeom>
          <a:noFill/>
        </p:spPr>
        <p:txBody>
          <a:bodyPr wrap="square" anchor="ctr" lIns="36576" rIns="36576">
            <a:spAutoFit/>
          </a:bodyPr>
          <a:lstStyle/>
          <a:p>
            <a:pPr algn="ctr">
              <a:spcAft>
                <a:spcPts val="600"/>
              </a:spcAft>
            </a:pPr>
            <a:r>
              <a:rPr sz="1800" b="1">
                <a:solidFill>
                  <a:srgbClr val="E6ECFF"/>
                </a:solidFill>
                <a:latin typeface="Calibri"/>
              </a:rPr>
              <a:t>#3</a:t>
            </a:r>
          </a:p>
        </p:txBody>
      </p:sp>
      <p:cxnSp>
        <p:nvCxnSpPr>
          <p:cNvPr id="42" name="Connector 41"/>
          <p:cNvCxnSpPr/>
          <p:nvPr/>
        </p:nvCxnSpPr>
        <p:spPr>
          <a:xfrm>
            <a:off x="9454896" y="4663440"/>
            <a:ext cx="292608" cy="0"/>
          </a:xfrm>
          <a:prstGeom prst="line">
            <a:avLst/>
          </a:prstGeom>
          <a:ln w="31750">
            <a:solidFill>
              <a:srgbClr val="4CC9F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747504" y="4343400"/>
            <a:ext cx="731520" cy="64008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47504" y="4343400"/>
            <a:ext cx="731520" cy="640080"/>
          </a:xfrm>
          <a:prstGeom prst="rect">
            <a:avLst/>
          </a:prstGeom>
          <a:noFill/>
        </p:spPr>
        <p:txBody>
          <a:bodyPr wrap="square" anchor="ctr" lIns="36576" rIns="36576">
            <a:spAutoFit/>
          </a:bodyPr>
          <a:lstStyle/>
          <a:p>
            <a:pPr algn="ctr">
              <a:spcAft>
                <a:spcPts val="600"/>
              </a:spcAft>
            </a:pPr>
            <a:r>
              <a:rPr sz="1800" b="1">
                <a:solidFill>
                  <a:srgbClr val="E6ECFF"/>
                </a:solidFill>
                <a:latin typeface="Calibri"/>
              </a:rPr>
              <a:t>#4</a:t>
            </a:r>
          </a:p>
        </p:txBody>
      </p:sp>
      <p:sp>
        <p:nvSpPr>
          <p:cNvPr id="45" name="TextBox 44"/>
          <p:cNvSpPr txBox="1"/>
          <p:nvPr/>
        </p:nvSpPr>
        <p:spPr>
          <a:xfrm>
            <a:off x="10789920" y="4343400"/>
            <a:ext cx="914400" cy="640080"/>
          </a:xfrm>
          <a:prstGeom prst="rect">
            <a:avLst/>
          </a:prstGeom>
          <a:noFill/>
        </p:spPr>
        <p:txBody>
          <a:bodyPr wrap="square" anchor="ctr" lIns="36576" rIns="36576">
            <a:spAutoFit/>
          </a:bodyPr>
          <a:lstStyle/>
          <a:p>
            <a:pPr algn="l">
              <a:spcAft>
                <a:spcPts val="600"/>
              </a:spcAft>
            </a:pPr>
            <a:r>
              <a:rPr sz="1400" b="0">
                <a:solidFill>
                  <a:srgbClr val="9AA8CC"/>
                </a:solidFill>
                <a:latin typeface="Calibri"/>
              </a:rPr>
              <a:t>hash-linked</a:t>
            </a:r>
          </a:p>
        </p:txBody>
      </p:sp>
      <p:sp>
        <p:nvSpPr>
          <p:cNvPr id="46" name="Rounded Rectangle 45"/>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596128"/>
            <a:ext cx="10637215" cy="566928"/>
          </a:xfrm>
          <a:prstGeom prst="rect">
            <a:avLst/>
          </a:prstGeom>
          <a:noFill/>
        </p:spPr>
        <p:txBody>
          <a:bodyPr wrap="square" anchor="ctr" lIns="36576" rIns="36576">
            <a:spAutoFit/>
          </a:bodyPr>
          <a:lstStyle/>
          <a:p>
            <a:pPr algn="l">
              <a:spcAft>
                <a:spcPts val="600"/>
              </a:spcAft>
            </a:pPr>
            <a:r>
              <a:rPr sz="1800" b="0">
                <a:solidFill>
                  <a:srgbClr val="E6ECFF"/>
                </a:solidFill>
                <a:latin typeface="Calibri"/>
              </a:rPr>
              <a:t>TRADE-OFF   Binding fails on Wi-Fi</a:t>
            </a:r>
          </a:p>
        </p:txBody>
      </p:sp>
      <p:cxnSp>
        <p:nvCxnSpPr>
          <p:cNvPr id="48" name="Connector 47"/>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07  •  Ask the Tower  •  Decisions</a:t>
            </a:r>
          </a:p>
        </p:txBody>
      </p:sp>
      <p:sp>
        <p:nvSpPr>
          <p:cNvPr id="50" name="Rectangle 49"/>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793992"/>
            <a:ext cx="7111822"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slide-07.mp3">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12"/>
          <a:stretch>
            <a:fillRect/>
          </a:stretch>
        </p:blipFill>
        <p:spPr>
          <a:xfrm>
            <a:off x="11368735" y="6382512"/>
            <a:ext cx="274320" cy="274320"/>
          </a:xfrm>
          <a:prstGeom prst="rect">
            <a:avLst/>
          </a:prstGeom>
        </p:spPr>
      </p:pic>
    </p:spTree>
  </p:cSld>
  <p:clrMapOvr>
    <a:masterClrMapping/>
  </p:clrMapOvr>
  <p:transition spd="med" advClick="1" advTm="2915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156" fill="hold"/>
                                        <p:tgtEl>
                                          <p:spTgt spid="5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52"/>
                </p:tgtEl>
              </p:cMediaNode>
            </p:audi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list-check-4CC9F0.png"/>
          <p:cNvPicPr>
            <a:picLocks noChangeAspect="1"/>
          </p:cNvPicPr>
          <p:nvPr/>
        </p:nvPicPr>
        <p:blipFill>
          <a:blip r:embed="rId2"/>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4: deterministic policy, fixed words</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61872"/>
            <a:ext cx="6675120" cy="1325880"/>
          </a:xfrm>
          <a:prstGeom prst="rect">
            <a:avLst/>
          </a:prstGeom>
          <a:noFill/>
        </p:spPr>
        <p:txBody>
          <a:bodyPr wrap="square" anchor="t" lIns="36576" rIns="36576">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Plain code decides, then picks a fixed sentence</a:t>
            </a:r>
          </a:p>
          <a:p>
            <a:pPr algn="l">
              <a:spcAft>
                <a:spcPts val="300"/>
              </a:spcAft>
            </a:pPr>
            <a:r>
              <a:rPr sz="1800" b="0">
                <a:solidFill>
                  <a:srgbClr val="9AA8CC"/>
                </a:solidFill>
                <a:latin typeface="Calibri"/>
              </a:rPr>
              <a:t>Safety advice must never drift</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x-F4A261.png"/>
          <p:cNvPicPr>
            <a:picLocks noChangeAspect="1"/>
          </p:cNvPicPr>
          <p:nvPr/>
        </p:nvPicPr>
        <p:blipFill>
          <a:blip r:embed="rId3"/>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anchor="ctr" lIns="36576" rIns="36576">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A model decides, or paraphrases the advice</a:t>
            </a:r>
          </a:p>
        </p:txBody>
      </p:sp>
      <p:graphicFrame>
        <p:nvGraphicFramePr>
          <p:cNvPr id="10" name="Table 9"/>
          <p:cNvGraphicFramePr>
            <a:graphicFrameLocks noGrp="1"/>
          </p:cNvGraphicFramePr>
          <p:nvPr/>
        </p:nvGraphicFramePr>
        <p:xfrm>
          <a:off x="548640" y="2788920"/>
          <a:ext cx="11094415" cy="2633472"/>
        </p:xfrm>
        <a:graphic>
          <a:graphicData uri="http://schemas.openxmlformats.org/drawingml/2006/table">
            <a:tbl>
              <a:tblPr firstRow="1" bandRow="1">
                <a:tableStyleId>{5C22544A-7EE6-4342-B048-85BDC9FD1C3A}</a:tableStyleId>
              </a:tblPr>
              <a:tblGrid>
                <a:gridCol w="3017520"/>
                <a:gridCol w="8076895"/>
              </a:tblGrid>
              <a:tr h="384048">
                <a:tc>
                  <a:txBody>
                    <a:bodyPr wrap="square"/>
                    <a:lstStyle/>
                    <a:p>
                      <a:r>
                        <a:rPr sz="1400" b="1">
                          <a:solidFill>
                            <a:srgbClr val="4CC9F0"/>
                          </a:solidFill>
                          <a:latin typeface="Calibri"/>
                        </a:rPr>
                        <a:t>Reason code</a:t>
                      </a:r>
                    </a:p>
                  </a:txBody>
                  <a:tcPr marL="109728" marR="109728" marT="36576" marB="36576" anchor="ctr">
                    <a:solidFill>
                      <a:srgbClr val="26365C"/>
                    </a:solidFill>
                  </a:tcPr>
                </a:tc>
                <a:tc>
                  <a:txBody>
                    <a:bodyPr wrap="square"/>
                    <a:lstStyle/>
                    <a:p>
                      <a:r>
                        <a:rPr sz="1400" b="1">
                          <a:solidFill>
                            <a:srgbClr val="4CC9F0"/>
                          </a:solidFill>
                          <a:latin typeface="Calibri"/>
                        </a:rPr>
                        <a:t>Spoken, word for word (phrasing.py)</a:t>
                      </a:r>
                    </a:p>
                  </a:txBody>
                  <a:tcPr marL="109728" marR="109728" marT="36576" marB="36576" anchor="ctr">
                    <a:solidFill>
                      <a:srgbClr val="26365C"/>
                    </a:solidFill>
                  </a:tcPr>
                </a:tc>
              </a:tr>
              <a:tr h="896112">
                <a:tc>
                  <a:txBody>
                    <a:bodyPr wrap="square"/>
                    <a:lstStyle/>
                    <a:p>
                      <a:r>
                        <a:rPr sz="1600" b="1">
                          <a:solidFill>
                            <a:srgbClr val="4CC9F0"/>
                          </a:solidFill>
                          <a:latin typeface="Consolas"/>
                        </a:rPr>
                        <a:t>SIM_SWAPPED_RECENT</a:t>
                      </a:r>
                    </a:p>
                  </a:txBody>
                  <a:tcPr marL="109728" marR="109728" marT="36576" marB="36576" anchor="ctr">
                    <a:solidFill>
                      <a:srgbClr val="141F38"/>
                    </a:solidFill>
                  </a:tcPr>
                </a:tc>
                <a:tc>
                  <a:txBody>
                    <a:bodyPr wrap="square"/>
                    <a:lstStyle/>
                    <a:p>
                      <a:r>
                        <a:rPr sz="1800" b="0">
                          <a:solidFill>
                            <a:srgbClr val="E6ECFF"/>
                          </a:solidFill>
                          <a:latin typeface="Calibri"/>
                        </a:rPr>
                        <a:t>“Your SIM was moved to another device at ‹time›. If that wasn't you, don't call from your phone — I can call your carrier's support line for you from here.”</a:t>
                      </a:r>
                    </a:p>
                  </a:txBody>
                  <a:tcPr marL="109728" marR="109728" marT="36576" marB="36576" anchor="ctr">
                    <a:solidFill>
                      <a:srgbClr val="141F38"/>
                    </a:solidFill>
                  </a:tcPr>
                </a:tc>
              </a:tr>
              <a:tr h="896112">
                <a:tc>
                  <a:txBody>
                    <a:bodyPr wrap="square"/>
                    <a:lstStyle/>
                    <a:p>
                      <a:r>
                        <a:rPr sz="1600" b="1">
                          <a:solidFill>
                            <a:srgbClr val="4CC9F0"/>
                          </a:solidFill>
                          <a:latin typeface="Consolas"/>
                        </a:rPr>
                        <a:t>CALL_FORWARDING_SET</a:t>
                      </a:r>
                    </a:p>
                  </a:txBody>
                  <a:tcPr marL="109728" marR="109728" marT="36576" marB="36576" anchor="ctr">
                    <a:solidFill>
                      <a:srgbClr val="141F38"/>
                    </a:solidFill>
                  </a:tcPr>
                </a:tc>
                <a:tc>
                  <a:txBody>
                    <a:bodyPr wrap="square"/>
                    <a:lstStyle/>
                    <a:p>
                      <a:r>
                        <a:rPr sz="1800" b="0">
                          <a:solidFill>
                            <a:srgbClr val="E6ECFF"/>
                          </a:solidFill>
                          <a:latin typeface="Calibri"/>
                        </a:rPr>
                        <a:t>“All your calls have been forwarding since ‹time›. If you didn't set that, I can call your carrier's support line for you from here.”</a:t>
                      </a:r>
                    </a:p>
                  </a:txBody>
                  <a:tcPr marL="109728" marR="109728" marT="36576" marB="36576" anchor="ctr">
                    <a:solidFill>
                      <a:srgbClr val="141F38"/>
                    </a:solidFill>
                  </a:tcPr>
                </a:tc>
              </a:tr>
              <a:tr h="457200">
                <a:tc>
                  <a:txBody>
                    <a:bodyPr wrap="square"/>
                    <a:lstStyle/>
                    <a:p>
                      <a:r>
                        <a:rPr sz="1600" b="1">
                          <a:solidFill>
                            <a:srgbClr val="4CC9F0"/>
                          </a:solidFill>
                          <a:latin typeface="Consolas"/>
                        </a:rPr>
                        <a:t>NO_CONSENT</a:t>
                      </a:r>
                    </a:p>
                  </a:txBody>
                  <a:tcPr marL="109728" marR="109728" marT="36576" marB="36576" anchor="ctr">
                    <a:solidFill>
                      <a:srgbClr val="141F38"/>
                    </a:solidFill>
                  </a:tcPr>
                </a:tc>
                <a:tc>
                  <a:txBody>
                    <a:bodyPr wrap="square"/>
                    <a:lstStyle/>
                    <a:p>
                      <a:r>
                        <a:rPr sz="1800" b="0">
                          <a:solidFill>
                            <a:srgbClr val="E6ECFF"/>
                          </a:solidFill>
                          <a:latin typeface="Calibri"/>
                        </a:rPr>
                        <a:t>“‹Name› hasn't shared that with you.”</a:t>
                      </a:r>
                    </a:p>
                  </a:txBody>
                  <a:tcPr marL="109728" marR="109728" marT="36576" marB="36576" anchor="ctr">
                    <a:solidFill>
                      <a:srgbClr val="141F38"/>
                    </a:solidFill>
                  </a:tcPr>
                </a:tc>
              </a:tr>
            </a:tbl>
          </a:graphicData>
        </a:graphic>
      </p:graphicFrame>
      <p:sp>
        <p:nvSpPr>
          <p:cNvPr id="11" name="Rounded Rectangle 10"/>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37215" cy="566928"/>
          </a:xfrm>
          <a:prstGeom prst="rect">
            <a:avLst/>
          </a:prstGeom>
          <a:noFill/>
        </p:spPr>
        <p:txBody>
          <a:bodyPr wrap="square" anchor="ctr" lIns="36576" rIns="36576">
            <a:spAutoFit/>
          </a:bodyPr>
          <a:lstStyle/>
          <a:p>
            <a:pPr algn="l">
              <a:spcAft>
                <a:spcPts val="600"/>
              </a:spcAft>
            </a:pPr>
            <a:r>
              <a:rPr sz="1800" b="0">
                <a:solidFill>
                  <a:srgbClr val="E6ECFF"/>
                </a:solidFill>
                <a:latin typeface="Calibri"/>
              </a:rPr>
              <a:t>TRADE-OFF   Fixed wording can sound stiff</a:t>
            </a:r>
          </a:p>
        </p:txBody>
      </p:sp>
      <p:cxnSp>
        <p:nvCxnSpPr>
          <p:cNvPr id="13" name="Connector 12"/>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08  •  Ask the Tower  •  Decisions</a:t>
            </a:r>
          </a:p>
        </p:txBody>
      </p:sp>
      <p:sp>
        <p:nvSpPr>
          <p:cNvPr id="15" name="Rectangle 14"/>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793992"/>
            <a:ext cx="8127796"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lide-08.mp3">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11368735" y="6382512"/>
            <a:ext cx="274320" cy="274320"/>
          </a:xfrm>
          <a:prstGeom prst="rect">
            <a:avLst/>
          </a:prstGeom>
        </p:spPr>
      </p:pic>
    </p:spTree>
  </p:cSld>
  <p:clrMapOvr>
    <a:masterClrMapping/>
  </p:clrMapOvr>
  <p:transition spd="med" advClick="1" advTm="289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999"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7"/>
                </p:tgtEl>
              </p:cMediaNode>
            </p:audi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stopwatch-4CC9F0.png"/>
          <p:cNvPicPr>
            <a:picLocks noChangeAspect="1"/>
          </p:cNvPicPr>
          <p:nvPr/>
        </p:nvPicPr>
        <p:blipFill>
          <a:blip r:embed="rId2"/>
          <a:stretch>
            <a:fillRect/>
          </a:stretch>
        </p:blipFill>
        <p:spPr>
          <a:xfrm>
            <a:off x="548640" y="384048"/>
            <a:ext cx="566928" cy="566928"/>
          </a:xfrm>
          <a:prstGeom prst="rect">
            <a:avLst/>
          </a:prstGeom>
        </p:spPr>
      </p:pic>
      <p:sp>
        <p:nvSpPr>
          <p:cNvPr id="3" name="TextBox 2"/>
          <p:cNvSpPr txBox="1"/>
          <p:nvPr/>
        </p:nvSpPr>
        <p:spPr>
          <a:xfrm>
            <a:off x="1280160" y="274320"/>
            <a:ext cx="1036289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5: latency by design</a:t>
            </a:r>
          </a:p>
        </p:txBody>
      </p:sp>
      <p:sp>
        <p:nvSpPr>
          <p:cNvPr id="4" name="Rounded Rectangle 3"/>
          <p:cNvSpPr/>
          <p:nvPr/>
        </p:nvSpPr>
        <p:spPr>
          <a:xfrm>
            <a:off x="548640" y="1188720"/>
            <a:ext cx="7086600" cy="1463040"/>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61872"/>
            <a:ext cx="6675120" cy="1325880"/>
          </a:xfrm>
          <a:prstGeom prst="rect">
            <a:avLst/>
          </a:prstGeom>
          <a:noFill/>
        </p:spPr>
        <p:txBody>
          <a:bodyPr wrap="square" anchor="t" lIns="36576" rIns="36576">
            <a:spAutoFit/>
          </a:bodyPr>
          <a:lstStyle/>
          <a:p>
            <a:pPr algn="l">
              <a:spcAft>
                <a:spcPts val="300"/>
              </a:spcAft>
            </a:pPr>
            <a:r>
              <a:rPr sz="1300" b="1">
                <a:solidFill>
                  <a:srgbClr val="4CC9F0"/>
                </a:solidFill>
                <a:latin typeface="Calibri"/>
              </a:rPr>
              <a:t>DECISION</a:t>
            </a:r>
          </a:p>
          <a:p>
            <a:pPr algn="l">
              <a:spcAft>
                <a:spcPts val="300"/>
              </a:spcAft>
            </a:pPr>
            <a:r>
              <a:rPr sz="2200" b="1">
                <a:solidFill>
                  <a:srgbClr val="E6ECFF"/>
                </a:solidFill>
                <a:latin typeface="Calibri"/>
              </a:rPr>
              <a:t>Budget the call; skip the carrier when we can</a:t>
            </a:r>
          </a:p>
          <a:p>
            <a:pPr algn="l">
              <a:spcAft>
                <a:spcPts val="300"/>
              </a:spcAft>
            </a:pPr>
            <a:r>
              <a:rPr sz="1800" b="0">
                <a:solidFill>
                  <a:srgbClr val="9AA8CC"/>
                </a:solidFill>
                <a:latin typeface="Calibri"/>
              </a:rPr>
              <a:t>A voice answer has to feel instant</a:t>
            </a:r>
          </a:p>
        </p:txBody>
      </p:sp>
      <p:sp>
        <p:nvSpPr>
          <p:cNvPr id="6" name="Rounded Rectangle 5"/>
          <p:cNvSpPr/>
          <p:nvPr/>
        </p:nvSpPr>
        <p:spPr>
          <a:xfrm>
            <a:off x="7818120" y="1188720"/>
            <a:ext cx="3822191" cy="146304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x-F4A261.png"/>
          <p:cNvPicPr>
            <a:picLocks noChangeAspect="1"/>
          </p:cNvPicPr>
          <p:nvPr/>
        </p:nvPicPr>
        <p:blipFill>
          <a:blip r:embed="rId3"/>
          <a:stretch>
            <a:fillRect/>
          </a:stretch>
        </p:blipFill>
        <p:spPr>
          <a:xfrm>
            <a:off x="8001000" y="1325880"/>
            <a:ext cx="384048" cy="384048"/>
          </a:xfrm>
          <a:prstGeom prst="rect">
            <a:avLst/>
          </a:prstGeom>
        </p:spPr>
      </p:pic>
      <p:sp>
        <p:nvSpPr>
          <p:cNvPr id="8" name="TextBox 7"/>
          <p:cNvSpPr txBox="1"/>
          <p:nvPr/>
        </p:nvSpPr>
        <p:spPr>
          <a:xfrm>
            <a:off x="8458200" y="1298448"/>
            <a:ext cx="3108960" cy="365760"/>
          </a:xfrm>
          <a:prstGeom prst="rect">
            <a:avLst/>
          </a:prstGeom>
          <a:noFill/>
        </p:spPr>
        <p:txBody>
          <a:bodyPr wrap="square" anchor="ctr" lIns="36576" rIns="36576">
            <a:spAutoFit/>
          </a:bodyPr>
          <a:lstStyle/>
          <a:p>
            <a:pPr algn="l">
              <a:spcAft>
                <a:spcPts val="600"/>
              </a:spcAft>
            </a:pPr>
            <a:r>
              <a:rPr sz="1300" b="1">
                <a:solidFill>
                  <a:srgbClr val="F4A261"/>
                </a:solidFill>
                <a:latin typeface="Calibri"/>
              </a:rPr>
              <a:t>REJECTED</a:t>
            </a:r>
          </a:p>
        </p:txBody>
      </p:sp>
      <p:sp>
        <p:nvSpPr>
          <p:cNvPr id="9" name="TextBox 8"/>
          <p:cNvSpPr txBox="1"/>
          <p:nvPr/>
        </p:nvSpPr>
        <p:spPr>
          <a:xfrm>
            <a:off x="8046720" y="1737360"/>
            <a:ext cx="3474720" cy="868680"/>
          </a:xfrm>
          <a:prstGeom prst="rect">
            <a:avLst/>
          </a:prstGeom>
          <a:noFill/>
        </p:spPr>
        <p:txBody>
          <a:bodyPr wrap="square" anchor="t" lIns="36576" rIns="36576">
            <a:spAutoFit/>
          </a:bodyPr>
          <a:lstStyle/>
          <a:p>
            <a:pPr algn="l">
              <a:spcAft>
                <a:spcPts val="600"/>
              </a:spcAft>
            </a:pPr>
            <a:r>
              <a:rPr sz="1800" b="0">
                <a:solidFill>
                  <a:srgbClr val="E6ECFF"/>
                </a:solidFill>
                <a:latin typeface="Calibri"/>
              </a:rPr>
              <a:t>A fresh Gateway session per call, ~460 ms</a:t>
            </a:r>
          </a:p>
        </p:txBody>
      </p:sp>
      <p:sp>
        <p:nvSpPr>
          <p:cNvPr id="10" name="Rectangle 9"/>
          <p:cNvSpPr/>
          <p:nvPr/>
        </p:nvSpPr>
        <p:spPr>
          <a:xfrm>
            <a:off x="822960" y="3520440"/>
            <a:ext cx="6254496" cy="54864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77456" y="3520440"/>
            <a:ext cx="2918764" cy="548640"/>
          </a:xfrm>
          <a:prstGeom prst="rect">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520440"/>
            <a:ext cx="6254496" cy="548640"/>
          </a:xfrm>
          <a:prstGeom prst="rect">
            <a:avLst/>
          </a:prstGeom>
          <a:noFill/>
        </p:spPr>
        <p:txBody>
          <a:bodyPr wrap="square" anchor="ctr" lIns="36576" rIns="36576">
            <a:spAutoFit/>
          </a:bodyPr>
          <a:lstStyle/>
          <a:p>
            <a:pPr algn="ctr">
              <a:spcAft>
                <a:spcPts val="600"/>
              </a:spcAft>
            </a:pPr>
            <a:r>
              <a:rPr sz="1800" b="1">
                <a:solidFill>
                  <a:srgbClr val="0B1220"/>
                </a:solidFill>
                <a:latin typeface="Calibri"/>
              </a:rPr>
              <a:t>≈ 360 ms</a:t>
            </a:r>
          </a:p>
        </p:txBody>
      </p:sp>
      <p:sp>
        <p:nvSpPr>
          <p:cNvPr id="13" name="TextBox 12"/>
          <p:cNvSpPr txBox="1"/>
          <p:nvPr/>
        </p:nvSpPr>
        <p:spPr>
          <a:xfrm>
            <a:off x="7077456" y="3520440"/>
            <a:ext cx="2918764" cy="548640"/>
          </a:xfrm>
          <a:prstGeom prst="rect">
            <a:avLst/>
          </a:prstGeom>
          <a:noFill/>
        </p:spPr>
        <p:txBody>
          <a:bodyPr wrap="square" anchor="ctr" lIns="36576" rIns="36576">
            <a:spAutoFit/>
          </a:bodyPr>
          <a:lstStyle/>
          <a:p>
            <a:pPr algn="ctr">
              <a:spcAft>
                <a:spcPts val="600"/>
              </a:spcAft>
            </a:pPr>
            <a:r>
              <a:rPr sz="1800" b="1">
                <a:solidFill>
                  <a:srgbClr val="0B1220"/>
                </a:solidFill>
                <a:latin typeface="Calibri"/>
              </a:rPr>
              <a:t>≈ 168</a:t>
            </a:r>
          </a:p>
        </p:txBody>
      </p:sp>
      <p:sp>
        <p:nvSpPr>
          <p:cNvPr id="14" name="TextBox 13"/>
          <p:cNvSpPr txBox="1"/>
          <p:nvPr/>
        </p:nvSpPr>
        <p:spPr>
          <a:xfrm>
            <a:off x="822960" y="3081528"/>
            <a:ext cx="6254496" cy="411480"/>
          </a:xfrm>
          <a:prstGeom prst="rect">
            <a:avLst/>
          </a:prstGeom>
          <a:noFill/>
        </p:spPr>
        <p:txBody>
          <a:bodyPr wrap="square" anchor="t" lIns="36576" rIns="36576">
            <a:spAutoFit/>
          </a:bodyPr>
          <a:lstStyle/>
          <a:p>
            <a:pPr algn="l">
              <a:spcAft>
                <a:spcPts val="600"/>
              </a:spcAft>
            </a:pPr>
            <a:r>
              <a:rPr sz="1600" b="0">
                <a:solidFill>
                  <a:srgbClr val="9AA8CC"/>
                </a:solidFill>
                <a:latin typeface="Calibri"/>
              </a:rPr>
              <a:t>Fixed cost: network, authorizer, store, audit</a:t>
            </a:r>
          </a:p>
        </p:txBody>
      </p:sp>
      <p:sp>
        <p:nvSpPr>
          <p:cNvPr id="15" name="TextBox 14"/>
          <p:cNvSpPr txBox="1"/>
          <p:nvPr/>
        </p:nvSpPr>
        <p:spPr>
          <a:xfrm>
            <a:off x="5789980" y="4114800"/>
            <a:ext cx="4206240" cy="411480"/>
          </a:xfrm>
          <a:prstGeom prst="rect">
            <a:avLst/>
          </a:prstGeom>
          <a:noFill/>
        </p:spPr>
        <p:txBody>
          <a:bodyPr wrap="square" anchor="t" lIns="36576" rIns="36576">
            <a:spAutoFit/>
          </a:bodyPr>
          <a:lstStyle/>
          <a:p>
            <a:pPr algn="r">
              <a:spcAft>
                <a:spcPts val="600"/>
              </a:spcAft>
            </a:pPr>
            <a:r>
              <a:rPr sz="1600" b="0">
                <a:solidFill>
                  <a:srgbClr val="F4A261"/>
                </a:solidFill>
                <a:latin typeface="Calibri"/>
              </a:rPr>
              <a:t>Carrier calls, 300 ms timeout each</a:t>
            </a:r>
          </a:p>
        </p:txBody>
      </p:sp>
      <p:cxnSp>
        <p:nvCxnSpPr>
          <p:cNvPr id="16" name="Connector 15"/>
          <p:cNvCxnSpPr/>
          <p:nvPr/>
        </p:nvCxnSpPr>
        <p:spPr>
          <a:xfrm>
            <a:off x="7772400" y="2971800"/>
            <a:ext cx="0" cy="1097280"/>
          </a:xfrm>
          <a:prstGeom prst="line">
            <a:avLst/>
          </a:prstGeom>
          <a:ln w="25400">
            <a:solidFill>
              <a:srgbClr val="E6ECFF"/>
            </a:solidFill>
            <a:prstDash val="sysDot"/>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0" y="2624328"/>
            <a:ext cx="2743200" cy="365760"/>
          </a:xfrm>
          <a:prstGeom prst="rect">
            <a:avLst/>
          </a:prstGeom>
          <a:noFill/>
        </p:spPr>
        <p:txBody>
          <a:bodyPr wrap="square" anchor="t" lIns="36576" rIns="36576">
            <a:spAutoFit/>
          </a:bodyPr>
          <a:lstStyle/>
          <a:p>
            <a:pPr algn="ctr">
              <a:spcAft>
                <a:spcPts val="600"/>
              </a:spcAft>
            </a:pPr>
            <a:r>
              <a:rPr sz="1600" b="1">
                <a:solidFill>
                  <a:srgbClr val="E6ECFF"/>
                </a:solidFill>
                <a:latin typeface="Calibri"/>
              </a:rPr>
              <a:t>Target p95 400 ms</a:t>
            </a:r>
          </a:p>
        </p:txBody>
      </p:sp>
      <p:sp>
        <p:nvSpPr>
          <p:cNvPr id="18" name="TextBox 17"/>
          <p:cNvSpPr txBox="1"/>
          <p:nvPr/>
        </p:nvSpPr>
        <p:spPr>
          <a:xfrm>
            <a:off x="10087660" y="3337560"/>
            <a:ext cx="1555394" cy="502920"/>
          </a:xfrm>
          <a:prstGeom prst="rect">
            <a:avLst/>
          </a:prstGeom>
          <a:noFill/>
        </p:spPr>
        <p:txBody>
          <a:bodyPr wrap="square" anchor="ctr" lIns="36576" rIns="36576">
            <a:spAutoFit/>
          </a:bodyPr>
          <a:lstStyle/>
          <a:p>
            <a:pPr algn="l">
              <a:spcAft>
                <a:spcPts val="600"/>
              </a:spcAft>
            </a:pPr>
            <a:r>
              <a:rPr sz="2200" b="1">
                <a:solidFill>
                  <a:srgbClr val="F4A261"/>
                </a:solidFill>
                <a:latin typeface="Calibri"/>
              </a:rPr>
              <a:t>528 ms</a:t>
            </a:r>
          </a:p>
        </p:txBody>
      </p:sp>
      <p:sp>
        <p:nvSpPr>
          <p:cNvPr id="19" name="TextBox 18"/>
          <p:cNvSpPr txBox="1"/>
          <p:nvPr/>
        </p:nvSpPr>
        <p:spPr>
          <a:xfrm>
            <a:off x="10087660" y="3794760"/>
            <a:ext cx="1555394" cy="548640"/>
          </a:xfrm>
          <a:prstGeom prst="rect">
            <a:avLst/>
          </a:prstGeom>
          <a:noFill/>
        </p:spPr>
        <p:txBody>
          <a:bodyPr wrap="square" anchor="t" lIns="36576" rIns="36576">
            <a:spAutoFit/>
          </a:bodyPr>
          <a:lstStyle/>
          <a:p>
            <a:pPr algn="l">
              <a:spcAft>
                <a:spcPts val="600"/>
              </a:spcAft>
            </a:pPr>
            <a:r>
              <a:rPr sz="1400" b="0">
                <a:solidFill>
                  <a:srgbClr val="9AA8CC"/>
                </a:solidFill>
                <a:latin typeface="Calibri"/>
              </a:rPr>
              <a:t>line_is_ok p95 on AWS</a:t>
            </a:r>
          </a:p>
        </p:txBody>
      </p:sp>
      <p:sp>
        <p:nvSpPr>
          <p:cNvPr id="20" name="TextBox 19"/>
          <p:cNvSpPr txBox="1"/>
          <p:nvPr/>
        </p:nvSpPr>
        <p:spPr>
          <a:xfrm>
            <a:off x="45720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0</a:t>
            </a:r>
          </a:p>
        </p:txBody>
      </p:sp>
      <p:sp>
        <p:nvSpPr>
          <p:cNvPr id="21" name="TextBox 20"/>
          <p:cNvSpPr txBox="1"/>
          <p:nvPr/>
        </p:nvSpPr>
        <p:spPr>
          <a:xfrm>
            <a:off x="219456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100</a:t>
            </a:r>
          </a:p>
        </p:txBody>
      </p:sp>
      <p:sp>
        <p:nvSpPr>
          <p:cNvPr id="22" name="TextBox 21"/>
          <p:cNvSpPr txBox="1"/>
          <p:nvPr/>
        </p:nvSpPr>
        <p:spPr>
          <a:xfrm>
            <a:off x="393192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200</a:t>
            </a:r>
          </a:p>
        </p:txBody>
      </p:sp>
      <p:sp>
        <p:nvSpPr>
          <p:cNvPr id="23" name="TextBox 22"/>
          <p:cNvSpPr txBox="1"/>
          <p:nvPr/>
        </p:nvSpPr>
        <p:spPr>
          <a:xfrm>
            <a:off x="566928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300</a:t>
            </a:r>
          </a:p>
        </p:txBody>
      </p:sp>
      <p:sp>
        <p:nvSpPr>
          <p:cNvPr id="24" name="TextBox 23"/>
          <p:cNvSpPr txBox="1"/>
          <p:nvPr/>
        </p:nvSpPr>
        <p:spPr>
          <a:xfrm>
            <a:off x="740664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400</a:t>
            </a:r>
          </a:p>
        </p:txBody>
      </p:sp>
      <p:sp>
        <p:nvSpPr>
          <p:cNvPr id="25" name="TextBox 24"/>
          <p:cNvSpPr txBox="1"/>
          <p:nvPr/>
        </p:nvSpPr>
        <p:spPr>
          <a:xfrm>
            <a:off x="914400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500</a:t>
            </a:r>
          </a:p>
        </p:txBody>
      </p:sp>
      <p:sp>
        <p:nvSpPr>
          <p:cNvPr id="26" name="TextBox 25"/>
          <p:cNvSpPr txBox="1"/>
          <p:nvPr/>
        </p:nvSpPr>
        <p:spPr>
          <a:xfrm>
            <a:off x="10881360" y="4507992"/>
            <a:ext cx="731520" cy="274320"/>
          </a:xfrm>
          <a:prstGeom prst="rect">
            <a:avLst/>
          </a:prstGeom>
          <a:noFill/>
        </p:spPr>
        <p:txBody>
          <a:bodyPr wrap="square" anchor="t" lIns="36576" rIns="36576">
            <a:spAutoFit/>
          </a:bodyPr>
          <a:lstStyle/>
          <a:p>
            <a:pPr algn="ctr">
              <a:spcAft>
                <a:spcPts val="600"/>
              </a:spcAft>
            </a:pPr>
            <a:r>
              <a:rPr sz="1200" b="0">
                <a:solidFill>
                  <a:srgbClr val="9AA8CC"/>
                </a:solidFill>
                <a:latin typeface="Calibri"/>
              </a:rPr>
              <a:t>600</a:t>
            </a:r>
          </a:p>
        </p:txBody>
      </p:sp>
      <p:sp>
        <p:nvSpPr>
          <p:cNvPr id="27" name="Rounded Rectangle 26"/>
          <p:cNvSpPr/>
          <p:nvPr/>
        </p:nvSpPr>
        <p:spPr>
          <a:xfrm>
            <a:off x="548640" y="4800600"/>
            <a:ext cx="6400800" cy="566928"/>
          </a:xfrm>
          <a:prstGeom prst="roundRect">
            <a:avLst>
              <a:gd name="adj" fmla="val 50000"/>
            </a:avLst>
          </a:prstGeom>
          <a:solidFill>
            <a:srgbClr val="141F38"/>
          </a:solidFill>
          <a:ln w="19050">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topwatch-2EC27E.png"/>
          <p:cNvPicPr>
            <a:picLocks noChangeAspect="1"/>
          </p:cNvPicPr>
          <p:nvPr/>
        </p:nvPicPr>
        <p:blipFill>
          <a:blip r:embed="rId4"/>
          <a:stretch>
            <a:fillRect/>
          </a:stretch>
        </p:blipFill>
        <p:spPr>
          <a:xfrm>
            <a:off x="777240" y="4892040"/>
            <a:ext cx="384048" cy="384048"/>
          </a:xfrm>
          <a:prstGeom prst="rect">
            <a:avLst/>
          </a:prstGeom>
        </p:spPr>
      </p:pic>
      <p:sp>
        <p:nvSpPr>
          <p:cNvPr id="29" name="TextBox 28"/>
          <p:cNvSpPr txBox="1"/>
          <p:nvPr/>
        </p:nvSpPr>
        <p:spPr>
          <a:xfrm>
            <a:off x="1280160" y="4800600"/>
            <a:ext cx="5440680" cy="566928"/>
          </a:xfrm>
          <a:prstGeom prst="rect">
            <a:avLst/>
          </a:prstGeom>
          <a:noFill/>
        </p:spPr>
        <p:txBody>
          <a:bodyPr wrap="square" anchor="ctr" lIns="36576" rIns="36576">
            <a:spAutoFit/>
          </a:bodyPr>
          <a:lstStyle/>
          <a:p>
            <a:pPr algn="l">
              <a:spcAft>
                <a:spcPts val="600"/>
              </a:spcAft>
            </a:pPr>
            <a:r>
              <a:rPr sz="1800" b="0">
                <a:solidFill>
                  <a:srgbClr val="2EC27E"/>
                </a:solidFill>
                <a:latin typeface="Calibri"/>
              </a:rPr>
              <a:t>Watched line, fresh state: no carrier call  (0 ms carrier)</a:t>
            </a:r>
          </a:p>
        </p:txBody>
      </p:sp>
      <p:sp>
        <p:nvSpPr>
          <p:cNvPr id="30" name="Rounded Rectangle 29"/>
          <p:cNvSpPr/>
          <p:nvPr/>
        </p:nvSpPr>
        <p:spPr>
          <a:xfrm>
            <a:off x="548640" y="5596128"/>
            <a:ext cx="11094415" cy="566928"/>
          </a:xfrm>
          <a:prstGeom prst="roundRect">
            <a:avLst>
              <a:gd name="adj" fmla="val 30000"/>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96128"/>
            <a:ext cx="10637215" cy="566928"/>
          </a:xfrm>
          <a:prstGeom prst="rect">
            <a:avLst/>
          </a:prstGeom>
          <a:noFill/>
        </p:spPr>
        <p:txBody>
          <a:bodyPr wrap="square" anchor="ctr" lIns="36576" rIns="36576">
            <a:spAutoFit/>
          </a:bodyPr>
          <a:lstStyle/>
          <a:p>
            <a:pPr algn="l">
              <a:spcAft>
                <a:spcPts val="600"/>
              </a:spcAft>
            </a:pPr>
            <a:r>
              <a:rPr sz="1800" b="0">
                <a:solidFill>
                  <a:srgbClr val="E6ECFF"/>
                </a:solidFill>
                <a:latin typeface="Calibri"/>
              </a:rPr>
              <a:t>TRADE-OFF   One warm session per process to keep alive</a:t>
            </a:r>
          </a:p>
        </p:txBody>
      </p:sp>
      <p:cxnSp>
        <p:nvCxnSpPr>
          <p:cNvPr id="32" name="Connector 31"/>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09  •  Ask the Tower  •  Decisions</a:t>
            </a:r>
          </a:p>
        </p:txBody>
      </p:sp>
      <p:sp>
        <p:nvSpPr>
          <p:cNvPr id="34" name="Rectangle 33"/>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793992"/>
            <a:ext cx="9143771"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slide-09.mp3">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1368735" y="6382512"/>
            <a:ext cx="274320" cy="274320"/>
          </a:xfrm>
          <a:prstGeom prst="rect">
            <a:avLst/>
          </a:prstGeom>
        </p:spPr>
      </p:pic>
    </p:spTree>
  </p:cSld>
  <p:clrMapOvr>
    <a:masterClrMapping/>
  </p:clrMapOvr>
  <p:transition spd="med" advClick="1" advTm="308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880"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36"/>
                </p:tgtEl>
              </p:cMediaNode>
            </p:audi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Decision 6: operating it, and what AWS taught us</a:t>
            </a:r>
          </a:p>
        </p:txBody>
      </p:sp>
      <p:sp>
        <p:nvSpPr>
          <p:cNvPr id="3" name="Rounded Rectangle 2"/>
          <p:cNvSpPr/>
          <p:nvPr/>
        </p:nvSpPr>
        <p:spPr>
          <a:xfrm>
            <a:off x="548640" y="1234440"/>
            <a:ext cx="2602153"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rows-right-4CC9F0.png"/>
          <p:cNvPicPr>
            <a:picLocks noChangeAspect="1"/>
          </p:cNvPicPr>
          <p:nvPr/>
        </p:nvPicPr>
        <p:blipFill>
          <a:blip r:embed="rId2"/>
          <a:stretch>
            <a:fillRect/>
          </a:stretch>
        </p:blipFill>
        <p:spPr>
          <a:xfrm>
            <a:off x="822959" y="1463040"/>
            <a:ext cx="731520" cy="731520"/>
          </a:xfrm>
          <a:prstGeom prst="rect">
            <a:avLst/>
          </a:prstGeom>
        </p:spPr>
      </p:pic>
      <p:sp>
        <p:nvSpPr>
          <p:cNvPr id="5" name="TextBox 4"/>
          <p:cNvSpPr txBox="1"/>
          <p:nvPr/>
        </p:nvSpPr>
        <p:spPr>
          <a:xfrm>
            <a:off x="777240" y="2377440"/>
            <a:ext cx="2144953" cy="1280160"/>
          </a:xfrm>
          <a:prstGeom prst="rect">
            <a:avLst/>
          </a:prstGeom>
          <a:noFill/>
        </p:spPr>
        <p:txBody>
          <a:bodyPr wrap="square" anchor="t" lIns="36576" rIns="36576">
            <a:spAutoFit/>
          </a:bodyPr>
          <a:lstStyle/>
          <a:p>
            <a:pPr algn="l">
              <a:spcAft>
                <a:spcPts val="600"/>
              </a:spcAft>
            </a:pPr>
            <a:r>
              <a:rPr sz="2200" b="1">
                <a:solidFill>
                  <a:srgbClr val="E6ECFF"/>
                </a:solidFill>
                <a:latin typeface="Calibri"/>
              </a:rPr>
              <a:t>Gateway arguments are flat</a:t>
            </a:r>
          </a:p>
        </p:txBody>
      </p:sp>
      <p:sp>
        <p:nvSpPr>
          <p:cNvPr id="6" name="TextBox 5"/>
          <p:cNvSpPr txBox="1"/>
          <p:nvPr/>
        </p:nvSpPr>
        <p:spPr>
          <a:xfrm>
            <a:off x="777240" y="3657600"/>
            <a:ext cx="2144953" cy="1463040"/>
          </a:xfrm>
          <a:prstGeom prst="rect">
            <a:avLst/>
          </a:prstGeom>
          <a:noFill/>
        </p:spPr>
        <p:txBody>
          <a:bodyPr wrap="square" anchor="t" lIns="36576" rIns="36576">
            <a:spAutoFit/>
          </a:bodyPr>
          <a:lstStyle/>
          <a:p>
            <a:pPr algn="l">
              <a:spcAft>
                <a:spcPts val="600"/>
              </a:spcAft>
            </a:pPr>
            <a:r>
              <a:rPr sz="1800" b="0">
                <a:solidFill>
                  <a:srgbClr val="9AA8CC"/>
                </a:solidFill>
                <a:latin typeface="Calibri"/>
              </a:rPr>
              <a:t>No body wrapper: fields at the top</a:t>
            </a:r>
          </a:p>
        </p:txBody>
      </p:sp>
      <p:sp>
        <p:nvSpPr>
          <p:cNvPr id="7" name="Rounded Rectangle 6"/>
          <p:cNvSpPr/>
          <p:nvPr/>
        </p:nvSpPr>
        <p:spPr>
          <a:xfrm>
            <a:off x="3379393" y="1234440"/>
            <a:ext cx="2602153"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ield-lock-4CC9F0.png"/>
          <p:cNvPicPr>
            <a:picLocks noChangeAspect="1"/>
          </p:cNvPicPr>
          <p:nvPr/>
        </p:nvPicPr>
        <p:blipFill>
          <a:blip r:embed="rId3"/>
          <a:stretch>
            <a:fillRect/>
          </a:stretch>
        </p:blipFill>
        <p:spPr>
          <a:xfrm>
            <a:off x="3653713" y="1463040"/>
            <a:ext cx="731520" cy="731520"/>
          </a:xfrm>
          <a:prstGeom prst="rect">
            <a:avLst/>
          </a:prstGeom>
        </p:spPr>
      </p:pic>
      <p:sp>
        <p:nvSpPr>
          <p:cNvPr id="9" name="TextBox 8"/>
          <p:cNvSpPr txBox="1"/>
          <p:nvPr/>
        </p:nvSpPr>
        <p:spPr>
          <a:xfrm>
            <a:off x="3607993" y="2377440"/>
            <a:ext cx="2144953" cy="1280160"/>
          </a:xfrm>
          <a:prstGeom prst="rect">
            <a:avLst/>
          </a:prstGeom>
          <a:noFill/>
        </p:spPr>
        <p:txBody>
          <a:bodyPr wrap="square" anchor="t" lIns="36576" rIns="36576">
            <a:spAutoFit/>
          </a:bodyPr>
          <a:lstStyle/>
          <a:p>
            <a:pPr algn="l">
              <a:spcAft>
                <a:spcPts val="600"/>
              </a:spcAft>
            </a:pPr>
            <a:r>
              <a:rPr sz="2200" b="1">
                <a:solidFill>
                  <a:srgbClr val="E6ECFF"/>
                </a:solidFill>
                <a:latin typeface="Calibri"/>
              </a:rPr>
              <a:t>No 3LO behind IAM</a:t>
            </a:r>
          </a:p>
        </p:txBody>
      </p:sp>
      <p:sp>
        <p:nvSpPr>
          <p:cNvPr id="10" name="TextBox 9"/>
          <p:cNvSpPr txBox="1"/>
          <p:nvPr/>
        </p:nvSpPr>
        <p:spPr>
          <a:xfrm>
            <a:off x="3607993" y="3657600"/>
            <a:ext cx="2144953" cy="1463040"/>
          </a:xfrm>
          <a:prstGeom prst="rect">
            <a:avLst/>
          </a:prstGeom>
          <a:noFill/>
        </p:spPr>
        <p:txBody>
          <a:bodyPr wrap="square" anchor="t" lIns="36576" rIns="36576">
            <a:spAutoFit/>
          </a:bodyPr>
          <a:lstStyle/>
          <a:p>
            <a:pPr algn="l">
              <a:spcAft>
                <a:spcPts val="600"/>
              </a:spcAft>
            </a:pPr>
            <a:r>
              <a:rPr sz="1800" b="0">
                <a:solidFill>
                  <a:srgbClr val="9AA8CC"/>
                </a:solidFill>
                <a:latin typeface="Calibri"/>
              </a:rPr>
              <a:t>The binding page exchanges its own code</a:t>
            </a:r>
          </a:p>
        </p:txBody>
      </p:sp>
      <p:sp>
        <p:nvSpPr>
          <p:cNvPr id="11" name="Rounded Rectangle 10"/>
          <p:cNvSpPr/>
          <p:nvPr/>
        </p:nvSpPr>
        <p:spPr>
          <a:xfrm>
            <a:off x="6210147" y="1234440"/>
            <a:ext cx="2602153" cy="3977639"/>
          </a:xfrm>
          <a:prstGeom prst="roundRect">
            <a:avLst>
              <a:gd name="adj" fmla="val 8000"/>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pwatch-4CC9F0.png"/>
          <p:cNvPicPr>
            <a:picLocks noChangeAspect="1"/>
          </p:cNvPicPr>
          <p:nvPr/>
        </p:nvPicPr>
        <p:blipFill>
          <a:blip r:embed="rId4"/>
          <a:stretch>
            <a:fillRect/>
          </a:stretch>
        </p:blipFill>
        <p:spPr>
          <a:xfrm>
            <a:off x="6484467" y="1463040"/>
            <a:ext cx="731520" cy="731520"/>
          </a:xfrm>
          <a:prstGeom prst="rect">
            <a:avLst/>
          </a:prstGeom>
        </p:spPr>
      </p:pic>
      <p:sp>
        <p:nvSpPr>
          <p:cNvPr id="13" name="TextBox 12"/>
          <p:cNvSpPr txBox="1"/>
          <p:nvPr/>
        </p:nvSpPr>
        <p:spPr>
          <a:xfrm>
            <a:off x="6438747" y="2377440"/>
            <a:ext cx="2144953" cy="1280160"/>
          </a:xfrm>
          <a:prstGeom prst="rect">
            <a:avLst/>
          </a:prstGeom>
          <a:noFill/>
        </p:spPr>
        <p:txBody>
          <a:bodyPr wrap="square" anchor="t" lIns="36576" rIns="36576">
            <a:spAutoFit/>
          </a:bodyPr>
          <a:lstStyle/>
          <a:p>
            <a:pPr algn="l">
              <a:spcAft>
                <a:spcPts val="600"/>
              </a:spcAft>
            </a:pPr>
            <a:r>
              <a:rPr sz="3400" b="1">
                <a:solidFill>
                  <a:srgbClr val="4CC9F0"/>
                </a:solidFill>
                <a:latin typeface="Calibri"/>
              </a:rPr>
              <a:t>7 s → 0.4 s</a:t>
            </a:r>
          </a:p>
        </p:txBody>
      </p:sp>
      <p:sp>
        <p:nvSpPr>
          <p:cNvPr id="14" name="TextBox 13"/>
          <p:cNvSpPr txBox="1"/>
          <p:nvPr/>
        </p:nvSpPr>
        <p:spPr>
          <a:xfrm>
            <a:off x="6438747" y="3657600"/>
            <a:ext cx="2144953" cy="1463040"/>
          </a:xfrm>
          <a:prstGeom prst="rect">
            <a:avLst/>
          </a:prstGeom>
          <a:noFill/>
        </p:spPr>
        <p:txBody>
          <a:bodyPr wrap="square" anchor="t" lIns="36576" rIns="36576">
            <a:spAutoFit/>
          </a:bodyPr>
          <a:lstStyle/>
          <a:p>
            <a:pPr algn="l">
              <a:spcAft>
                <a:spcPts val="600"/>
              </a:spcAft>
            </a:pPr>
            <a:r>
              <a:rPr sz="1800" b="0">
                <a:solidFill>
                  <a:srgbClr val="9AA8CC"/>
                </a:solidFill>
                <a:latin typeface="Calibri"/>
              </a:rPr>
              <a:t>Client session id: no cold start per call</a:t>
            </a:r>
          </a:p>
        </p:txBody>
      </p:sp>
      <p:sp>
        <p:nvSpPr>
          <p:cNvPr id="15" name="Rounded Rectangle 14"/>
          <p:cNvSpPr/>
          <p:nvPr/>
        </p:nvSpPr>
        <p:spPr>
          <a:xfrm>
            <a:off x="9040901" y="1234440"/>
            <a:ext cx="2602153" cy="3977639"/>
          </a:xfrm>
          <a:prstGeom prst="roundRect">
            <a:avLst>
              <a:gd name="adj" fmla="val 8000"/>
            </a:avLst>
          </a:prstGeom>
          <a:solidFill>
            <a:srgbClr val="141F38"/>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4CC9F0.png"/>
          <p:cNvPicPr>
            <a:picLocks noChangeAspect="1"/>
          </p:cNvPicPr>
          <p:nvPr/>
        </p:nvPicPr>
        <p:blipFill>
          <a:blip r:embed="rId5"/>
          <a:stretch>
            <a:fillRect/>
          </a:stretch>
        </p:blipFill>
        <p:spPr>
          <a:xfrm>
            <a:off x="9315221" y="1463040"/>
            <a:ext cx="731520" cy="731520"/>
          </a:xfrm>
          <a:prstGeom prst="rect">
            <a:avLst/>
          </a:prstGeom>
        </p:spPr>
      </p:pic>
      <p:sp>
        <p:nvSpPr>
          <p:cNvPr id="17" name="TextBox 16"/>
          <p:cNvSpPr txBox="1"/>
          <p:nvPr/>
        </p:nvSpPr>
        <p:spPr>
          <a:xfrm>
            <a:off x="9269501" y="2377440"/>
            <a:ext cx="2144953" cy="1280160"/>
          </a:xfrm>
          <a:prstGeom prst="rect">
            <a:avLst/>
          </a:prstGeom>
          <a:noFill/>
        </p:spPr>
        <p:txBody>
          <a:bodyPr wrap="square" anchor="t" lIns="36576" rIns="36576">
            <a:spAutoFit/>
          </a:bodyPr>
          <a:lstStyle/>
          <a:p>
            <a:pPr algn="l">
              <a:spcAft>
                <a:spcPts val="600"/>
              </a:spcAft>
            </a:pPr>
            <a:r>
              <a:rPr sz="2200" b="1">
                <a:solidFill>
                  <a:srgbClr val="E6ECFF"/>
                </a:solidFill>
                <a:latin typeface="Calibri"/>
              </a:rPr>
              <a:t>Bedrock quota is 0</a:t>
            </a:r>
          </a:p>
        </p:txBody>
      </p:sp>
      <p:sp>
        <p:nvSpPr>
          <p:cNvPr id="18" name="TextBox 17"/>
          <p:cNvSpPr txBox="1"/>
          <p:nvPr/>
        </p:nvSpPr>
        <p:spPr>
          <a:xfrm>
            <a:off x="9269501" y="3657600"/>
            <a:ext cx="2144953" cy="1463040"/>
          </a:xfrm>
          <a:prstGeom prst="rect">
            <a:avLst/>
          </a:prstGeom>
          <a:noFill/>
        </p:spPr>
        <p:txBody>
          <a:bodyPr wrap="square" anchor="t" lIns="36576" rIns="36576">
            <a:spAutoFit/>
          </a:bodyPr>
          <a:lstStyle/>
          <a:p>
            <a:pPr algn="l">
              <a:spcAft>
                <a:spcPts val="600"/>
              </a:spcAft>
            </a:pPr>
            <a:r>
              <a:rPr sz="1800" b="0">
                <a:solidFill>
                  <a:srgbClr val="9AA8CC"/>
                </a:solidFill>
                <a:latin typeface="Calibri"/>
              </a:rPr>
              <a:t>New account: a cross-account role serves it</a:t>
            </a:r>
          </a:p>
        </p:txBody>
      </p:sp>
      <p:sp>
        <p:nvSpPr>
          <p:cNvPr id="19" name="Rounded Rectangle 18"/>
          <p:cNvSpPr/>
          <p:nvPr/>
        </p:nvSpPr>
        <p:spPr>
          <a:xfrm>
            <a:off x="548640" y="5440680"/>
            <a:ext cx="11094415" cy="621792"/>
          </a:xfrm>
          <a:prstGeom prst="roundRect">
            <a:avLst>
              <a:gd name="adj" fmla="val 50000"/>
            </a:avLst>
          </a:prstGeom>
          <a:solidFill>
            <a:srgbClr val="141F38"/>
          </a:solidFill>
          <a:ln w="19050">
            <a:solidFill>
              <a:srgbClr val="9AA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ute-9AA8CC.png"/>
          <p:cNvPicPr>
            <a:picLocks noChangeAspect="1"/>
          </p:cNvPicPr>
          <p:nvPr/>
        </p:nvPicPr>
        <p:blipFill>
          <a:blip r:embed="rId6"/>
          <a:stretch>
            <a:fillRect/>
          </a:stretch>
        </p:blipFill>
        <p:spPr>
          <a:xfrm>
            <a:off x="777240" y="5559552"/>
            <a:ext cx="384048" cy="384048"/>
          </a:xfrm>
          <a:prstGeom prst="rect">
            <a:avLst/>
          </a:prstGeom>
        </p:spPr>
      </p:pic>
      <p:sp>
        <p:nvSpPr>
          <p:cNvPr id="21" name="TextBox 20"/>
          <p:cNvSpPr txBox="1"/>
          <p:nvPr/>
        </p:nvSpPr>
        <p:spPr>
          <a:xfrm>
            <a:off x="1280160" y="5440680"/>
            <a:ext cx="10134295" cy="621792"/>
          </a:xfrm>
          <a:prstGeom prst="rect">
            <a:avLst/>
          </a:prstGeom>
          <a:noFill/>
        </p:spPr>
        <p:txBody>
          <a:bodyPr wrap="square" anchor="ctr" lIns="36576" rIns="36576">
            <a:spAutoFit/>
          </a:bodyPr>
          <a:lstStyle/>
          <a:p>
            <a:pPr algn="l">
              <a:spcAft>
                <a:spcPts val="600"/>
              </a:spcAft>
            </a:pPr>
            <a:r>
              <a:rPr sz="1800" b="0">
                <a:solidFill>
                  <a:srgbClr val="9AA8CC"/>
                </a:solidFill>
                <a:latin typeface="Calibri"/>
              </a:rPr>
              <a:t>Terraform via a 14-step Ops pipeline · admin path: one /32, then closed</a:t>
            </a:r>
          </a:p>
        </p:txBody>
      </p:sp>
      <p:cxnSp>
        <p:nvCxnSpPr>
          <p:cNvPr id="22" name="Connector 21"/>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10  •  Ask the Tower  •  What AWS taught us</a:t>
            </a:r>
          </a:p>
        </p:txBody>
      </p:sp>
      <p:sp>
        <p:nvSpPr>
          <p:cNvPr id="24" name="Rectangle 23"/>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793992"/>
            <a:ext cx="10159746"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slide-10.mp3">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10"/>
          <a:stretch>
            <a:fillRect/>
          </a:stretch>
        </p:blipFill>
        <p:spPr>
          <a:xfrm>
            <a:off x="11368735" y="6382512"/>
            <a:ext cx="274320" cy="274320"/>
          </a:xfrm>
          <a:prstGeom prst="rect">
            <a:avLst/>
          </a:prstGeom>
        </p:spPr>
      </p:pic>
    </p:spTree>
  </p:cSld>
  <p:clrMapOvr>
    <a:masterClrMapping/>
  </p:clrMapOvr>
  <p:transition spd="med" advClick="1" advTm="3197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977"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6"/>
                </p:tgtEl>
              </p:cMediaNode>
            </p:audi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Evidence</a:t>
            </a:r>
          </a:p>
        </p:txBody>
      </p:sp>
      <p:graphicFrame>
        <p:nvGraphicFramePr>
          <p:cNvPr id="3" name="Chart 2"/>
          <p:cNvGraphicFramePr>
            <a:graphicFrameLocks noGrp="1"/>
          </p:cNvGraphicFramePr>
          <p:nvPr/>
        </p:nvGraphicFramePr>
        <p:xfrm>
          <a:off x="548640" y="1188720"/>
          <a:ext cx="6766560" cy="4983480"/>
        </p:xfrm>
        <a:graphic>
          <a:graphicData uri="http://schemas.openxmlformats.org/drawingml/2006/chart">
            <c:chart xmlns:c="http://schemas.openxmlformats.org/drawingml/2006/chart" r:id="rId2"/>
          </a:graphicData>
        </a:graphic>
      </p:graphicFrame>
      <p:sp>
        <p:nvSpPr>
          <p:cNvPr id="4" name="Rounded Rectangle 3"/>
          <p:cNvSpPr/>
          <p:nvPr/>
        </p:nvSpPr>
        <p:spPr>
          <a:xfrm>
            <a:off x="7589520" y="1325880"/>
            <a:ext cx="4050791" cy="13716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check-2EC27E.png"/>
          <p:cNvPicPr>
            <a:picLocks noChangeAspect="1"/>
          </p:cNvPicPr>
          <p:nvPr/>
        </p:nvPicPr>
        <p:blipFill>
          <a:blip r:embed="rId3"/>
          <a:stretch>
            <a:fillRect/>
          </a:stretch>
        </p:blipFill>
        <p:spPr>
          <a:xfrm>
            <a:off x="7772400" y="1719072"/>
            <a:ext cx="594360" cy="594360"/>
          </a:xfrm>
          <a:prstGeom prst="rect">
            <a:avLst/>
          </a:prstGeom>
        </p:spPr>
      </p:pic>
      <p:sp>
        <p:nvSpPr>
          <p:cNvPr id="6" name="TextBox 5"/>
          <p:cNvSpPr txBox="1"/>
          <p:nvPr/>
        </p:nvSpPr>
        <p:spPr>
          <a:xfrm>
            <a:off x="8503920" y="1325880"/>
            <a:ext cx="3017520" cy="1371600"/>
          </a:xfrm>
          <a:prstGeom prst="rect">
            <a:avLst/>
          </a:prstGeom>
          <a:noFill/>
        </p:spPr>
        <p:txBody>
          <a:bodyPr wrap="square" anchor="ctr" lIns="36576" rIns="36576">
            <a:spAutoFit/>
          </a:bodyPr>
          <a:lstStyle/>
          <a:p>
            <a:pPr algn="l">
              <a:spcAft>
                <a:spcPts val="600"/>
              </a:spcAft>
            </a:pPr>
            <a:r>
              <a:rPr sz="2000" b="1">
                <a:solidFill>
                  <a:srgbClr val="E6ECFF"/>
                </a:solidFill>
                <a:latin typeface="Calibri"/>
              </a:rPr>
              <a:t>3 Moments pass end to end on AWS</a:t>
            </a:r>
          </a:p>
        </p:txBody>
      </p:sp>
      <p:sp>
        <p:nvSpPr>
          <p:cNvPr id="7" name="Rounded Rectangle 6"/>
          <p:cNvSpPr/>
          <p:nvPr/>
        </p:nvSpPr>
        <p:spPr>
          <a:xfrm>
            <a:off x="7589520" y="2926080"/>
            <a:ext cx="4050791" cy="1371600"/>
          </a:xfrm>
          <a:prstGeom prst="roundRect">
            <a:avLst>
              <a:gd name="adj" fmla="val 8000"/>
            </a:avLst>
          </a:prstGeom>
          <a:solidFill>
            <a:srgbClr val="141F38"/>
          </a:solidFill>
          <a:ln w="15875">
            <a:solidFill>
              <a:srgbClr val="2EC2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rcle-check-2EC27E.png"/>
          <p:cNvPicPr>
            <a:picLocks noChangeAspect="1"/>
          </p:cNvPicPr>
          <p:nvPr/>
        </p:nvPicPr>
        <p:blipFill>
          <a:blip r:embed="rId3"/>
          <a:stretch>
            <a:fillRect/>
          </a:stretch>
        </p:blipFill>
        <p:spPr>
          <a:xfrm>
            <a:off x="7772400" y="3319272"/>
            <a:ext cx="594360" cy="594360"/>
          </a:xfrm>
          <a:prstGeom prst="rect">
            <a:avLst/>
          </a:prstGeom>
        </p:spPr>
      </p:pic>
      <p:sp>
        <p:nvSpPr>
          <p:cNvPr id="9" name="TextBox 8"/>
          <p:cNvSpPr txBox="1"/>
          <p:nvPr/>
        </p:nvSpPr>
        <p:spPr>
          <a:xfrm>
            <a:off x="8503920" y="2926080"/>
            <a:ext cx="3017520" cy="1371600"/>
          </a:xfrm>
          <a:prstGeom prst="rect">
            <a:avLst/>
          </a:prstGeom>
          <a:noFill/>
        </p:spPr>
        <p:txBody>
          <a:bodyPr wrap="square" anchor="ctr" lIns="36576" rIns="36576">
            <a:spAutoFit/>
          </a:bodyPr>
          <a:lstStyle/>
          <a:p>
            <a:pPr algn="l">
              <a:spcAft>
                <a:spcPts val="600"/>
              </a:spcAft>
            </a:pPr>
            <a:r>
              <a:rPr sz="2000" b="1">
                <a:solidFill>
                  <a:srgbClr val="E6ECFF"/>
                </a:solidFill>
                <a:latin typeface="Calibri"/>
              </a:rPr>
              <a:t>Chaos on AWS: 9/9, never wrong</a:t>
            </a:r>
          </a:p>
        </p:txBody>
      </p:sp>
      <p:sp>
        <p:nvSpPr>
          <p:cNvPr id="10" name="Rounded Rectangle 9"/>
          <p:cNvSpPr/>
          <p:nvPr/>
        </p:nvSpPr>
        <p:spPr>
          <a:xfrm>
            <a:off x="7589520" y="4526280"/>
            <a:ext cx="4050791" cy="1371600"/>
          </a:xfrm>
          <a:prstGeom prst="roundRect">
            <a:avLst>
              <a:gd name="adj" fmla="val 8000"/>
            </a:avLst>
          </a:prstGeom>
          <a:solidFill>
            <a:srgbClr val="141F38"/>
          </a:solidFill>
          <a:ln w="15875">
            <a:solidFill>
              <a:srgbClr val="F4A2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lert-triangle-F4A261.png"/>
          <p:cNvPicPr>
            <a:picLocks noChangeAspect="1"/>
          </p:cNvPicPr>
          <p:nvPr/>
        </p:nvPicPr>
        <p:blipFill>
          <a:blip r:embed="rId4"/>
          <a:stretch>
            <a:fillRect/>
          </a:stretch>
        </p:blipFill>
        <p:spPr>
          <a:xfrm>
            <a:off x="7772400" y="4919472"/>
            <a:ext cx="594360" cy="594360"/>
          </a:xfrm>
          <a:prstGeom prst="rect">
            <a:avLst/>
          </a:prstGeom>
        </p:spPr>
      </p:pic>
      <p:sp>
        <p:nvSpPr>
          <p:cNvPr id="12" name="TextBox 11"/>
          <p:cNvSpPr txBox="1"/>
          <p:nvPr/>
        </p:nvSpPr>
        <p:spPr>
          <a:xfrm>
            <a:off x="8503920" y="4526280"/>
            <a:ext cx="3017520" cy="1371600"/>
          </a:xfrm>
          <a:prstGeom prst="rect">
            <a:avLst/>
          </a:prstGeom>
          <a:noFill/>
        </p:spPr>
        <p:txBody>
          <a:bodyPr wrap="square" anchor="ctr" lIns="36576" rIns="36576">
            <a:spAutoFit/>
          </a:bodyPr>
          <a:lstStyle/>
          <a:p>
            <a:pPr algn="l">
              <a:spcAft>
                <a:spcPts val="600"/>
              </a:spcAft>
            </a:pPr>
            <a:r>
              <a:rPr sz="2000" b="1">
                <a:solidFill>
                  <a:srgbClr val="E6ECFF"/>
                </a:solidFill>
                <a:latin typeface="Calibri"/>
              </a:rPr>
              <a:t>line_is_ok p95 528 ms; target 400</a:t>
            </a:r>
          </a:p>
        </p:txBody>
      </p:sp>
      <p:cxnSp>
        <p:nvCxnSpPr>
          <p:cNvPr id="13" name="Connector 12"/>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11  •  Ask the Tower  •  Evidence</a:t>
            </a:r>
          </a:p>
        </p:txBody>
      </p:sp>
      <p:sp>
        <p:nvSpPr>
          <p:cNvPr id="15" name="Rectangle 14"/>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793992"/>
            <a:ext cx="11175720"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lide-11.mp3">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1368735" y="6382512"/>
            <a:ext cx="274320" cy="274320"/>
          </a:xfrm>
          <a:prstGeom prst="rect">
            <a:avLst/>
          </a:prstGeom>
        </p:spPr>
      </p:pic>
    </p:spTree>
  </p:cSld>
  <p:clrMapOvr>
    <a:masterClrMapping/>
  </p:clrMapOvr>
  <p:transition spd="med" advClick="1" advTm="338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85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17"/>
                </p:tgtEl>
              </p:cMediaNode>
            </p:audi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274320"/>
            <a:ext cx="11094415" cy="777240"/>
          </a:xfrm>
          <a:prstGeom prst="rect">
            <a:avLst/>
          </a:prstGeom>
          <a:noFill/>
        </p:spPr>
        <p:txBody>
          <a:bodyPr wrap="square" anchor="ctr" lIns="36576" rIns="36576">
            <a:spAutoFit/>
          </a:bodyPr>
          <a:lstStyle/>
          <a:p>
            <a:pPr algn="l">
              <a:spcAft>
                <a:spcPts val="600"/>
              </a:spcAft>
            </a:pPr>
            <a:r>
              <a:rPr sz="3200" b="1">
                <a:solidFill>
                  <a:srgbClr val="E6ECFF"/>
                </a:solidFill>
                <a:latin typeface="Calibri"/>
              </a:rPr>
              <a:t>Over to the demo</a:t>
            </a:r>
          </a:p>
        </p:txBody>
      </p:sp>
      <p:sp>
        <p:nvSpPr>
          <p:cNvPr id="3" name="Can 2"/>
          <p:cNvSpPr/>
          <p:nvPr/>
        </p:nvSpPr>
        <p:spPr>
          <a:xfrm>
            <a:off x="914400" y="1600200"/>
            <a:ext cx="2194560" cy="3200400"/>
          </a:xfrm>
          <a:prstGeom prst="can">
            <a:avLst>
              <a:gd name="adj" fmla="val 18000"/>
            </a:avLst>
          </a:prstGeom>
          <a:solidFill>
            <a:srgbClr val="1C2A4A"/>
          </a:solidFill>
          <a:ln w="15875">
            <a:solidFill>
              <a:srgbClr val="26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600200"/>
            <a:ext cx="2194560" cy="576072"/>
          </a:xfrm>
          <a:prstGeom prst="ellipse">
            <a:avLst/>
          </a:prstGeom>
          <a:noFill/>
          <a:ln w="57150">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vice-speaker-9AA8CC.png"/>
          <p:cNvPicPr>
            <a:picLocks noChangeAspect="1"/>
          </p:cNvPicPr>
          <p:nvPr/>
        </p:nvPicPr>
        <p:blipFill>
          <a:blip r:embed="rId2"/>
          <a:stretch>
            <a:fillRect/>
          </a:stretch>
        </p:blipFill>
        <p:spPr>
          <a:xfrm>
            <a:off x="1600200" y="2926080"/>
            <a:ext cx="822960" cy="822960"/>
          </a:xfrm>
          <a:prstGeom prst="rect">
            <a:avLst/>
          </a:prstGeom>
        </p:spPr>
      </p:pic>
      <p:sp>
        <p:nvSpPr>
          <p:cNvPr id="6" name="TextBox 5"/>
          <p:cNvSpPr txBox="1"/>
          <p:nvPr/>
        </p:nvSpPr>
        <p:spPr>
          <a:xfrm>
            <a:off x="548640" y="4892040"/>
            <a:ext cx="2926080" cy="457200"/>
          </a:xfrm>
          <a:prstGeom prst="rect">
            <a:avLst/>
          </a:prstGeom>
          <a:noFill/>
        </p:spPr>
        <p:txBody>
          <a:bodyPr wrap="square" anchor="t" lIns="36576" rIns="36576">
            <a:spAutoFit/>
          </a:bodyPr>
          <a:lstStyle/>
          <a:p>
            <a:pPr algn="ctr">
              <a:spcAft>
                <a:spcPts val="600"/>
              </a:spcAft>
            </a:pPr>
            <a:r>
              <a:rPr sz="1800" b="0">
                <a:solidFill>
                  <a:srgbClr val="9AA8CC"/>
                </a:solidFill>
                <a:latin typeface="Calibri"/>
              </a:rPr>
              <a:t>Echo, on home Wi-Fi</a:t>
            </a:r>
          </a:p>
        </p:txBody>
      </p:sp>
      <p:sp>
        <p:nvSpPr>
          <p:cNvPr id="7" name="Rounded Rectangular Callout 6"/>
          <p:cNvSpPr/>
          <p:nvPr/>
        </p:nvSpPr>
        <p:spPr>
          <a:xfrm>
            <a:off x="3931920" y="1280160"/>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60520" y="1325880"/>
            <a:ext cx="7315200" cy="1005840"/>
          </a:xfrm>
          <a:prstGeom prst="rect">
            <a:avLst/>
          </a:prstGeom>
          <a:noFill/>
        </p:spPr>
        <p:txBody>
          <a:bodyPr wrap="square" anchor="ctr" lIns="36576" rIns="36576">
            <a:spAutoFit/>
          </a:bodyPr>
          <a:lstStyle/>
          <a:p>
            <a:pPr algn="l">
              <a:spcAft>
                <a:spcPts val="200"/>
              </a:spcAft>
            </a:pPr>
            <a:r>
              <a:rPr sz="2200" b="1">
                <a:solidFill>
                  <a:srgbClr val="E6ECFF"/>
                </a:solidFill>
                <a:latin typeface="Calibri"/>
              </a:rPr>
              <a:t>“Is my line OK?”</a:t>
            </a:r>
          </a:p>
          <a:p>
            <a:pPr algn="l">
              <a:spcAft>
                <a:spcPts val="200"/>
              </a:spcAft>
            </a:pPr>
            <a:r>
              <a:rPr sz="1800" b="0">
                <a:solidFill>
                  <a:srgbClr val="4CC9F0"/>
                </a:solidFill>
                <a:latin typeface="Calibri"/>
              </a:rPr>
              <a:t>→ SIM moved: don't call from that phone</a:t>
            </a:r>
          </a:p>
        </p:txBody>
      </p:sp>
      <p:sp>
        <p:nvSpPr>
          <p:cNvPr id="9" name="Rounded Rectangular Callout 8"/>
          <p:cNvSpPr/>
          <p:nvPr/>
        </p:nvSpPr>
        <p:spPr>
          <a:xfrm>
            <a:off x="3931920" y="2578608"/>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2624327"/>
            <a:ext cx="7315200" cy="1005840"/>
          </a:xfrm>
          <a:prstGeom prst="rect">
            <a:avLst/>
          </a:prstGeom>
          <a:noFill/>
        </p:spPr>
        <p:txBody>
          <a:bodyPr wrap="square" anchor="ctr" lIns="36576" rIns="36576">
            <a:spAutoFit/>
          </a:bodyPr>
          <a:lstStyle/>
          <a:p>
            <a:pPr algn="l">
              <a:spcAft>
                <a:spcPts val="200"/>
              </a:spcAft>
            </a:pPr>
            <a:r>
              <a:rPr sz="2200" b="1">
                <a:solidFill>
                  <a:srgbClr val="E6ECFF"/>
                </a:solidFill>
                <a:latin typeface="Calibri"/>
              </a:rPr>
              <a:t>“Is anything forwarding my calls?”</a:t>
            </a:r>
          </a:p>
          <a:p>
            <a:pPr algn="l">
              <a:spcAft>
                <a:spcPts val="200"/>
              </a:spcAft>
            </a:pPr>
            <a:r>
              <a:rPr sz="1800" b="0">
                <a:solidFill>
                  <a:srgbClr val="4CC9F0"/>
                </a:solidFill>
                <a:latin typeface="Calibri"/>
              </a:rPr>
              <a:t>→ Forwarding set: call your carrier</a:t>
            </a:r>
          </a:p>
        </p:txBody>
      </p:sp>
      <p:sp>
        <p:nvSpPr>
          <p:cNvPr id="11" name="Rounded Rectangular Callout 10"/>
          <p:cNvSpPr/>
          <p:nvPr/>
        </p:nvSpPr>
        <p:spPr>
          <a:xfrm>
            <a:off x="3931920" y="3877056"/>
            <a:ext cx="7708392" cy="1078992"/>
          </a:xfrm>
          <a:prstGeom prst="wedgeRoundRectCallout">
            <a:avLst>
              <a:gd name="adj1" fmla="val -56000"/>
              <a:gd name="adj2" fmla="val 10000"/>
              <a:gd name="adj3" fmla="val 16667"/>
            </a:avLst>
          </a:prstGeom>
          <a:solidFill>
            <a:srgbClr val="141F38"/>
          </a:solidFill>
          <a:ln w="15875">
            <a:solidFill>
              <a:srgbClr val="4CC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3922776"/>
            <a:ext cx="7315200" cy="1005840"/>
          </a:xfrm>
          <a:prstGeom prst="rect">
            <a:avLst/>
          </a:prstGeom>
          <a:noFill/>
        </p:spPr>
        <p:txBody>
          <a:bodyPr wrap="square" anchor="ctr" lIns="36576" rIns="36576">
            <a:spAutoFit/>
          </a:bodyPr>
          <a:lstStyle/>
          <a:p>
            <a:pPr algn="l">
              <a:spcAft>
                <a:spcPts val="200"/>
              </a:spcAft>
            </a:pPr>
            <a:r>
              <a:rPr sz="2200" b="1">
                <a:solidFill>
                  <a:srgbClr val="E6ECFF"/>
                </a:solidFill>
                <a:latin typeface="Calibri"/>
              </a:rPr>
              <a:t>“Is Mom's line OK?”</a:t>
            </a:r>
          </a:p>
          <a:p>
            <a:pPr algn="l">
              <a:spcAft>
                <a:spcPts val="200"/>
              </a:spcAft>
            </a:pPr>
            <a:r>
              <a:rPr sz="1800" b="0">
                <a:solidFill>
                  <a:srgbClr val="4CC9F0"/>
                </a:solidFill>
                <a:latin typeface="Calibri"/>
              </a:rPr>
              <a:t>→ As it was; a text if it changes</a:t>
            </a:r>
          </a:p>
        </p:txBody>
      </p:sp>
      <p:sp>
        <p:nvSpPr>
          <p:cNvPr id="13" name="TextBox 12"/>
          <p:cNvSpPr txBox="1"/>
          <p:nvPr/>
        </p:nvSpPr>
        <p:spPr>
          <a:xfrm>
            <a:off x="3931920" y="5257800"/>
            <a:ext cx="5120640" cy="640080"/>
          </a:xfrm>
          <a:prstGeom prst="rect">
            <a:avLst/>
          </a:prstGeom>
          <a:noFill/>
        </p:spPr>
        <p:txBody>
          <a:bodyPr wrap="square" anchor="ctr" lIns="36576" rIns="36576">
            <a:spAutoFit/>
          </a:bodyPr>
          <a:lstStyle/>
          <a:p>
            <a:pPr algn="l">
              <a:spcAft>
                <a:spcPts val="600"/>
              </a:spcAft>
            </a:pPr>
            <a:r>
              <a:rPr sz="2000" b="0">
                <a:solidFill>
                  <a:srgbClr val="9AA8CC"/>
                </a:solidFill>
                <a:latin typeface="Calibri"/>
              </a:rPr>
              <a:t>Here is what Asish hears on his Echo…</a:t>
            </a:r>
          </a:p>
        </p:txBody>
      </p:sp>
      <p:sp>
        <p:nvSpPr>
          <p:cNvPr id="14" name="Oval 13"/>
          <p:cNvSpPr/>
          <p:nvPr/>
        </p:nvSpPr>
        <p:spPr>
          <a:xfrm>
            <a:off x="9144000" y="5193792"/>
            <a:ext cx="749808" cy="749808"/>
          </a:xfrm>
          <a:prstGeom prst="ellipse">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layer-play-0B1220.png"/>
          <p:cNvPicPr>
            <a:picLocks noChangeAspect="1"/>
          </p:cNvPicPr>
          <p:nvPr/>
        </p:nvPicPr>
        <p:blipFill>
          <a:blip r:embed="rId3"/>
          <a:stretch>
            <a:fillRect/>
          </a:stretch>
        </p:blipFill>
        <p:spPr>
          <a:xfrm>
            <a:off x="9290304" y="5340096"/>
            <a:ext cx="457200" cy="457200"/>
          </a:xfrm>
          <a:prstGeom prst="rect">
            <a:avLst/>
          </a:prstGeom>
        </p:spPr>
      </p:pic>
      <p:sp>
        <p:nvSpPr>
          <p:cNvPr id="16" name="TextBox 15"/>
          <p:cNvSpPr txBox="1"/>
          <p:nvPr/>
        </p:nvSpPr>
        <p:spPr>
          <a:xfrm>
            <a:off x="10012680" y="5193792"/>
            <a:ext cx="1737360" cy="749808"/>
          </a:xfrm>
          <a:prstGeom prst="rect">
            <a:avLst/>
          </a:prstGeom>
          <a:noFill/>
        </p:spPr>
        <p:txBody>
          <a:bodyPr wrap="square" anchor="ctr" lIns="36576" rIns="36576">
            <a:spAutoFit/>
          </a:bodyPr>
          <a:lstStyle/>
          <a:p>
            <a:pPr algn="l">
              <a:spcAft>
                <a:spcPts val="600"/>
              </a:spcAft>
            </a:pPr>
            <a:r>
              <a:rPr sz="2400" b="1">
                <a:solidFill>
                  <a:srgbClr val="4CC9F0"/>
                </a:solidFill>
                <a:latin typeface="Calibri"/>
              </a:rPr>
              <a:t>Let's hear it</a:t>
            </a:r>
          </a:p>
        </p:txBody>
      </p:sp>
      <p:cxnSp>
        <p:nvCxnSpPr>
          <p:cNvPr id="17" name="Connector 16"/>
          <p:cNvCxnSpPr/>
          <p:nvPr/>
        </p:nvCxnSpPr>
        <p:spPr>
          <a:xfrm>
            <a:off x="548640" y="6355080"/>
            <a:ext cx="11094415" cy="0"/>
          </a:xfrm>
          <a:prstGeom prst="line">
            <a:avLst/>
          </a:prstGeom>
          <a:ln w="9525">
            <a:solidFill>
              <a:srgbClr val="26365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6382512"/>
            <a:ext cx="8229600" cy="310896"/>
          </a:xfrm>
          <a:prstGeom prst="rect">
            <a:avLst/>
          </a:prstGeom>
          <a:noFill/>
        </p:spPr>
        <p:txBody>
          <a:bodyPr wrap="square" anchor="ctr" lIns="36576" rIns="36576">
            <a:spAutoFit/>
          </a:bodyPr>
          <a:lstStyle/>
          <a:p>
            <a:pPr algn="l">
              <a:spcAft>
                <a:spcPts val="600"/>
              </a:spcAft>
            </a:pPr>
            <a:r>
              <a:rPr sz="1100" b="0">
                <a:solidFill>
                  <a:srgbClr val="9AA8CC"/>
                </a:solidFill>
                <a:latin typeface="Calibri"/>
              </a:rPr>
              <a:t>12  •  Ask the Tower  •  Demo</a:t>
            </a:r>
          </a:p>
        </p:txBody>
      </p:sp>
      <p:sp>
        <p:nvSpPr>
          <p:cNvPr id="19" name="Rectangle 18"/>
          <p:cNvSpPr/>
          <p:nvPr/>
        </p:nvSpPr>
        <p:spPr>
          <a:xfrm>
            <a:off x="0" y="6793992"/>
            <a:ext cx="12191695" cy="64008"/>
          </a:xfrm>
          <a:prstGeom prst="rect">
            <a:avLst/>
          </a:prstGeom>
          <a:solidFill>
            <a:srgbClr val="141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793992"/>
            <a:ext cx="12191695" cy="6400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slide-12.mp3">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11368735" y="6382512"/>
            <a:ext cx="274320" cy="274320"/>
          </a:xfrm>
          <a:prstGeom prst="rect">
            <a:avLst/>
          </a:prstGeom>
        </p:spPr>
      </p:pic>
    </p:spTree>
  </p:cSld>
  <p:clrMapOvr>
    <a:masterClrMapping/>
  </p:clrMapOvr>
  <p:transition spd="med" advClick="1" advTm="286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66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cTn>
                <p:tgtEl>
                  <p:spTgt spid="21"/>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