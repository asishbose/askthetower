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35180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line: every carrier already knows whether your SIM was just swapped, whether your calls are being forwarded, whether your mother's phone is reachable. Banks get to ask. You don't. And when the swap happens, your phone is dead — the Echo isn't.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concrete moments. None of these are hard problems and all of them are already solved for enterprises. The person whose line it is, is the one party locked out. Lead with the first: a SIM swap feels like bad signal, and the one device still working in the house is the Echo.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factual. CAMARA is real, standardised, and shipping across carriers. Every existing consumer is B2B. That asymmetry is the whole opportunity, and it's a small one on purpose.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about the boundary: Alexa+ is the client, Tower is the MCP server it connects to, and behind Tower are standard carrier APIs that already exist. Under CAMARA's consent model Tower-the-company is the contracted API consumer and the user grants consent through an auth-code or CIBA flow. The Echo-on-Wi-Fi insight is the reason a home assistant is the right surface, and it's the line to say slowly.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Moment 1 is the hero: say "the one device in the house that still works". Two is the same shape with a second API. Three shows consent for someone else's line and a real SMS arriving — that's the proactive path, since Alexa+ can't speak first through MCP. Transplant readiness is the 20-second closing story after these.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slide out loud before anyone asks. Carrier platforms are already exposing these APIs to agents — say so, and say the build is the consumer-agent layer on top. Judges reward an accurate claim over a big one.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teal path first: Alexa+ asks, Tower checks consent, the gateway calls the carrier, a structured result comes back and Alexa+ phrases it. No model in the hot path. Then the amber path: a SIM-swap subscription event or a poll hits the policy, and the second person gets an SMS — because Alexa+ can't speak first. Mock is the demo default.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split plainly: Alexa+ already is the LLM that talks — adding Bedrock in the request path would be a second model and a second delay. AgentCore is where the mini-challenge is earned; Bedrock stays in because the Strands reference client is real, not decorative.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shared-line case is the one to get exactly right in the demo: Dad's consent is shown being granted, then the check-in runs, then it's shown being revoked and the check-in refusing. That sequence is worth more than any feature.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to show the three-tool demo is a deliberate floor, not a ceiling. Don't let it pull the demo wider. If a judge asks "what's next", point at call-forwarding and the Fire TV prioritisation — one extends the safety pattern, the other adds a device.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care row is the same consent kit and the same three tools, so it costs nothing extra to promise. The fraud shield is the strongest: it extends the headline pattern and adds a consented second person, which is exactly what elder fraud lacks. Transplant readiness is is_reachable on your own line plus an escalation — the cheapest card on the slide and the one that needs no explanation. Say the "what this is not" box out loud — a health-adjacent claim you didn't make is one a judge can't hold against you.</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Trigger is event-driven where the carrier offers a SIM Swap subscription, polled where it doesn't, and on demand when Mom asks. Two booleans, a recency window, two outcomes. The changed outcome is an SMS, not an Alexa announcement — say why. Point at the audit strip and at the carrier-lock line: a lock prevents, this detects.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stays to show restraint. Read the red strip: it measures the handset, a flat battery is indistinguishable, and it doesn't ship alone. If a judge asks why it's here at all: because the escalation-chain design is reused by the transplant case, which is in the video.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shape as the other two, simplest consent: your own line. The interval now matches the threshold — subscription first, 5-minute poll as fallback. Say that the partner is already the centre's alternate contact, and that Tower never talks to the hospital. The Do Not Disturb note answers the obvious objection before it's raised.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 basis, on-demand us-east-1, demo volume: AgentCore Runtime ~$3, Lambda + API Gateway ~$1, DynamoDB and Secrets Manager free tier / ~$1, SNS ~50 SMS ~$1, Route 53 + ACM ~$1, Bedrock dev-time ~$4. About $12. Re-run the calculator before the video if usage assumptions change.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ask. The third item is the one with leverage: whoever owns how Alexa+ shapes tool results for voice will decide whether "your SIM moved at 2:14" sounds like help or like an error.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53" y="1125965"/>
            <a:ext cx="10566460" cy="818555"/>
          </a:xfrm>
          <a:prstGeom prst="rect">
            <a:avLst/>
          </a:prstGeom>
          <a:noFill/>
          <a:ln/>
        </p:spPr>
        <p:txBody>
          <a:bodyPr wrap="square" lIns="0" tIns="0" rIns="0" bIns="0" rtlCol="0" anchor="t"/>
          <a:lstStyle>
            <a:lvl1pPr marL="0" indent="0" algn="l">
              <a:lnSpc>
                <a:spcPct val="115000"/>
              </a:lnSpc>
              <a:buNone/>
              <a:defRPr lang="en-US" sz="2940" dirty="0">
                <a:solidFill>
                  <a:srgbClr val="0E1726"/>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2940" dirty="0"/>
          </a:p>
        </p:txBody>
      </p:sp>
      <p:sp>
        <p:nvSpPr>
          <p:cNvPr id="3" name="Text Placeholder 2"/>
          <p:cNvSpPr>
            <a:spLocks noGrp="1"/>
          </p:cNvSpPr>
          <p:nvPr>
            <p:ph type="body" idx="101"/>
          </p:nvPr>
        </p:nvSpPr>
        <p:spPr>
          <a:xfrm>
            <a:off x="812753" y="2249320"/>
            <a:ext cx="10566447" cy="3795880"/>
          </a:xfrm>
          <a:prstGeom prst="rect">
            <a:avLst/>
          </a:prstGeom>
          <a:noFill/>
          <a:ln/>
        </p:spPr>
        <p:txBody>
          <a:bodyPr wrap="square" lIns="0" tIns="0" rIns="0" bIns="0" rtlCol="0" anchor="t"/>
          <a:lstStyle>
            <a:lvl1pPr marL="0" indent="0" algn="l">
              <a:lnSpc>
                <a:spcPct val="140000"/>
              </a:lnSpc>
              <a:buNone/>
              <a:defRPr lang="en-US" sz="1600" dirty="0">
                <a:solidFill>
                  <a:srgbClr val="0E1726"/>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53" y="1125965"/>
            <a:ext cx="10566460" cy="818555"/>
          </a:xfrm>
          <a:prstGeom prst="rect">
            <a:avLst/>
          </a:prstGeom>
          <a:noFill/>
          <a:ln/>
        </p:spPr>
        <p:txBody>
          <a:bodyPr wrap="square" lIns="0" tIns="0" rIns="0" bIns="0" rtlCol="0" anchor="t"/>
          <a:lstStyle>
            <a:lvl1pPr marL="0" indent="0" algn="l">
              <a:lnSpc>
                <a:spcPct val="115000"/>
              </a:lnSpc>
              <a:buNone/>
              <a:defRPr lang="en-US" sz="2940" dirty="0">
                <a:solidFill>
                  <a:srgbClr val="0E1726"/>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2940" dirty="0"/>
          </a:p>
        </p:txBody>
      </p:sp>
      <p:sp>
        <p:nvSpPr>
          <p:cNvPr id="3" name="Text Placeholder 2"/>
          <p:cNvSpPr>
            <a:spLocks noGrp="1"/>
          </p:cNvSpPr>
          <p:nvPr>
            <p:ph type="body" idx="101"/>
          </p:nvPr>
        </p:nvSpPr>
        <p:spPr>
          <a:xfrm>
            <a:off x="812753" y="2249320"/>
            <a:ext cx="10566447" cy="3795880"/>
          </a:xfrm>
          <a:prstGeom prst="rect">
            <a:avLst/>
          </a:prstGeom>
          <a:noFill/>
          <a:ln/>
        </p:spPr>
        <p:txBody>
          <a:bodyPr wrap="square" lIns="0" tIns="0" rIns="0" bIns="0" rtlCol="0" anchor="t"/>
          <a:lstStyle>
            <a:lvl1pPr marL="0" indent="0" algn="l">
              <a:lnSpc>
                <a:spcPct val="140000"/>
              </a:lnSpc>
              <a:buNone/>
              <a:defRPr lang="en-US" sz="1600" dirty="0">
                <a:solidFill>
                  <a:srgbClr val="0E1726"/>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726"/>
        </a:solidFill>
        <a:effectLst/>
      </p:bgPr>
    </p:bg>
    <p:spTree>
      <p:nvGrpSpPr>
        <p:cNvPr id="1" name=""/>
        <p:cNvGrpSpPr/>
        <p:nvPr/>
      </p:nvGrpSpPr>
      <p:grpSpPr>
        <a:xfrm>
          <a:off x="0" y="0"/>
          <a:ext cx="0" cy="0"/>
          <a:chOff x="0" y="0"/>
          <a:chExt cx="0" cy="0"/>
        </a:xfrm>
      </p:grpSpPr>
      <p:pic>
        <p:nvPicPr>
          <p:cNvPr id="2" name="Image 0" descr="Activity"/>
          <p:cNvPicPr>
            <a:picLocks noChangeAspect="1"/>
          </p:cNvPicPr>
          <p:nvPr/>
        </p:nvPicPr>
        <p:blipFill>
          <a:blip r:embed="rId3"/>
          <a:srcRect/>
          <a:stretch/>
        </p:blipFill>
        <p:spPr>
          <a:xfrm>
            <a:off x="812753" y="812753"/>
            <a:ext cx="304719" cy="304719"/>
          </a:xfrm>
          <a:prstGeom prst="rect">
            <a:avLst/>
          </a:prstGeom>
        </p:spPr>
      </p:pic>
      <p:sp>
        <p:nvSpPr>
          <p:cNvPr id="3" name="Text 0"/>
          <p:cNvSpPr/>
          <p:nvPr/>
        </p:nvSpPr>
        <p:spPr>
          <a:xfrm>
            <a:off x="1244439" y="849497"/>
            <a:ext cx="670382" cy="256546"/>
          </a:xfrm>
          <a:prstGeom prst="rect">
            <a:avLst/>
          </a:prstGeom>
          <a:noFill/>
          <a:ln/>
        </p:spPr>
        <p:txBody>
          <a:bodyPr wrap="square" lIns="0" tIns="0" rIns="0" bIns="0" rtlCol="0" anchor="t">
            <a:normAutofit/>
          </a:bodyPr>
          <a:lstStyle/>
          <a:p>
            <a:pPr marL="0" indent="0" algn="l">
              <a:lnSpc>
                <a:spcPts val="1820"/>
              </a:lnSpc>
              <a:buNone/>
            </a:pPr>
            <a:r>
              <a:rPr lang="en-US" sz="1300" kern="0" spc="100" dirty="0">
                <a:solidFill>
                  <a:srgbClr val="2BB3A0"/>
                </a:solidFill>
                <a:latin typeface="JetBrains Mono" pitchFamily="49" charset="0"/>
                <a:ea typeface="JetBrains Mono" pitchFamily="49" charset="-122"/>
                <a:cs typeface="JetBrains Mono" pitchFamily="49" charset="-120"/>
              </a:rPr>
              <a:t>TOWER</a:t>
            </a:r>
            <a:endParaRPr lang="en-US" sz="1300" dirty="0"/>
          </a:p>
        </p:txBody>
      </p:sp>
      <p:sp>
        <p:nvSpPr>
          <p:cNvPr id="4" name="Text 1"/>
          <p:cNvSpPr>
            <a:spLocks noGrp="1"/>
          </p:cNvSpPr>
          <p:nvPr>
            <p:ph type="title"/>
          </p:nvPr>
        </p:nvSpPr>
        <p:spPr>
          <a:xfrm>
            <a:off x="812753" y="2359640"/>
            <a:ext cx="10883454" cy="854465"/>
          </a:xfrm>
          <a:prstGeom prst="rect">
            <a:avLst/>
          </a:prstGeom>
          <a:noFill/>
          <a:ln/>
        </p:spPr>
        <p:txBody>
          <a:bodyPr wrap="square" lIns="0" tIns="0" rIns="0" bIns="0" rtlCol="0" anchor="t">
            <a:normAutofit/>
          </a:bodyPr>
          <a:lstStyle/>
          <a:p>
            <a:pPr marL="0" indent="0" algn="l">
              <a:lnSpc>
                <a:spcPts val="6528"/>
              </a:lnSpc>
              <a:buNone/>
            </a:pPr>
            <a:r>
              <a:rPr lang="en-US" sz="6400" b="1" i="0" kern="0" spc="-150" dirty="0">
                <a:solidFill>
                  <a:srgbClr val="F6F5F0"/>
                </a:solidFill>
                <a:latin typeface="IBM Plex Sans" pitchFamily="34" charset="0"/>
                <a:ea typeface="IBM Plex Sans" pitchFamily="34" charset="-122"/>
                <a:cs typeface="IBM Plex Sans" pitchFamily="34" charset="-120"/>
              </a:rPr>
              <a:t>Ask the tower.</a:t>
            </a:r>
            <a:endParaRPr lang="en-US" sz="6400" dirty="0"/>
          </a:p>
        </p:txBody>
      </p:sp>
      <p:sp>
        <p:nvSpPr>
          <p:cNvPr id="5" name="Text 2"/>
          <p:cNvSpPr/>
          <p:nvPr/>
        </p:nvSpPr>
        <p:spPr>
          <a:xfrm>
            <a:off x="812753" y="3366458"/>
            <a:ext cx="9156614" cy="966549"/>
          </a:xfrm>
          <a:prstGeom prst="rect">
            <a:avLst/>
          </a:prstGeom>
          <a:noFill/>
          <a:ln/>
        </p:spPr>
        <p:txBody>
          <a:bodyPr wrap="square" lIns="0" tIns="0" rIns="0" bIns="0" rtlCol="0" anchor="t">
            <a:normAutofit/>
          </a:bodyPr>
          <a:lstStyle/>
          <a:p>
            <a:pPr marL="0" indent="0" algn="l">
              <a:lnSpc>
                <a:spcPts val="2470"/>
              </a:lnSpc>
              <a:buNone/>
            </a:pPr>
            <a:r>
              <a:rPr lang="en-US" sz="1900" dirty="0">
                <a:solidFill>
                  <a:srgbClr val="B9C4D0"/>
                </a:solidFill>
                <a:latin typeface="IBM Plex Sans" pitchFamily="34" charset="0"/>
                <a:ea typeface="IBM Plex Sans" pitchFamily="34" charset="-122"/>
                <a:cs typeface="IBM Plex Sans" pitchFamily="34" charset="-120"/>
              </a:rPr>
              <a:t>Your network, on your side. Your own agent on Alexa+ asking the carrier about your line — from the one device that still works after your phone goes dead. Consent first.</a:t>
            </a:r>
            <a:endParaRPr lang="en-US" sz="1900" dirty="0"/>
          </a:p>
        </p:txBody>
      </p:sp>
      <p:sp>
        <p:nvSpPr>
          <p:cNvPr id="6" name="Text 3"/>
          <p:cNvSpPr/>
          <p:nvPr/>
        </p:nvSpPr>
        <p:spPr>
          <a:xfrm>
            <a:off x="812753" y="5549776"/>
            <a:ext cx="5028443" cy="520821"/>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B9C4D0"/>
                </a:solidFill>
                <a:latin typeface="IBM Plex Sans" pitchFamily="34" charset="0"/>
                <a:ea typeface="IBM Plex Sans" pitchFamily="34" charset="-122"/>
                <a:cs typeface="IBM Plex Sans" pitchFamily="34" charset="-120"/>
              </a:rPr>
              <a:t>Build Ship Shape — Amazon Developer Hackathon</a:t>
            </a:r>
            <a:endParaRPr lang="en-US" sz="1300" dirty="0"/>
          </a:p>
          <a:p>
            <a:pPr marL="0" indent="0" algn="l">
              <a:lnSpc>
                <a:spcPts val="1950"/>
              </a:lnSpc>
              <a:buNone/>
            </a:pPr>
            <a:r>
              <a:rPr lang="en-US" sz="1300" dirty="0">
                <a:solidFill>
                  <a:srgbClr val="B9C4D0"/>
                </a:solidFill>
                <a:latin typeface="IBM Plex Sans" pitchFamily="34" charset="0"/>
                <a:ea typeface="IBM Plex Sans" pitchFamily="34" charset="-122"/>
                <a:cs typeface="IBM Plex Sans" pitchFamily="34" charset="-120"/>
              </a:rPr>
              <a:t>Alexa+ MCP track · AWS Builder and Open Source mini-challenges</a:t>
            </a:r>
            <a:endParaRPr lang="en-US" sz="1300" dirty="0"/>
          </a:p>
        </p:txBody>
      </p:sp>
      <p:sp>
        <p:nvSpPr>
          <p:cNvPr id="7" name="Text 4"/>
          <p:cNvSpPr/>
          <p:nvPr/>
        </p:nvSpPr>
        <p:spPr>
          <a:xfrm>
            <a:off x="8341894" y="5597110"/>
            <a:ext cx="3737811" cy="730708"/>
          </a:xfrm>
          <a:prstGeom prst="rect">
            <a:avLst/>
          </a:prstGeom>
          <a:noFill/>
          <a:ln/>
        </p:spPr>
        <p:txBody>
          <a:bodyPr wrap="square" lIns="0" tIns="0" rIns="0" bIns="0" rtlCol="0" anchor="t">
            <a:normAutofit/>
          </a:bodyPr>
          <a:lstStyle/>
          <a:p>
            <a:pPr marL="0" indent="0" algn="ctr">
              <a:lnSpc>
                <a:spcPts val="1950"/>
              </a:lnSpc>
              <a:buNone/>
            </a:pPr>
            <a:r>
              <a:rPr lang="en-US" sz="1300" dirty="0">
                <a:solidFill>
                  <a:srgbClr val="B9C4D0"/>
                </a:solidFill>
                <a:latin typeface="IBM Plex Sans" pitchFamily="34" charset="0"/>
                <a:ea typeface="IBM Plex Sans" pitchFamily="34" charset="-122"/>
                <a:cs typeface="IBM Plex Sans" pitchFamily="34" charset="-120"/>
              </a:rPr>
              <a:t>Asish Bose &amp; Badhrinath Padmanabhan</a:t>
            </a:r>
            <a:endParaRPr lang="en-US" sz="1300" dirty="0"/>
          </a:p>
          <a:p>
            <a:pPr marL="0" indent="0" algn="ctr">
              <a:lnSpc>
                <a:spcPts val="1950"/>
              </a:lnSpc>
              <a:buNone/>
            </a:pPr>
            <a:r>
              <a:rPr lang="en-US" sz="1300" dirty="0">
                <a:solidFill>
                  <a:srgbClr val="B9C4D0"/>
                </a:solidFill>
                <a:latin typeface="IBM Plex Sans" pitchFamily="34" charset="0"/>
                <a:ea typeface="IBM Plex Sans" pitchFamily="34" charset="-122"/>
                <a:cs typeface="IBM Plex Sans" pitchFamily="34" charset="-120"/>
              </a:rPr>
              <a:t>Canada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753" y="812753"/>
            <a:ext cx="10883454" cy="256546"/>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B3A0"/>
                </a:solidFill>
                <a:latin typeface="IBM Plex Sans" pitchFamily="34" charset="0"/>
                <a:ea typeface="IBM Plex Sans" pitchFamily="34" charset="-122"/>
                <a:cs typeface="IBM Plex Sans" pitchFamily="34" charset="-120"/>
              </a:rPr>
              <a:t>THE PROBLEM</a:t>
            </a:r>
            <a:endParaRPr lang="en-US" sz="1300" dirty="0"/>
          </a:p>
        </p:txBody>
      </p:sp>
      <p:sp>
        <p:nvSpPr>
          <p:cNvPr id="3" name="Text 1"/>
          <p:cNvSpPr>
            <a:spLocks noGrp="1"/>
          </p:cNvSpPr>
          <p:nvPr>
            <p:ph type="title"/>
          </p:nvPr>
        </p:nvSpPr>
        <p:spPr>
          <a:xfrm>
            <a:off x="812753" y="1145472"/>
            <a:ext cx="10883454" cy="919378"/>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E1726"/>
                </a:solidFill>
                <a:latin typeface="IBM Plex Sans" pitchFamily="34" charset="0"/>
                <a:ea typeface="IBM Plex Sans" pitchFamily="34" charset="-122"/>
                <a:cs typeface="IBM Plex Sans" pitchFamily="34" charset="-120"/>
              </a:rPr>
              <a:t>Your carrier knows things about your line that you never get to use</a:t>
            </a:r>
            <a:endParaRPr lang="en-US" sz="3200" dirty="0"/>
          </a:p>
        </p:txBody>
      </p:sp>
      <p:sp>
        <p:nvSpPr>
          <p:cNvPr id="4" name="Shape 2"/>
          <p:cNvSpPr/>
          <p:nvPr/>
        </p:nvSpPr>
        <p:spPr>
          <a:xfrm>
            <a:off x="815928" y="2398215"/>
            <a:ext cx="3380373" cy="2457807"/>
          </a:xfrm>
          <a:prstGeom prst="roundRect">
            <a:avLst>
              <a:gd name="adj" fmla="val 4005"/>
            </a:avLst>
          </a:prstGeom>
          <a:solidFill>
            <a:srgbClr val="FFFFFF"/>
          </a:solidFill>
          <a:ln w="6350">
            <a:solidFill>
              <a:srgbClr val="DDE1E6"/>
            </a:solidFill>
            <a:prstDash val="solid"/>
          </a:ln>
        </p:spPr>
        <p:txBody>
          <a:bodyPr/>
          <a:lstStyle/>
          <a:p>
            <a:endParaRPr lang="en-US"/>
          </a:p>
        </p:txBody>
      </p:sp>
      <p:pic>
        <p:nvPicPr>
          <p:cNvPr id="5" name="Image 0" descr="Warning"/>
          <p:cNvPicPr>
            <a:picLocks noChangeAspect="1"/>
          </p:cNvPicPr>
          <p:nvPr/>
        </p:nvPicPr>
        <p:blipFill>
          <a:blip r:embed="rId3"/>
          <a:srcRect/>
          <a:stretch/>
        </p:blipFill>
        <p:spPr>
          <a:xfrm>
            <a:off x="1072067" y="2654354"/>
            <a:ext cx="279326" cy="279326"/>
          </a:xfrm>
          <a:prstGeom prst="rect">
            <a:avLst/>
          </a:prstGeom>
        </p:spPr>
      </p:pic>
      <p:sp>
        <p:nvSpPr>
          <p:cNvPr id="6" name="Text 3"/>
          <p:cNvSpPr/>
          <p:nvPr/>
        </p:nvSpPr>
        <p:spPr>
          <a:xfrm>
            <a:off x="1072067" y="3060647"/>
            <a:ext cx="2954138" cy="513085"/>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726"/>
                </a:solidFill>
                <a:latin typeface="IBM Plex Sans" pitchFamily="34" charset="0"/>
                <a:ea typeface="IBM Plex Sans" pitchFamily="34" charset="-122"/>
                <a:cs typeface="IBM Plex Sans" pitchFamily="34" charset="-120"/>
              </a:rPr>
              <a:t>Your phone goes dead and you don't know why</a:t>
            </a:r>
            <a:endParaRPr lang="en-US" sz="1600" dirty="0"/>
          </a:p>
        </p:txBody>
      </p:sp>
      <p:sp>
        <p:nvSpPr>
          <p:cNvPr id="7" name="Text 4"/>
          <p:cNvSpPr/>
          <p:nvPr/>
        </p:nvSpPr>
        <p:spPr>
          <a:xfrm>
            <a:off x="1072067" y="3675298"/>
            <a:ext cx="2954138" cy="94998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6505E"/>
                </a:solidFill>
                <a:latin typeface="IBM Plex Sans" pitchFamily="34" charset="0"/>
                <a:ea typeface="IBM Plex Sans" pitchFamily="34" charset="-122"/>
                <a:cs typeface="IBM Plex Sans" pitchFamily="34" charset="-120"/>
              </a:rPr>
              <a:t>A SIM swap looks exactly like bad signal for the first hour. The network logged it the moment it happened. Nobody told you.</a:t>
            </a:r>
            <a:endParaRPr lang="en-US" sz="1300" dirty="0"/>
          </a:p>
        </p:txBody>
      </p:sp>
      <p:sp>
        <p:nvSpPr>
          <p:cNvPr id="8" name="Shape 5"/>
          <p:cNvSpPr/>
          <p:nvPr/>
        </p:nvSpPr>
        <p:spPr>
          <a:xfrm>
            <a:off x="4405797" y="2398215"/>
            <a:ext cx="3380373" cy="2457807"/>
          </a:xfrm>
          <a:prstGeom prst="roundRect">
            <a:avLst>
              <a:gd name="adj" fmla="val 4005"/>
            </a:avLst>
          </a:prstGeom>
          <a:solidFill>
            <a:srgbClr val="FFFFFF"/>
          </a:solidFill>
          <a:ln w="6350">
            <a:solidFill>
              <a:srgbClr val="DDE1E6"/>
            </a:solidFill>
            <a:prstDash val="solid"/>
          </a:ln>
        </p:spPr>
        <p:txBody>
          <a:bodyPr/>
          <a:lstStyle/>
          <a:p>
            <a:endParaRPr lang="en-US"/>
          </a:p>
        </p:txBody>
      </p:sp>
      <p:pic>
        <p:nvPicPr>
          <p:cNvPr id="9" name="Image 1" descr="Lightning"/>
          <p:cNvPicPr>
            <a:picLocks noChangeAspect="1"/>
          </p:cNvPicPr>
          <p:nvPr/>
        </p:nvPicPr>
        <p:blipFill>
          <a:blip r:embed="rId4"/>
          <a:srcRect/>
          <a:stretch/>
        </p:blipFill>
        <p:spPr>
          <a:xfrm>
            <a:off x="4661936" y="2654354"/>
            <a:ext cx="279326" cy="279326"/>
          </a:xfrm>
          <a:prstGeom prst="rect">
            <a:avLst/>
          </a:prstGeom>
        </p:spPr>
      </p:pic>
      <p:sp>
        <p:nvSpPr>
          <p:cNvPr id="10" name="Text 6"/>
          <p:cNvSpPr/>
          <p:nvPr/>
        </p:nvSpPr>
        <p:spPr>
          <a:xfrm>
            <a:off x="4661936" y="3060647"/>
            <a:ext cx="2954138" cy="513085"/>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726"/>
                </a:solidFill>
                <a:latin typeface="IBM Plex Sans" pitchFamily="34" charset="0"/>
                <a:ea typeface="IBM Plex Sans" pitchFamily="34" charset="-122"/>
                <a:cs typeface="IBM Plex Sans" pitchFamily="34" charset="-120"/>
              </a:rPr>
              <a:t>Your calls are being forwarded and nothing says so</a:t>
            </a:r>
            <a:endParaRPr lang="en-US" sz="1600" dirty="0"/>
          </a:p>
        </p:txBody>
      </p:sp>
      <p:sp>
        <p:nvSpPr>
          <p:cNvPr id="11" name="Text 7"/>
          <p:cNvSpPr/>
          <p:nvPr/>
        </p:nvSpPr>
        <p:spPr>
          <a:xfrm>
            <a:off x="4661936" y="3675298"/>
            <a:ext cx="2954138" cy="94998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6505E"/>
                </a:solidFill>
                <a:latin typeface="IBM Plex Sans" pitchFamily="34" charset="0"/>
                <a:ea typeface="IBM Plex Sans" pitchFamily="34" charset="-122"/>
                <a:cs typeface="IBM Plex Sans" pitchFamily="34" charset="-120"/>
              </a:rPr>
              <a:t>Unconditional forwarding set on your line is a classic takeover move. The network knows the flag is set. You find out from your bank.</a:t>
            </a:r>
            <a:endParaRPr lang="en-US" sz="1300" dirty="0"/>
          </a:p>
        </p:txBody>
      </p:sp>
      <p:sp>
        <p:nvSpPr>
          <p:cNvPr id="12" name="Shape 8"/>
          <p:cNvSpPr/>
          <p:nvPr/>
        </p:nvSpPr>
        <p:spPr>
          <a:xfrm>
            <a:off x="7995666" y="2398215"/>
            <a:ext cx="3380373" cy="2457807"/>
          </a:xfrm>
          <a:prstGeom prst="roundRect">
            <a:avLst>
              <a:gd name="adj" fmla="val 4005"/>
            </a:avLst>
          </a:prstGeom>
          <a:solidFill>
            <a:srgbClr val="FFFFFF"/>
          </a:solidFill>
          <a:ln w="6350">
            <a:solidFill>
              <a:srgbClr val="DDE1E6"/>
            </a:solidFill>
            <a:prstDash val="solid"/>
          </a:ln>
        </p:spPr>
        <p:txBody>
          <a:bodyPr/>
          <a:lstStyle/>
          <a:p>
            <a:endParaRPr lang="en-US"/>
          </a:p>
        </p:txBody>
      </p:sp>
      <p:pic>
        <p:nvPicPr>
          <p:cNvPr id="13" name="Image 2" descr="Users"/>
          <p:cNvPicPr>
            <a:picLocks noChangeAspect="1"/>
          </p:cNvPicPr>
          <p:nvPr/>
        </p:nvPicPr>
        <p:blipFill>
          <a:blip r:embed="rId5"/>
          <a:srcRect/>
          <a:stretch/>
        </p:blipFill>
        <p:spPr>
          <a:xfrm>
            <a:off x="8251805" y="2654354"/>
            <a:ext cx="279326" cy="279326"/>
          </a:xfrm>
          <a:prstGeom prst="rect">
            <a:avLst/>
          </a:prstGeom>
        </p:spPr>
      </p:pic>
      <p:sp>
        <p:nvSpPr>
          <p:cNvPr id="14" name="Text 9"/>
          <p:cNvSpPr/>
          <p:nvPr/>
        </p:nvSpPr>
        <p:spPr>
          <a:xfrm>
            <a:off x="8251805" y="3060647"/>
            <a:ext cx="2954138" cy="513085"/>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726"/>
                </a:solidFill>
                <a:latin typeface="IBM Plex Sans" pitchFamily="34" charset="0"/>
                <a:ea typeface="IBM Plex Sans" pitchFamily="34" charset="-122"/>
                <a:cs typeface="IBM Plex Sans" pitchFamily="34" charset="-120"/>
              </a:rPr>
              <a:t>You don't know if Mom's phone is even on</a:t>
            </a:r>
            <a:endParaRPr lang="en-US" sz="1600" dirty="0"/>
          </a:p>
        </p:txBody>
      </p:sp>
      <p:sp>
        <p:nvSpPr>
          <p:cNvPr id="15" name="Text 10"/>
          <p:cNvSpPr/>
          <p:nvPr/>
        </p:nvSpPr>
        <p:spPr>
          <a:xfrm>
            <a:off x="8251805" y="3675298"/>
            <a:ext cx="2954138" cy="94998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6505E"/>
                </a:solidFill>
                <a:latin typeface="IBM Plex Sans" pitchFamily="34" charset="0"/>
                <a:ea typeface="IBM Plex Sans" pitchFamily="34" charset="-122"/>
                <a:cs typeface="IBM Plex Sans" pitchFamily="34" charset="-120"/>
              </a:rPr>
              <a:t>The network knows whether her device is reachable. You get to call and hope — or install an app she'll never open.</a:t>
            </a:r>
            <a:endParaRPr lang="en-US" sz="1300" dirty="0"/>
          </a:p>
        </p:txBody>
      </p:sp>
      <p:sp>
        <p:nvSpPr>
          <p:cNvPr id="16" name="Text 11"/>
          <p:cNvSpPr/>
          <p:nvPr/>
        </p:nvSpPr>
        <p:spPr>
          <a:xfrm>
            <a:off x="812753" y="6238338"/>
            <a:ext cx="8323276" cy="23863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583"/>
                </a:solidFill>
                <a:latin typeface="IBM Plex Sans" pitchFamily="34" charset="0"/>
                <a:ea typeface="IBM Plex Sans" pitchFamily="34" charset="-122"/>
                <a:cs typeface="IBM Plex Sans" pitchFamily="34" charset="-120"/>
              </a:rPr>
              <a:t>Each of these is answerable today with a standard carrier API — just not by the person whose line it is.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753" y="812753"/>
            <a:ext cx="10883454" cy="238804"/>
          </a:xfrm>
          <a:prstGeom prst="rect">
            <a:avLst/>
          </a:prstGeom>
          <a:noFill/>
          <a:ln/>
        </p:spPr>
        <p:txBody>
          <a:bodyPr wrap="square" lIns="0" tIns="0" rIns="0" bIns="0" rtlCol="0" anchor="t">
            <a:normAutofit/>
          </a:bodyPr>
          <a:lstStyle/>
          <a:p>
            <a:pPr marL="0" indent="0" algn="l">
              <a:lnSpc>
                <a:spcPts val="1723"/>
              </a:lnSpc>
              <a:buNone/>
            </a:pPr>
            <a:r>
              <a:rPr lang="en-US" sz="1231" b="1" kern="0" spc="100" dirty="0">
                <a:solidFill>
                  <a:srgbClr val="2BB3A0"/>
                </a:solidFill>
                <a:latin typeface="IBM Plex Sans" pitchFamily="34" charset="0"/>
                <a:ea typeface="IBM Plex Sans" pitchFamily="34" charset="-122"/>
                <a:cs typeface="IBM Plex Sans" pitchFamily="34" charset="-120"/>
              </a:rPr>
              <a:t>WHAT CHANGED</a:t>
            </a:r>
            <a:endParaRPr lang="en-US" sz="1231" dirty="0"/>
          </a:p>
        </p:txBody>
      </p:sp>
      <p:sp>
        <p:nvSpPr>
          <p:cNvPr id="3" name="Text 1"/>
          <p:cNvSpPr>
            <a:spLocks noGrp="1"/>
          </p:cNvSpPr>
          <p:nvPr>
            <p:ph type="title"/>
          </p:nvPr>
        </p:nvSpPr>
        <p:spPr>
          <a:xfrm>
            <a:off x="812753" y="1127731"/>
            <a:ext cx="10883454" cy="850934"/>
          </a:xfrm>
          <a:prstGeom prst="rect">
            <a:avLst/>
          </a:prstGeom>
          <a:noFill/>
          <a:ln/>
        </p:spPr>
        <p:txBody>
          <a:bodyPr wrap="square" lIns="0" tIns="0" rIns="0" bIns="0" rtlCol="0" anchor="t">
            <a:normAutofit/>
          </a:bodyPr>
          <a:lstStyle/>
          <a:p>
            <a:pPr marL="0" indent="0" algn="l">
              <a:lnSpc>
                <a:spcPts val="3256"/>
              </a:lnSpc>
              <a:buNone/>
            </a:pPr>
            <a:r>
              <a:rPr lang="en-US" sz="2960" b="1" i="0" dirty="0">
                <a:solidFill>
                  <a:srgbClr val="0E1726"/>
                </a:solidFill>
                <a:latin typeface="IBM Plex Sans" pitchFamily="34" charset="0"/>
                <a:ea typeface="IBM Plex Sans" pitchFamily="34" charset="-122"/>
                <a:cs typeface="IBM Plex Sans" pitchFamily="34" charset="-120"/>
              </a:rPr>
              <a:t>Carrier network APIs are now standard and open — and every consumer of them is a business</a:t>
            </a:r>
            <a:endParaRPr lang="en-US" sz="2960" dirty="0"/>
          </a:p>
        </p:txBody>
      </p:sp>
      <p:sp>
        <p:nvSpPr>
          <p:cNvPr id="4" name="Text 2"/>
          <p:cNvSpPr/>
          <p:nvPr/>
        </p:nvSpPr>
        <p:spPr>
          <a:xfrm>
            <a:off x="812753" y="2257983"/>
            <a:ext cx="6027878" cy="48769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6505E"/>
                </a:solidFill>
                <a:latin typeface="IBM Plex Sans" pitchFamily="34" charset="0"/>
                <a:ea typeface="IBM Plex Sans" pitchFamily="34" charset="-122"/>
                <a:cs typeface="IBM Plex Sans" pitchFamily="34" charset="-120"/>
              </a:rPr>
              <a:t>CAMARA (the GSMA Open Gateway API family) defines the same calls across carriers. The ones this pitch uses:</a:t>
            </a:r>
            <a:endParaRPr lang="en-US" sz="1300" dirty="0"/>
          </a:p>
        </p:txBody>
      </p:sp>
      <p:sp>
        <p:nvSpPr>
          <p:cNvPr id="5" name="Shape 3"/>
          <p:cNvSpPr/>
          <p:nvPr/>
        </p:nvSpPr>
        <p:spPr>
          <a:xfrm>
            <a:off x="812753" y="2796456"/>
            <a:ext cx="5852309" cy="3316513"/>
          </a:xfrm>
          <a:custGeom>
            <a:avLst/>
            <a:gdLst/>
            <a:ahLst/>
            <a:cxnLst/>
            <a:rect l="l" t="t" r="r" b="b"/>
            <a:pathLst>
              <a:path w="5852309" h="3316513">
                <a:moveTo>
                  <a:pt x="5776109" y="0"/>
                </a:moveTo>
                <a:lnTo>
                  <a:pt x="5776109" y="0"/>
                </a:lnTo>
                <a:arcTo wR="76200" hR="76200" stAng="16200000" swAng="5400000"/>
                <a:lnTo>
                  <a:pt x="5852309" y="3240313"/>
                </a:lnTo>
                <a:arcTo wR="76200" hR="76200" stAng="0" swAng="5400000"/>
                <a:lnTo>
                  <a:pt x="76200" y="3316513"/>
                </a:lnTo>
                <a:arcTo wR="76200" hR="76200" stAng="5400000" swAng="5400000"/>
                <a:lnTo>
                  <a:pt x="0" y="3240313"/>
                </a:lnTo>
                <a:arcTo wR="76200" hR="69850" stAng="10800000" swAng="-5400000"/>
                <a:lnTo>
                  <a:pt x="5776109" y="3310163"/>
                </a:lnTo>
                <a:arcTo wR="69850" hR="69850" stAng="5400000" swAng="-5400000"/>
                <a:lnTo>
                  <a:pt x="5845959" y="76200"/>
                </a:lnTo>
                <a:arcTo wR="69850" hR="76200" stAng="0" swAng="-5400000"/>
                <a:close/>
              </a:path>
            </a:pathLst>
          </a:custGeom>
          <a:solidFill>
            <a:srgbClr val="DDE1E6"/>
          </a:solidFill>
          <a:ln/>
        </p:spPr>
        <p:txBody>
          <a:bodyPr/>
          <a:lstStyle/>
          <a:p>
            <a:endParaRPr lang="en-US"/>
          </a:p>
        </p:txBody>
      </p:sp>
      <p:sp>
        <p:nvSpPr>
          <p:cNvPr id="6" name="Shape 4"/>
          <p:cNvSpPr/>
          <p:nvPr/>
        </p:nvSpPr>
        <p:spPr>
          <a:xfrm>
            <a:off x="812753" y="2796456"/>
            <a:ext cx="5852309" cy="3316513"/>
          </a:xfrm>
          <a:custGeom>
            <a:avLst/>
            <a:gdLst/>
            <a:ahLst/>
            <a:cxnLst/>
            <a:rect l="l" t="t" r="r" b="b"/>
            <a:pathLst>
              <a:path w="5852309" h="3316513">
                <a:moveTo>
                  <a:pt x="76200" y="3316513"/>
                </a:moveTo>
                <a:lnTo>
                  <a:pt x="76200" y="3316513"/>
                </a:lnTo>
                <a:arcTo wR="76200" hR="76200" stAng="5400000" swAng="5400000"/>
                <a:lnTo>
                  <a:pt x="0" y="76200"/>
                </a:lnTo>
                <a:arcTo wR="76200" hR="76200" stAng="10800000" swAng="5400000"/>
                <a:lnTo>
                  <a:pt x="5776109" y="0"/>
                </a:lnTo>
                <a:arcTo wR="76200" hR="76200" stAng="16200000" swAng="5400000"/>
                <a:lnTo>
                  <a:pt x="5852309" y="76200"/>
                </a:lnTo>
                <a:arcTo wR="76200" hR="65437" stAng="0" swAng="-5400000"/>
                <a:lnTo>
                  <a:pt x="76200" y="10763"/>
                </a:lnTo>
                <a:arcTo wR="65437" hR="65437" stAng="16200000" swAng="-5400000"/>
                <a:lnTo>
                  <a:pt x="10763" y="3240313"/>
                </a:lnTo>
                <a:arcTo wR="65437" hR="76200" stAng="10800000" swAng="-5400000"/>
                <a:close/>
              </a:path>
            </a:pathLst>
          </a:custGeom>
          <a:solidFill>
            <a:srgbClr val="141413">
              <a:alpha val="22000"/>
            </a:srgbClr>
          </a:solidFill>
          <a:ln/>
        </p:spPr>
        <p:txBody>
          <a:bodyPr/>
          <a:lstStyle/>
          <a:p>
            <a:endParaRPr lang="en-US"/>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3516" y="2807218"/>
          <a:ext cx="5836165" cy="3300370"/>
        </p:xfrm>
        <a:graphic>
          <a:graphicData uri="http://schemas.openxmlformats.org/drawingml/2006/table">
            <a:tbl>
              <a:tblPr/>
              <a:tblGrid>
                <a:gridCol w="2217743">
                  <a:extLst>
                    <a:ext uri="{9D8B030D-6E8A-4147-A177-3AD203B41FA5}">
                      <a16:colId xmlns:a16="http://schemas.microsoft.com/office/drawing/2014/main" val="20000"/>
                    </a:ext>
                  </a:extLst>
                </a:gridCol>
                <a:gridCol w="3618422">
                  <a:extLst>
                    <a:ext uri="{9D8B030D-6E8A-4147-A177-3AD203B41FA5}">
                      <a16:colId xmlns:a16="http://schemas.microsoft.com/office/drawing/2014/main" val="20001"/>
                    </a:ext>
                  </a:extLst>
                </a:gridCol>
              </a:tblGrid>
              <a:tr h="357440">
                <a:tc>
                  <a:txBody>
                    <a:bodyPr/>
                    <a:lstStyle/>
                    <a:p>
                      <a:pPr marL="0" indent="0">
                        <a:lnSpc>
                          <a:spcPts val="1820"/>
                        </a:lnSpc>
                        <a:buNone/>
                      </a:pPr>
                      <a:r>
                        <a:rPr lang="en-US" sz="1300" b="1" dirty="0">
                          <a:solidFill>
                            <a:srgbClr val="0E1726"/>
                          </a:solidFill>
                          <a:latin typeface="IBM Plex Sans" pitchFamily="34" charset="0"/>
                          <a:ea typeface="IBM Plex Sans" pitchFamily="34" charset="-122"/>
                          <a:cs typeface="IBM Plex Sans" pitchFamily="34" charset="-120"/>
                        </a:rPr>
                        <a:t>API</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0F1622"/>
                      </a:solidFill>
                      <a:prstDash val="solid"/>
                      <a:round/>
                      <a:headEnd type="none" w="med" len="med"/>
                      <a:tailEnd type="none" w="med" len="med"/>
                    </a:lnR>
                    <a:lnT w="0" cap="flat" cmpd="sng" algn="ctr">
                      <a:noFill/>
                    </a:lnT>
                    <a:lnB w="12700" cap="flat" cmpd="sng" algn="ctr">
                      <a:solidFill>
                        <a:srgbClr val="0F1622"/>
                      </a:solidFill>
                      <a:prstDash val="solid"/>
                      <a:round/>
                      <a:headEnd type="none" w="med" len="med"/>
                      <a:tailEnd type="none" w="med" len="med"/>
                    </a:lnB>
                    <a:solidFill>
                      <a:srgbClr val="0E1726"/>
                    </a:solidFill>
                  </a:tcPr>
                </a:tc>
                <a:tc>
                  <a:txBody>
                    <a:bodyPr/>
                    <a:lstStyle/>
                    <a:p>
                      <a:pPr marL="0" indent="0">
                        <a:lnSpc>
                          <a:spcPts val="1820"/>
                        </a:lnSpc>
                        <a:buNone/>
                      </a:pPr>
                      <a:r>
                        <a:rPr lang="en-US" sz="1300" b="1" dirty="0">
                          <a:solidFill>
                            <a:srgbClr val="0E1726"/>
                          </a:solidFill>
                          <a:latin typeface="IBM Plex Sans" pitchFamily="34" charset="0"/>
                          <a:ea typeface="IBM Plex Sans" pitchFamily="34" charset="-122"/>
                          <a:cs typeface="IBM Plex Sans" pitchFamily="34" charset="-120"/>
                        </a:rPr>
                        <a:t>What it answers</a:t>
                      </a:r>
                      <a:endParaRPr lang="en-US" sz="1300" dirty="0">
                        <a:latin typeface="IBM Plex Sans" charset="0"/>
                        <a:ea typeface="IBM Plex Sans" charset="0"/>
                        <a:cs typeface="IBM Plex Sans" charset="0"/>
                      </a:endParaRPr>
                    </a:p>
                  </a:txBody>
                  <a:tcPr marL="57785" marR="57785" marT="57785" marB="57785">
                    <a:lnL w="12700" cap="flat" cmpd="sng" algn="ctr">
                      <a:solidFill>
                        <a:srgbClr val="0F1622"/>
                      </a:solidFill>
                      <a:prstDash val="solid"/>
                      <a:round/>
                      <a:headEnd type="none" w="med" len="med"/>
                      <a:tailEnd type="none" w="med" len="med"/>
                    </a:lnL>
                    <a:lnR w="12700" cap="flat" cmpd="sng" algn="ctr">
                      <a:solidFill>
                        <a:srgbClr val="0F1622"/>
                      </a:solidFill>
                      <a:prstDash val="solid"/>
                      <a:round/>
                      <a:headEnd type="none" w="med" len="med"/>
                      <a:tailEnd type="none" w="med" len="med"/>
                    </a:lnR>
                    <a:lnT w="0" cap="flat" cmpd="sng" algn="ctr">
                      <a:noFill/>
                    </a:lnT>
                    <a:lnB w="12700" cap="flat" cmpd="sng" algn="ctr">
                      <a:solidFill>
                        <a:srgbClr val="0F1622"/>
                      </a:solidFill>
                      <a:prstDash val="solid"/>
                      <a:round/>
                      <a:headEnd type="none" w="med" len="med"/>
                      <a:tailEnd type="none" w="med" len="med"/>
                    </a:lnB>
                    <a:solidFill>
                      <a:srgbClr val="0E1726"/>
                    </a:solidFill>
                  </a:tcPr>
                </a:tc>
                <a:extLst>
                  <a:ext uri="{0D108BD9-81ED-4DB2-BD59-A6C34878D82A}">
                    <a16:rowId xmlns:a16="http://schemas.microsoft.com/office/drawing/2014/main" val="10000"/>
                  </a:ext>
                </a:extLst>
              </a:tr>
              <a:tr h="588586">
                <a:tc>
                  <a:txBody>
                    <a:bodyPr/>
                    <a:lstStyle/>
                    <a:p>
                      <a:pPr marL="0" indent="0">
                        <a:lnSpc>
                          <a:spcPts val="1820"/>
                        </a:lnSpc>
                        <a:buNone/>
                      </a:pPr>
                      <a:r>
                        <a:rPr lang="en-US" sz="1300" dirty="0">
                          <a:solidFill>
                            <a:srgbClr val="0E1726"/>
                          </a:solidFill>
                          <a:latin typeface="IBM Plex Sans" pitchFamily="34" charset="0"/>
                          <a:ea typeface="IBM Plex Sans" pitchFamily="34" charset="-122"/>
                          <a:cs typeface="IBM Plex Sans" pitchFamily="34" charset="-120"/>
                        </a:rPr>
                        <a:t>SIM Swap</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C4C4BF"/>
                      </a:solidFill>
                      <a:prstDash val="solid"/>
                      <a:round/>
                      <a:headEnd type="none" w="med" len="med"/>
                      <a:tailEnd type="none" w="med" len="med"/>
                    </a:lnR>
                    <a:lnT w="12700" cap="flat" cmpd="sng" algn="ctr">
                      <a:solidFill>
                        <a:srgbClr val="0F1622"/>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1820"/>
                        </a:lnSpc>
                        <a:buNone/>
                      </a:pPr>
                      <a:r>
                        <a:rPr lang="en-US" sz="1300" dirty="0">
                          <a:solidFill>
                            <a:srgbClr val="0E1726"/>
                          </a:solidFill>
                          <a:latin typeface="IBM Plex Sans" pitchFamily="34" charset="0"/>
                          <a:ea typeface="IBM Plex Sans" pitchFamily="34" charset="-122"/>
                          <a:cs typeface="IBM Plex Sans" pitchFamily="34" charset="-120"/>
                        </a:rPr>
                        <a:t>Was this number's SIM changed in the last N hours?</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0F1622"/>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extLst>
                  <a:ext uri="{0D108BD9-81ED-4DB2-BD59-A6C34878D82A}">
                    <a16:rowId xmlns:a16="http://schemas.microsoft.com/office/drawing/2014/main" val="10001"/>
                  </a:ext>
                </a:extLst>
              </a:tr>
              <a:tr h="588586">
                <a:tc>
                  <a:txBody>
                    <a:bodyPr/>
                    <a:lstStyle/>
                    <a:p>
                      <a:pPr marL="0" indent="0">
                        <a:lnSpc>
                          <a:spcPts val="1820"/>
                        </a:lnSpc>
                        <a:buNone/>
                      </a:pPr>
                      <a:r>
                        <a:rPr lang="en-US" sz="1300" dirty="0">
                          <a:solidFill>
                            <a:srgbClr val="0E1726"/>
                          </a:solidFill>
                          <a:latin typeface="IBM Plex Sans" pitchFamily="34" charset="0"/>
                          <a:ea typeface="IBM Plex Sans" pitchFamily="34" charset="-122"/>
                          <a:cs typeface="IBM Plex Sans" pitchFamily="34" charset="-120"/>
                        </a:rPr>
                        <a:t>Number Verification</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CBCBCB"/>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0E1726"/>
                          </a:solidFill>
                          <a:latin typeface="IBM Plex Sans" pitchFamily="34" charset="0"/>
                          <a:ea typeface="IBM Plex Sans" pitchFamily="34" charset="-122"/>
                          <a:cs typeface="IBM Plex Sans" pitchFamily="34" charset="-120"/>
                        </a:rPr>
                        <a:t>Is the caller really on this line? (binds a device to a number)</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88586">
                <a:tc>
                  <a:txBody>
                    <a:bodyPr/>
                    <a:lstStyle/>
                    <a:p>
                      <a:pPr marL="0" indent="0">
                        <a:lnSpc>
                          <a:spcPts val="1820"/>
                        </a:lnSpc>
                        <a:buNone/>
                      </a:pPr>
                      <a:r>
                        <a:rPr lang="en-US" sz="1300" dirty="0">
                          <a:solidFill>
                            <a:srgbClr val="0E1726"/>
                          </a:solidFill>
                          <a:latin typeface="IBM Plex Sans" pitchFamily="34" charset="0"/>
                          <a:ea typeface="IBM Plex Sans" pitchFamily="34" charset="-122"/>
                          <a:cs typeface="IBM Plex Sans" pitchFamily="34" charset="-120"/>
                        </a:rPr>
                        <a:t>Call Forwarding Signal</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C4C4B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1820"/>
                        </a:lnSpc>
                        <a:buNone/>
                      </a:pPr>
                      <a:r>
                        <a:rPr lang="en-US" sz="1300" dirty="0">
                          <a:solidFill>
                            <a:srgbClr val="0E1726"/>
                          </a:solidFill>
                          <a:latin typeface="IBM Plex Sans" pitchFamily="34" charset="0"/>
                          <a:ea typeface="IBM Plex Sans" pitchFamily="34" charset="-122"/>
                          <a:cs typeface="IBM Plex Sans" pitchFamily="34" charset="-120"/>
                        </a:rPr>
                        <a:t>Is unconditional forwarding set on this line? — a takeover tell-tale</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extLst>
                  <a:ext uri="{0D108BD9-81ED-4DB2-BD59-A6C34878D82A}">
                    <a16:rowId xmlns:a16="http://schemas.microsoft.com/office/drawing/2014/main" val="10003"/>
                  </a:ext>
                </a:extLst>
              </a:tr>
              <a:tr h="588586">
                <a:tc>
                  <a:txBody>
                    <a:bodyPr/>
                    <a:lstStyle/>
                    <a:p>
                      <a:pPr marL="0" indent="0">
                        <a:lnSpc>
                          <a:spcPts val="1820"/>
                        </a:lnSpc>
                        <a:buNone/>
                      </a:pPr>
                      <a:r>
                        <a:rPr lang="en-US" sz="1300" dirty="0">
                          <a:solidFill>
                            <a:srgbClr val="0E1726"/>
                          </a:solidFill>
                          <a:latin typeface="IBM Plex Sans" pitchFamily="34" charset="0"/>
                          <a:ea typeface="IBM Plex Sans" pitchFamily="34" charset="-122"/>
                          <a:cs typeface="IBM Plex Sans" pitchFamily="34" charset="-120"/>
                        </a:rPr>
                        <a:t>Device Reachability</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CBCBCB"/>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0E1726"/>
                          </a:solidFill>
                          <a:latin typeface="IBM Plex Sans" pitchFamily="34" charset="0"/>
                          <a:ea typeface="IBM Plex Sans" pitchFamily="34" charset="-122"/>
                          <a:cs typeface="IBM Plex Sans" pitchFamily="34" charset="-120"/>
                        </a:rPr>
                        <a:t>Is this device connected to the network right now?</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88586">
                <a:tc>
                  <a:txBody>
                    <a:bodyPr/>
                    <a:lstStyle/>
                    <a:p>
                      <a:pPr marL="0" indent="0">
                        <a:lnSpc>
                          <a:spcPts val="1820"/>
                        </a:lnSpc>
                        <a:buNone/>
                      </a:pPr>
                      <a:r>
                        <a:rPr lang="en-US" sz="1300" dirty="0">
                          <a:solidFill>
                            <a:srgbClr val="0E1726"/>
                          </a:solidFill>
                          <a:latin typeface="IBM Plex Sans" pitchFamily="34" charset="0"/>
                          <a:ea typeface="IBM Plex Sans" pitchFamily="34" charset="-122"/>
                          <a:cs typeface="IBM Plex Sans" pitchFamily="34" charset="-120"/>
                        </a:rPr>
                        <a:t>SIM Swap · Reachability subscriptions</a:t>
                      </a:r>
                      <a:endParaRPr lang="en-US" sz="1300" dirty="0">
                        <a:latin typeface="IBM Plex Sans" charset="0"/>
                        <a:ea typeface="IBM Plex Sans" charset="0"/>
                        <a:cs typeface="IBM Plex Sans" charset="0"/>
                      </a:endParaRPr>
                    </a:p>
                  </a:txBody>
                  <a:tcPr marL="57785" marR="57785" marT="57785" marB="57785">
                    <a:lnL w="0" cap="flat" cmpd="sng" algn="ctr">
                      <a:noFill/>
                    </a:lnL>
                    <a:lnR w="12700" cap="flat" cmpd="sng" algn="ctr">
                      <a:solidFill>
                        <a:srgbClr val="C4C4B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1820"/>
                        </a:lnSpc>
                        <a:buNone/>
                      </a:pPr>
                      <a:r>
                        <a:rPr lang="en-US" sz="1300" dirty="0">
                          <a:solidFill>
                            <a:srgbClr val="0E1726"/>
                          </a:solidFill>
                          <a:latin typeface="IBM Plex Sans" pitchFamily="34" charset="0"/>
                          <a:ea typeface="IBM Plex Sans" pitchFamily="34" charset="-122"/>
                          <a:cs typeface="IBM Plex Sans" pitchFamily="34" charset="-120"/>
                        </a:rPr>
                        <a:t>Tell me when it changes — the event feed behind the alerts</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Shape 5"/>
          <p:cNvSpPr/>
          <p:nvPr/>
        </p:nvSpPr>
        <p:spPr>
          <a:xfrm>
            <a:off x="6918995" y="2257983"/>
            <a:ext cx="4460219" cy="2756432"/>
          </a:xfrm>
          <a:prstGeom prst="roundRect">
            <a:avLst>
              <a:gd name="adj" fmla="val 3686"/>
            </a:avLst>
          </a:prstGeom>
          <a:solidFill>
            <a:srgbClr val="0E1726"/>
          </a:solidFill>
          <a:ln/>
        </p:spPr>
        <p:txBody>
          <a:bodyPr/>
          <a:lstStyle/>
          <a:p>
            <a:endParaRPr lang="en-US"/>
          </a:p>
        </p:txBody>
      </p:sp>
      <p:sp>
        <p:nvSpPr>
          <p:cNvPr id="9" name="Text 6"/>
          <p:cNvSpPr/>
          <p:nvPr/>
        </p:nvSpPr>
        <p:spPr>
          <a:xfrm>
            <a:off x="7198320" y="2537310"/>
            <a:ext cx="4018614" cy="26924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BB3A0"/>
                </a:solidFill>
                <a:latin typeface="IBM Plex Sans" pitchFamily="34" charset="0"/>
                <a:ea typeface="IBM Plex Sans" pitchFamily="34" charset="-122"/>
                <a:cs typeface="IBM Plex Sans" pitchFamily="34" charset="-120"/>
              </a:rPr>
              <a:t>Who calls these today</a:t>
            </a:r>
            <a:endParaRPr lang="en-US" sz="1600" dirty="0"/>
          </a:p>
        </p:txBody>
      </p:sp>
      <p:sp>
        <p:nvSpPr>
          <p:cNvPr id="10" name="Text 7"/>
          <p:cNvSpPr/>
          <p:nvPr/>
        </p:nvSpPr>
        <p:spPr>
          <a:xfrm>
            <a:off x="7198320" y="2933512"/>
            <a:ext cx="4018614" cy="1016242"/>
          </a:xfrm>
          <a:prstGeom prst="rect">
            <a:avLst/>
          </a:prstGeom>
          <a:noFill/>
          <a:ln/>
        </p:spPr>
        <p:txBody>
          <a:bodyPr wrap="square" lIns="0" tIns="0" rIns="0" bIns="0" rtlCol="0" anchor="t">
            <a:normAutofit/>
          </a:bodyPr>
          <a:lstStyle/>
          <a:p>
            <a:pPr marL="198120" indent="-168656" algn="l">
              <a:lnSpc>
                <a:spcPts val="1950"/>
              </a:lnSpc>
              <a:buSzPct val="100000"/>
              <a:buChar char="•"/>
            </a:pPr>
            <a:r>
              <a:rPr lang="en-US" sz="1300" dirty="0">
                <a:solidFill>
                  <a:srgbClr val="B9C4D0"/>
                </a:solidFill>
                <a:latin typeface="IBM Plex Sans" pitchFamily="34" charset="0"/>
                <a:ea typeface="IBM Plex Sans" pitchFamily="34" charset="-122"/>
                <a:cs typeface="IBM Plex Sans" pitchFamily="34" charset="-120"/>
              </a:rPr>
              <a:t>Banks and fintechs, for fraud checks</a:t>
            </a:r>
            <a:endParaRPr lang="en-US" sz="1300" dirty="0"/>
          </a:p>
          <a:p>
            <a:pPr marL="198120" indent="-168656" algn="l">
              <a:lnSpc>
                <a:spcPts val="1950"/>
              </a:lnSpc>
              <a:buSzPct val="100000"/>
              <a:buChar char="•"/>
            </a:pPr>
            <a:r>
              <a:rPr lang="en-US" sz="1300" dirty="0">
                <a:solidFill>
                  <a:srgbClr val="B9C4D0"/>
                </a:solidFill>
                <a:latin typeface="IBM Plex Sans" pitchFamily="34" charset="0"/>
                <a:ea typeface="IBM Plex Sans" pitchFamily="34" charset="-122"/>
                <a:cs typeface="IBM Plex Sans" pitchFamily="34" charset="-120"/>
              </a:rPr>
              <a:t>Identity providers, for number verification</a:t>
            </a:r>
            <a:endParaRPr lang="en-US" sz="1300" dirty="0"/>
          </a:p>
          <a:p>
            <a:pPr marL="198120" indent="-168656" algn="l">
              <a:lnSpc>
                <a:spcPts val="1950"/>
              </a:lnSpc>
              <a:buSzPct val="100000"/>
              <a:buChar char="•"/>
            </a:pPr>
            <a:r>
              <a:rPr lang="en-US" sz="1300" dirty="0">
                <a:solidFill>
                  <a:srgbClr val="B9C4D0"/>
                </a:solidFill>
                <a:latin typeface="IBM Plex Sans" pitchFamily="34" charset="0"/>
                <a:ea typeface="IBM Plex Sans" pitchFamily="34" charset="-122"/>
                <a:cs typeface="IBM Plex Sans" pitchFamily="34" charset="-120"/>
              </a:rPr>
              <a:t>Logistics, for device status</a:t>
            </a:r>
            <a:endParaRPr lang="en-US" sz="1300" dirty="0"/>
          </a:p>
          <a:p>
            <a:pPr marL="198120" indent="-168656" algn="l">
              <a:lnSpc>
                <a:spcPts val="1950"/>
              </a:lnSpc>
              <a:buSzPct val="100000"/>
              <a:buChar char="•"/>
            </a:pPr>
            <a:r>
              <a:rPr lang="en-US" sz="1300" dirty="0">
                <a:solidFill>
                  <a:srgbClr val="B9C4D0"/>
                </a:solidFill>
                <a:latin typeface="IBM Plex Sans" pitchFamily="34" charset="0"/>
                <a:ea typeface="IBM Plex Sans" pitchFamily="34" charset="-122"/>
                <a:cs typeface="IBM Plex Sans" pitchFamily="34" charset="-120"/>
              </a:rPr>
              <a:t>Aggregators reselling all of the above</a:t>
            </a:r>
            <a:endParaRPr lang="en-US" sz="1300" dirty="0"/>
          </a:p>
        </p:txBody>
      </p:sp>
      <p:pic>
        <p:nvPicPr>
          <p:cNvPr id="11" name="Image 0" descr="line"/>
          <p:cNvPicPr>
            <a:picLocks noChangeAspect="1"/>
          </p:cNvPicPr>
          <p:nvPr/>
        </p:nvPicPr>
        <p:blipFill>
          <a:blip r:embed="rId3"/>
          <a:srcRect l="-9040" r="-9040"/>
          <a:stretch/>
        </p:blipFill>
        <p:spPr>
          <a:xfrm>
            <a:off x="7198320" y="4076714"/>
            <a:ext cx="3901567" cy="10763"/>
          </a:xfrm>
          <a:prstGeom prst="rect">
            <a:avLst/>
          </a:prstGeom>
        </p:spPr>
      </p:pic>
      <p:sp>
        <p:nvSpPr>
          <p:cNvPr id="12" name="Text 8"/>
          <p:cNvSpPr/>
          <p:nvPr/>
        </p:nvSpPr>
        <p:spPr>
          <a:xfrm>
            <a:off x="7198320" y="4239836"/>
            <a:ext cx="4018614" cy="520653"/>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F6F5F0"/>
                </a:solidFill>
                <a:latin typeface="IBM Plex Sans" pitchFamily="34" charset="0"/>
                <a:ea typeface="IBM Plex Sans" pitchFamily="34" charset="-122"/>
                <a:cs typeface="IBM Plex Sans" pitchFamily="34" charset="-120"/>
              </a:rPr>
              <a:t>The person whose line it is has no agent asking for them.</a:t>
            </a:r>
            <a:endParaRPr lang="en-US" sz="1500" dirty="0"/>
          </a:p>
        </p:txBody>
      </p:sp>
      <p:sp>
        <p:nvSpPr>
          <p:cNvPr id="13" name="Text 9"/>
          <p:cNvSpPr/>
          <p:nvPr/>
        </p:nvSpPr>
        <p:spPr>
          <a:xfrm>
            <a:off x="812753" y="6238337"/>
            <a:ext cx="5176797" cy="23863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583"/>
                </a:solidFill>
                <a:latin typeface="IBM Plex Sans" pitchFamily="34" charset="0"/>
                <a:ea typeface="IBM Plex Sans" pitchFamily="34" charset="-122"/>
                <a:cs typeface="IBM Plex Sans" pitchFamily="34" charset="-120"/>
              </a:rPr>
              <a:t>Sources: CAMARA Project API catalogue; GSMA Open Gateway.</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726"/>
        </a:solidFill>
        <a:effectLst/>
      </p:bgPr>
    </p:bg>
    <p:spTree>
      <p:nvGrpSpPr>
        <p:cNvPr id="1" name=""/>
        <p:cNvGrpSpPr/>
        <p:nvPr/>
      </p:nvGrpSpPr>
      <p:grpSpPr>
        <a:xfrm>
          <a:off x="0" y="0"/>
          <a:ext cx="0" cy="0"/>
          <a:chOff x="0" y="0"/>
          <a:chExt cx="0" cy="0"/>
        </a:xfrm>
      </p:grpSpPr>
      <p:sp>
        <p:nvSpPr>
          <p:cNvPr id="2" name="Text 0"/>
          <p:cNvSpPr/>
          <p:nvPr/>
        </p:nvSpPr>
        <p:spPr>
          <a:xfrm>
            <a:off x="812753" y="812752"/>
            <a:ext cx="10883454" cy="256546"/>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B3A0"/>
                </a:solidFill>
                <a:latin typeface="IBM Plex Sans" pitchFamily="34" charset="0"/>
                <a:ea typeface="IBM Plex Sans" pitchFamily="34" charset="-122"/>
                <a:cs typeface="IBM Plex Sans" pitchFamily="34" charset="-120"/>
              </a:rPr>
              <a:t>THE IDEA</a:t>
            </a:r>
            <a:endParaRPr lang="en-US" sz="1300" dirty="0"/>
          </a:p>
        </p:txBody>
      </p:sp>
      <p:sp>
        <p:nvSpPr>
          <p:cNvPr id="3" name="Text 1"/>
          <p:cNvSpPr>
            <a:spLocks noGrp="1"/>
          </p:cNvSpPr>
          <p:nvPr>
            <p:ph type="title"/>
          </p:nvPr>
        </p:nvSpPr>
        <p:spPr>
          <a:xfrm>
            <a:off x="812753" y="1145471"/>
            <a:ext cx="10883454" cy="919378"/>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6F5F0"/>
                </a:solidFill>
                <a:latin typeface="IBM Plex Sans" pitchFamily="34" charset="0"/>
                <a:ea typeface="IBM Plex Sans" pitchFamily="34" charset="-122"/>
                <a:cs typeface="IBM Plex Sans" pitchFamily="34" charset="-120"/>
              </a:rPr>
              <a:t>Tower: an MCP server Alexa+ talks to, that asks the carrier on your behalf — with your consent</a:t>
            </a:r>
            <a:endParaRPr lang="en-US" sz="3200" dirty="0"/>
          </a:p>
        </p:txBody>
      </p:sp>
      <p:sp>
        <p:nvSpPr>
          <p:cNvPr id="4" name="Shape 2"/>
          <p:cNvSpPr/>
          <p:nvPr/>
        </p:nvSpPr>
        <p:spPr>
          <a:xfrm>
            <a:off x="815928" y="2573108"/>
            <a:ext cx="2896723" cy="1881245"/>
          </a:xfrm>
          <a:prstGeom prst="roundRect">
            <a:avLst>
              <a:gd name="adj" fmla="val 5232"/>
            </a:avLst>
          </a:prstGeom>
          <a:solidFill>
            <a:srgbClr val="17233A"/>
          </a:solidFill>
          <a:ln w="6350">
            <a:solidFill>
              <a:srgbClr val="2E3B4E"/>
            </a:solidFill>
            <a:prstDash val="solid"/>
          </a:ln>
        </p:spPr>
        <p:txBody>
          <a:bodyPr/>
          <a:lstStyle/>
          <a:p>
            <a:endParaRPr lang="en-US"/>
          </a:p>
        </p:txBody>
      </p:sp>
      <p:pic>
        <p:nvPicPr>
          <p:cNvPr id="5" name="Image 0" descr="Chat"/>
          <p:cNvPicPr>
            <a:picLocks noChangeAspect="1"/>
          </p:cNvPicPr>
          <p:nvPr/>
        </p:nvPicPr>
        <p:blipFill>
          <a:blip r:embed="rId3"/>
          <a:srcRect/>
          <a:stretch/>
        </p:blipFill>
        <p:spPr>
          <a:xfrm>
            <a:off x="1072067" y="2829247"/>
            <a:ext cx="279326" cy="279326"/>
          </a:xfrm>
          <a:prstGeom prst="rect">
            <a:avLst/>
          </a:prstGeom>
        </p:spPr>
      </p:pic>
      <p:sp>
        <p:nvSpPr>
          <p:cNvPr id="6" name="Text 3"/>
          <p:cNvSpPr/>
          <p:nvPr/>
        </p:nvSpPr>
        <p:spPr>
          <a:xfrm>
            <a:off x="1072067" y="3184753"/>
            <a:ext cx="2455979" cy="26924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6F5F0"/>
                </a:solidFill>
                <a:latin typeface="IBM Plex Sans" pitchFamily="34" charset="0"/>
                <a:ea typeface="IBM Plex Sans" pitchFamily="34" charset="-122"/>
                <a:cs typeface="IBM Plex Sans" pitchFamily="34" charset="-120"/>
              </a:rPr>
              <a:t>Alexa+</a:t>
            </a:r>
            <a:endParaRPr lang="en-US" sz="1600" dirty="0"/>
          </a:p>
        </p:txBody>
      </p:sp>
      <p:sp>
        <p:nvSpPr>
          <p:cNvPr id="7" name="Text 4"/>
          <p:cNvSpPr/>
          <p:nvPr/>
        </p:nvSpPr>
        <p:spPr>
          <a:xfrm>
            <a:off x="1072067" y="3504775"/>
            <a:ext cx="2455979" cy="718838"/>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C4D0"/>
                </a:solidFill>
                <a:latin typeface="IBM Plex Sans" pitchFamily="34" charset="0"/>
                <a:ea typeface="IBM Plex Sans" pitchFamily="34" charset="-122"/>
                <a:cs typeface="IBM Plex Sans" pitchFamily="34" charset="-120"/>
              </a:rPr>
              <a:t>The voice surface. On Wi-Fi — so it still works after your phone goes dead.</a:t>
            </a:r>
            <a:endParaRPr lang="en-US" sz="1300" dirty="0"/>
          </a:p>
        </p:txBody>
      </p:sp>
      <p:pic>
        <p:nvPicPr>
          <p:cNvPr id="8" name="Image 1" descr="connector"/>
          <p:cNvPicPr>
            <a:picLocks noChangeAspect="1"/>
          </p:cNvPicPr>
          <p:nvPr/>
        </p:nvPicPr>
        <p:blipFill>
          <a:blip r:embed="rId4"/>
          <a:srcRect l="-9" r="-9"/>
          <a:stretch/>
        </p:blipFill>
        <p:spPr>
          <a:xfrm>
            <a:off x="3715826" y="3462902"/>
            <a:ext cx="457163" cy="101573"/>
          </a:xfrm>
          <a:prstGeom prst="rect">
            <a:avLst/>
          </a:prstGeom>
        </p:spPr>
      </p:pic>
      <p:sp>
        <p:nvSpPr>
          <p:cNvPr id="9" name="Shape 5"/>
          <p:cNvSpPr/>
          <p:nvPr/>
        </p:nvSpPr>
        <p:spPr>
          <a:xfrm>
            <a:off x="4172989" y="2344169"/>
            <a:ext cx="3845988" cy="2339124"/>
          </a:xfrm>
          <a:prstGeom prst="roundRect">
            <a:avLst>
              <a:gd name="adj" fmla="val 4344"/>
            </a:avLst>
          </a:prstGeom>
          <a:solidFill>
            <a:srgbClr val="2BB3A0"/>
          </a:solidFill>
          <a:ln/>
        </p:spPr>
        <p:txBody>
          <a:bodyPr/>
          <a:lstStyle/>
          <a:p>
            <a:endParaRPr lang="en-US"/>
          </a:p>
        </p:txBody>
      </p:sp>
      <p:pic>
        <p:nvPicPr>
          <p:cNvPr id="10" name="Image 2" descr="Trust"/>
          <p:cNvPicPr>
            <a:picLocks noChangeAspect="1"/>
          </p:cNvPicPr>
          <p:nvPr/>
        </p:nvPicPr>
        <p:blipFill>
          <a:blip r:embed="rId5"/>
          <a:srcRect/>
          <a:stretch/>
        </p:blipFill>
        <p:spPr>
          <a:xfrm>
            <a:off x="4426922" y="2598102"/>
            <a:ext cx="279326" cy="279326"/>
          </a:xfrm>
          <a:prstGeom prst="rect">
            <a:avLst/>
          </a:prstGeom>
        </p:spPr>
      </p:pic>
      <p:sp>
        <p:nvSpPr>
          <p:cNvPr id="11" name="Text 6"/>
          <p:cNvSpPr/>
          <p:nvPr/>
        </p:nvSpPr>
        <p:spPr>
          <a:xfrm>
            <a:off x="4426922" y="2953607"/>
            <a:ext cx="3438266" cy="26924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726"/>
                </a:solidFill>
                <a:latin typeface="IBM Plex Sans" pitchFamily="34" charset="0"/>
                <a:ea typeface="IBM Plex Sans" pitchFamily="34" charset="-122"/>
                <a:cs typeface="IBM Plex Sans" pitchFamily="34" charset="-120"/>
              </a:rPr>
              <a:t>Tower</a:t>
            </a:r>
            <a:endParaRPr lang="en-US" sz="1600" dirty="0"/>
          </a:p>
        </p:txBody>
      </p:sp>
      <p:sp>
        <p:nvSpPr>
          <p:cNvPr id="12" name="Text 7"/>
          <p:cNvSpPr/>
          <p:nvPr/>
        </p:nvSpPr>
        <p:spPr>
          <a:xfrm>
            <a:off x="4426922" y="3273630"/>
            <a:ext cx="3438266" cy="11811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E1726"/>
                </a:solidFill>
                <a:latin typeface="IBM Plex Sans" pitchFamily="34" charset="0"/>
                <a:ea typeface="IBM Plex Sans" pitchFamily="34" charset="-122"/>
                <a:cs typeface="IBM Plex Sans" pitchFamily="34" charset="-120"/>
              </a:rPr>
              <a:t>What we build.</a:t>
            </a:r>
            <a:r>
              <a:rPr lang="en-US" sz="1300" dirty="0">
                <a:solidFill>
                  <a:srgbClr val="0E1726"/>
                </a:solidFill>
                <a:latin typeface="IBM Plex Sans" pitchFamily="34" charset="0"/>
                <a:ea typeface="IBM Plex Sans" pitchFamily="34" charset="-122"/>
                <a:cs typeface="IBM Plex Sans" pitchFamily="34" charset="-120"/>
              </a:rPr>
              <a:t> Three tools, a consent store, line binding, an audit log, and SMS alerts to a consented second person. Tower is the contracted API consumer; you are the one who consents.</a:t>
            </a:r>
            <a:endParaRPr lang="en-US" sz="1300" dirty="0"/>
          </a:p>
        </p:txBody>
      </p:sp>
      <p:pic>
        <p:nvPicPr>
          <p:cNvPr id="13" name="Image 3" descr="connector"/>
          <p:cNvPicPr>
            <a:picLocks noChangeAspect="1"/>
          </p:cNvPicPr>
          <p:nvPr/>
        </p:nvPicPr>
        <p:blipFill>
          <a:blip r:embed="rId4"/>
          <a:srcRect l="-9" r="-9"/>
          <a:stretch/>
        </p:blipFill>
        <p:spPr>
          <a:xfrm>
            <a:off x="8018977" y="3462902"/>
            <a:ext cx="457163" cy="101573"/>
          </a:xfrm>
          <a:prstGeom prst="rect">
            <a:avLst/>
          </a:prstGeom>
        </p:spPr>
      </p:pic>
      <p:sp>
        <p:nvSpPr>
          <p:cNvPr id="14" name="Shape 8"/>
          <p:cNvSpPr/>
          <p:nvPr/>
        </p:nvSpPr>
        <p:spPr>
          <a:xfrm>
            <a:off x="8479315" y="2573108"/>
            <a:ext cx="2896723" cy="1881245"/>
          </a:xfrm>
          <a:prstGeom prst="roundRect">
            <a:avLst>
              <a:gd name="adj" fmla="val 5232"/>
            </a:avLst>
          </a:prstGeom>
          <a:solidFill>
            <a:srgbClr val="17233A"/>
          </a:solidFill>
          <a:ln w="6350">
            <a:solidFill>
              <a:srgbClr val="2E3B4E"/>
            </a:solidFill>
            <a:prstDash val="solid"/>
          </a:ln>
        </p:spPr>
        <p:txBody>
          <a:bodyPr/>
          <a:lstStyle/>
          <a:p>
            <a:endParaRPr lang="en-US"/>
          </a:p>
        </p:txBody>
      </p:sp>
      <p:pic>
        <p:nvPicPr>
          <p:cNvPr id="15" name="Image 4" descr="Globe"/>
          <p:cNvPicPr>
            <a:picLocks noChangeAspect="1"/>
          </p:cNvPicPr>
          <p:nvPr/>
        </p:nvPicPr>
        <p:blipFill>
          <a:blip r:embed="rId6"/>
          <a:srcRect/>
          <a:stretch/>
        </p:blipFill>
        <p:spPr>
          <a:xfrm>
            <a:off x="8735454" y="2829247"/>
            <a:ext cx="279326" cy="279326"/>
          </a:xfrm>
          <a:prstGeom prst="rect">
            <a:avLst/>
          </a:prstGeom>
        </p:spPr>
      </p:pic>
      <p:sp>
        <p:nvSpPr>
          <p:cNvPr id="16" name="Text 9"/>
          <p:cNvSpPr/>
          <p:nvPr/>
        </p:nvSpPr>
        <p:spPr>
          <a:xfrm>
            <a:off x="8735454" y="3184753"/>
            <a:ext cx="2455979" cy="26924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6F5F0"/>
                </a:solidFill>
                <a:latin typeface="IBM Plex Sans" pitchFamily="34" charset="0"/>
                <a:ea typeface="IBM Plex Sans" pitchFamily="34" charset="-122"/>
                <a:cs typeface="IBM Plex Sans" pitchFamily="34" charset="-120"/>
              </a:rPr>
              <a:t>Carrier APIs</a:t>
            </a:r>
            <a:endParaRPr lang="en-US" sz="1600" dirty="0"/>
          </a:p>
        </p:txBody>
      </p:sp>
      <p:sp>
        <p:nvSpPr>
          <p:cNvPr id="17" name="Text 10"/>
          <p:cNvSpPr/>
          <p:nvPr/>
        </p:nvSpPr>
        <p:spPr>
          <a:xfrm>
            <a:off x="8735454" y="3504775"/>
            <a:ext cx="2455979" cy="718838"/>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C4D0"/>
                </a:solidFill>
                <a:latin typeface="IBM Plex Sans" pitchFamily="34" charset="0"/>
                <a:ea typeface="IBM Plex Sans" pitchFamily="34" charset="-122"/>
                <a:cs typeface="IBM Plex Sans" pitchFamily="34" charset="-120"/>
              </a:rPr>
              <a:t>CAMARA endpoints via a carrier developer sandbox — or a CAMARA-conformant mock.</a:t>
            </a:r>
            <a:endParaRPr lang="en-US" sz="1300" dirty="0"/>
          </a:p>
        </p:txBody>
      </p:sp>
      <p:sp>
        <p:nvSpPr>
          <p:cNvPr id="18" name="Shape 11"/>
          <p:cNvSpPr/>
          <p:nvPr/>
        </p:nvSpPr>
        <p:spPr>
          <a:xfrm>
            <a:off x="825453" y="4988012"/>
            <a:ext cx="0" cy="693438"/>
          </a:xfrm>
          <a:prstGeom prst="line">
            <a:avLst/>
          </a:prstGeom>
          <a:noFill/>
          <a:ln w="25400">
            <a:solidFill>
              <a:srgbClr val="2BB3A0"/>
            </a:solidFill>
            <a:prstDash val="solid"/>
          </a:ln>
        </p:spPr>
        <p:txBody>
          <a:bodyPr/>
          <a:lstStyle/>
          <a:p>
            <a:endParaRPr lang="en-US"/>
          </a:p>
        </p:txBody>
      </p:sp>
      <p:sp>
        <p:nvSpPr>
          <p:cNvPr id="19" name="Text 12"/>
          <p:cNvSpPr/>
          <p:nvPr/>
        </p:nvSpPr>
        <p:spPr>
          <a:xfrm>
            <a:off x="986678" y="4988012"/>
            <a:ext cx="5157964" cy="718838"/>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6F5F0"/>
                </a:solidFill>
                <a:latin typeface="IBM Plex Sans" pitchFamily="34" charset="0"/>
                <a:ea typeface="IBM Plex Sans" pitchFamily="34" charset="-122"/>
                <a:cs typeface="IBM Plex Sans" pitchFamily="34" charset="-120"/>
              </a:rPr>
              <a:t>Three tools only.</a:t>
            </a:r>
            <a:r>
              <a:rPr lang="en-US" sz="1300" dirty="0">
                <a:solidFill>
                  <a:srgbClr val="B9C4D0"/>
                </a:solidFill>
                <a:latin typeface="IBM Plex Sans" pitchFamily="34" charset="0"/>
                <a:ea typeface="IBM Plex Sans" pitchFamily="34" charset="-122"/>
                <a:cs typeface="IBM Plex Sans" pitchFamily="34" charset="-120"/>
              </a:rPr>
              <a:t> </a:t>
            </a:r>
            <a:r>
              <a:rPr lang="en-US" sz="1300" b="1" dirty="0">
                <a:solidFill>
                  <a:srgbClr val="B9C4D0"/>
                </a:solidFill>
                <a:latin typeface="IBM Plex Sans" pitchFamily="34" charset="0"/>
                <a:ea typeface="IBM Plex Sans" pitchFamily="34" charset="-122"/>
                <a:cs typeface="IBM Plex Sans" pitchFamily="34" charset="-120"/>
              </a:rPr>
              <a:t>line_is_ok</a:t>
            </a:r>
            <a:r>
              <a:rPr lang="en-US" sz="1300" dirty="0">
                <a:solidFill>
                  <a:srgbClr val="B9C4D0"/>
                </a:solidFill>
                <a:latin typeface="IBM Plex Sans" pitchFamily="34" charset="0"/>
                <a:ea typeface="IBM Plex Sans" pitchFamily="34" charset="-122"/>
                <a:cs typeface="IBM Plex Sans" pitchFamily="34" charset="-120"/>
              </a:rPr>
              <a:t> (SIM swap + call forwarding), </a:t>
            </a:r>
            <a:r>
              <a:rPr lang="en-US" sz="1300" b="1" dirty="0">
                <a:solidFill>
                  <a:srgbClr val="B9C4D0"/>
                </a:solidFill>
                <a:latin typeface="IBM Plex Sans" pitchFamily="34" charset="0"/>
                <a:ea typeface="IBM Plex Sans" pitchFamily="34" charset="-122"/>
                <a:cs typeface="IBM Plex Sans" pitchFamily="34" charset="-120"/>
              </a:rPr>
              <a:t>is_reachable</a:t>
            </a:r>
            <a:r>
              <a:rPr lang="en-US" sz="1300" dirty="0">
                <a:solidFill>
                  <a:srgbClr val="B9C4D0"/>
                </a:solidFill>
                <a:latin typeface="IBM Plex Sans" pitchFamily="34" charset="0"/>
                <a:ea typeface="IBM Plex Sans" pitchFamily="34" charset="-122"/>
                <a:cs typeface="IBM Plex Sans" pitchFamily="34" charset="-120"/>
              </a:rPr>
              <a:t>, </a:t>
            </a:r>
            <a:r>
              <a:rPr lang="en-US" sz="1300" b="1" dirty="0">
                <a:solidFill>
                  <a:srgbClr val="B9C4D0"/>
                </a:solidFill>
                <a:latin typeface="IBM Plex Sans" pitchFamily="34" charset="0"/>
                <a:ea typeface="IBM Plex Sans" pitchFamily="34" charset="-122"/>
                <a:cs typeface="IBM Plex Sans" pitchFamily="34" charset="-120"/>
              </a:rPr>
              <a:t>watch_line</a:t>
            </a:r>
            <a:r>
              <a:rPr lang="en-US" sz="1300" dirty="0">
                <a:solidFill>
                  <a:srgbClr val="B9C4D0"/>
                </a:solidFill>
                <a:latin typeface="IBM Plex Sans" pitchFamily="34" charset="0"/>
                <a:ea typeface="IBM Plex Sans" pitchFamily="34" charset="-122"/>
                <a:cs typeface="IBM Plex Sans" pitchFamily="34" charset="-120"/>
              </a:rPr>
              <a:t> (a consented second person is texted when either changes). Scope is the feature.</a:t>
            </a:r>
            <a:endParaRPr lang="en-US" sz="1300" dirty="0"/>
          </a:p>
        </p:txBody>
      </p:sp>
      <p:sp>
        <p:nvSpPr>
          <p:cNvPr id="20" name="Shape 13"/>
          <p:cNvSpPr/>
          <p:nvPr/>
        </p:nvSpPr>
        <p:spPr>
          <a:xfrm>
            <a:off x="6210257" y="4988012"/>
            <a:ext cx="0" cy="693438"/>
          </a:xfrm>
          <a:prstGeom prst="line">
            <a:avLst/>
          </a:prstGeom>
          <a:noFill/>
          <a:ln w="25400">
            <a:solidFill>
              <a:srgbClr val="E8A33D"/>
            </a:solidFill>
            <a:prstDash val="solid"/>
          </a:ln>
        </p:spPr>
        <p:txBody>
          <a:bodyPr/>
          <a:lstStyle/>
          <a:p>
            <a:endParaRPr lang="en-US"/>
          </a:p>
        </p:txBody>
      </p:sp>
      <p:sp>
        <p:nvSpPr>
          <p:cNvPr id="21" name="Text 14"/>
          <p:cNvSpPr/>
          <p:nvPr/>
        </p:nvSpPr>
        <p:spPr>
          <a:xfrm>
            <a:off x="6371482" y="4988012"/>
            <a:ext cx="5157964" cy="718838"/>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6F5F0"/>
                </a:solidFill>
                <a:latin typeface="IBM Plex Sans" pitchFamily="34" charset="0"/>
                <a:ea typeface="IBM Plex Sans" pitchFamily="34" charset="-122"/>
                <a:cs typeface="IBM Plex Sans" pitchFamily="34" charset="-120"/>
              </a:rPr>
              <a:t>The insight.</a:t>
            </a:r>
            <a:r>
              <a:rPr lang="en-US" sz="1300" dirty="0">
                <a:solidFill>
                  <a:srgbClr val="B9C4D0"/>
                </a:solidFill>
                <a:latin typeface="IBM Plex Sans" pitchFamily="34" charset="0"/>
                <a:ea typeface="IBM Plex Sans" pitchFamily="34" charset="-122"/>
                <a:cs typeface="IBM Plex Sans" pitchFamily="34" charset="-120"/>
              </a:rPr>
              <a:t> After a SIM swap your phone is dead and your assistant isn't. The Echo is the one device in the house that can still ask the question.</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753" y="812753"/>
            <a:ext cx="10883454" cy="256546"/>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B3A0"/>
                </a:solidFill>
                <a:latin typeface="IBM Plex Sans" pitchFamily="34" charset="0"/>
                <a:ea typeface="IBM Plex Sans" pitchFamily="34" charset="-122"/>
                <a:cs typeface="IBM Plex Sans" pitchFamily="34" charset="-120"/>
              </a:rPr>
              <a:t>THE DEMO — THREE MOMENTS, UNDER THREE MINUTES</a:t>
            </a:r>
            <a:endParaRPr lang="en-US" sz="1300" dirty="0"/>
          </a:p>
        </p:txBody>
      </p:sp>
      <p:sp>
        <p:nvSpPr>
          <p:cNvPr id="3" name="Text 1"/>
          <p:cNvSpPr>
            <a:spLocks noGrp="1"/>
          </p:cNvSpPr>
          <p:nvPr>
            <p:ph type="title"/>
          </p:nvPr>
        </p:nvSpPr>
        <p:spPr>
          <a:xfrm>
            <a:off x="812753" y="1145471"/>
            <a:ext cx="10883454" cy="919378"/>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E1726"/>
                </a:solidFill>
                <a:latin typeface="IBM Plex Sans" pitchFamily="34" charset="0"/>
                <a:ea typeface="IBM Plex Sans" pitchFamily="34" charset="-122"/>
                <a:cs typeface="IBM Plex Sans" pitchFamily="34" charset="-120"/>
              </a:rPr>
              <a:t>What you say, what the network says back, and who gets told</a:t>
            </a:r>
            <a:endParaRPr lang="en-US" sz="3200" dirty="0"/>
          </a:p>
        </p:txBody>
      </p:sp>
      <p:sp>
        <p:nvSpPr>
          <p:cNvPr id="4" name="Shape 2"/>
          <p:cNvSpPr/>
          <p:nvPr/>
        </p:nvSpPr>
        <p:spPr>
          <a:xfrm>
            <a:off x="812753" y="2344170"/>
            <a:ext cx="3396476" cy="3434314"/>
          </a:xfrm>
          <a:prstGeom prst="roundRect">
            <a:avLst>
              <a:gd name="adj" fmla="val 2991"/>
            </a:avLst>
          </a:prstGeom>
          <a:solidFill>
            <a:srgbClr val="0E1726"/>
          </a:solidFill>
          <a:ln/>
        </p:spPr>
        <p:txBody>
          <a:bodyPr/>
          <a:lstStyle/>
          <a:p>
            <a:endParaRPr lang="en-US"/>
          </a:p>
        </p:txBody>
      </p:sp>
      <p:sp>
        <p:nvSpPr>
          <p:cNvPr id="5" name="Text 3"/>
          <p:cNvSpPr/>
          <p:nvPr/>
        </p:nvSpPr>
        <p:spPr>
          <a:xfrm>
            <a:off x="1066686" y="2598102"/>
            <a:ext cx="2975269" cy="238636"/>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2BB3A0"/>
                </a:solidFill>
                <a:latin typeface="IBM Plex Sans" pitchFamily="34" charset="0"/>
                <a:ea typeface="IBM Plex Sans" pitchFamily="34" charset="-122"/>
                <a:cs typeface="IBM Plex Sans" pitchFamily="34" charset="-120"/>
              </a:rPr>
              <a:t>1 · THE DEAD PHONE</a:t>
            </a:r>
            <a:endParaRPr lang="en-US" sz="1200" dirty="0"/>
          </a:p>
        </p:txBody>
      </p:sp>
      <p:sp>
        <p:nvSpPr>
          <p:cNvPr id="6" name="Text 4"/>
          <p:cNvSpPr/>
          <p:nvPr/>
        </p:nvSpPr>
        <p:spPr>
          <a:xfrm>
            <a:off x="1066686" y="2925607"/>
            <a:ext cx="2975269" cy="513085"/>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6F5F0"/>
                </a:solidFill>
                <a:latin typeface="IBM Plex Sans" pitchFamily="34" charset="0"/>
                <a:ea typeface="IBM Plex Sans" pitchFamily="34" charset="-122"/>
                <a:cs typeface="IBM Plex Sans" pitchFamily="34" charset="-120"/>
              </a:rPr>
              <a:t>"My phone just lost signal. Alexa, is my line OK?"</a:t>
            </a:r>
            <a:endParaRPr lang="en-US" sz="1600" dirty="0"/>
          </a:p>
        </p:txBody>
      </p:sp>
      <p:sp>
        <p:nvSpPr>
          <p:cNvPr id="7" name="Text 5"/>
          <p:cNvSpPr/>
          <p:nvPr/>
        </p:nvSpPr>
        <p:spPr>
          <a:xfrm>
            <a:off x="1066686" y="3527565"/>
            <a:ext cx="2975269" cy="48769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C4D0"/>
                </a:solidFill>
                <a:latin typeface="IBM Plex Sans" pitchFamily="34" charset="0"/>
                <a:ea typeface="IBM Plex Sans" pitchFamily="34" charset="-122"/>
                <a:cs typeface="IBM Plex Sans" pitchFamily="34" charset="-120"/>
              </a:rPr>
              <a:t>Tower calls </a:t>
            </a:r>
            <a:r>
              <a:rPr lang="en-US" sz="1300" b="1" dirty="0">
                <a:solidFill>
                  <a:srgbClr val="B9C4D0"/>
                </a:solidFill>
                <a:latin typeface="IBM Plex Sans" pitchFamily="34" charset="0"/>
                <a:ea typeface="IBM Plex Sans" pitchFamily="34" charset="-122"/>
                <a:cs typeface="IBM Plex Sans" pitchFamily="34" charset="-120"/>
              </a:rPr>
              <a:t>SIM Swap</a:t>
            </a:r>
            <a:r>
              <a:rPr lang="en-US" sz="1300" dirty="0">
                <a:solidFill>
                  <a:srgbClr val="B9C4D0"/>
                </a:solidFill>
                <a:latin typeface="IBM Plex Sans" pitchFamily="34" charset="0"/>
                <a:ea typeface="IBM Plex Sans" pitchFamily="34" charset="-122"/>
                <a:cs typeface="IBM Plex Sans" pitchFamily="34" charset="-120"/>
              </a:rPr>
              <a:t>. The line moved to another device twelve minutes ago.</a:t>
            </a:r>
            <a:endParaRPr lang="en-US" sz="1300" dirty="0"/>
          </a:p>
        </p:txBody>
      </p:sp>
      <p:sp>
        <p:nvSpPr>
          <p:cNvPr id="8" name="Text 6"/>
          <p:cNvSpPr/>
          <p:nvPr/>
        </p:nvSpPr>
        <p:spPr>
          <a:xfrm>
            <a:off x="1066686" y="4104125"/>
            <a:ext cx="2888611" cy="1178517"/>
          </a:xfrm>
          <a:prstGeom prst="roundRect">
            <a:avLst>
              <a:gd name="adj" fmla="val 6466"/>
            </a:avLst>
          </a:prstGeom>
          <a:solidFill>
            <a:srgbClr val="17233A"/>
          </a:solidFill>
          <a:ln/>
        </p:spPr>
        <p:txBody>
          <a:bodyPr wrap="square" lIns="126207" tIns="104682" rIns="26289" bIns="79282" rtlCol="0" anchor="t">
            <a:normAutofit/>
          </a:bodyPr>
          <a:lstStyle/>
          <a:p>
            <a:pPr marL="0" indent="0" algn="l">
              <a:lnSpc>
                <a:spcPts val="1820"/>
              </a:lnSpc>
              <a:buNone/>
            </a:pPr>
            <a:r>
              <a:rPr lang="en-US" sz="1300" dirty="0">
                <a:solidFill>
                  <a:srgbClr val="F6F5F0"/>
                </a:solidFill>
                <a:latin typeface="IBM Plex Sans" pitchFamily="34" charset="0"/>
                <a:ea typeface="IBM Plex Sans" pitchFamily="34" charset="-122"/>
                <a:cs typeface="IBM Plex Sans" pitchFamily="34" charset="-120"/>
              </a:rPr>
              <a:t>"Your SIM was moved to another device at 2:14. If that wasn't you, call your carrier now — here's the number."</a:t>
            </a:r>
            <a:endParaRPr lang="en-US" sz="1300" dirty="0"/>
          </a:p>
        </p:txBody>
      </p:sp>
      <p:sp>
        <p:nvSpPr>
          <p:cNvPr id="9" name="Shape 7"/>
          <p:cNvSpPr/>
          <p:nvPr/>
        </p:nvSpPr>
        <p:spPr>
          <a:xfrm>
            <a:off x="1066686" y="4104125"/>
            <a:ext cx="2888611" cy="1178517"/>
          </a:xfrm>
          <a:custGeom>
            <a:avLst/>
            <a:gdLst/>
            <a:ahLst/>
            <a:cxnLst/>
            <a:rect l="l" t="t" r="r" b="b"/>
            <a:pathLst>
              <a:path w="2888611" h="1178517">
                <a:moveTo>
                  <a:pt x="76200" y="1178517"/>
                </a:moveTo>
                <a:lnTo>
                  <a:pt x="76200" y="1178517"/>
                </a:lnTo>
                <a:arcTo wR="76200" hR="76200" stAng="5400000" swAng="5400000"/>
                <a:lnTo>
                  <a:pt x="0" y="76200"/>
                </a:lnTo>
                <a:arcTo wR="76200" hR="76200" stAng="10800000" swAng="5400000"/>
                <a:lnTo>
                  <a:pt x="76200" y="0"/>
                </a:lnTo>
                <a:arcTo wR="50800" hR="76200" stAng="16200000" swAng="-5400000"/>
                <a:lnTo>
                  <a:pt x="25400" y="1102317"/>
                </a:lnTo>
                <a:arcTo wR="50800" hR="76200" stAng="10800000" swAng="-5400000"/>
                <a:close/>
              </a:path>
            </a:pathLst>
          </a:custGeom>
          <a:solidFill>
            <a:srgbClr val="E8A33D"/>
          </a:solidFill>
          <a:ln/>
        </p:spPr>
        <p:txBody>
          <a:bodyPr/>
          <a:lstStyle/>
          <a:p>
            <a:endParaRPr lang="en-US"/>
          </a:p>
        </p:txBody>
      </p:sp>
      <p:sp>
        <p:nvSpPr>
          <p:cNvPr id="10" name="Shape 8"/>
          <p:cNvSpPr/>
          <p:nvPr/>
        </p:nvSpPr>
        <p:spPr>
          <a:xfrm>
            <a:off x="4390157" y="2347345"/>
            <a:ext cx="3400889" cy="3427964"/>
          </a:xfrm>
          <a:prstGeom prst="roundRect">
            <a:avLst>
              <a:gd name="adj" fmla="val 2894"/>
            </a:avLst>
          </a:prstGeom>
          <a:solidFill>
            <a:srgbClr val="FFFFFF"/>
          </a:solidFill>
          <a:ln w="6350">
            <a:solidFill>
              <a:srgbClr val="DDE1E6"/>
            </a:solidFill>
            <a:prstDash val="solid"/>
          </a:ln>
        </p:spPr>
        <p:txBody>
          <a:bodyPr/>
          <a:lstStyle/>
          <a:p>
            <a:endParaRPr lang="en-US"/>
          </a:p>
        </p:txBody>
      </p:sp>
      <p:sp>
        <p:nvSpPr>
          <p:cNvPr id="11" name="Text 9"/>
          <p:cNvSpPr/>
          <p:nvPr/>
        </p:nvSpPr>
        <p:spPr>
          <a:xfrm>
            <a:off x="4646297" y="2603484"/>
            <a:ext cx="2975269" cy="238636"/>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2BB3A0"/>
                </a:solidFill>
                <a:latin typeface="IBM Plex Sans" pitchFamily="34" charset="0"/>
                <a:ea typeface="IBM Plex Sans" pitchFamily="34" charset="-122"/>
                <a:cs typeface="IBM Plex Sans" pitchFamily="34" charset="-120"/>
              </a:rPr>
              <a:t>2 · THE FORWARDED LINE</a:t>
            </a:r>
            <a:endParaRPr lang="en-US" sz="1200" dirty="0"/>
          </a:p>
        </p:txBody>
      </p:sp>
      <p:sp>
        <p:nvSpPr>
          <p:cNvPr id="12" name="Text 10"/>
          <p:cNvSpPr/>
          <p:nvPr/>
        </p:nvSpPr>
        <p:spPr>
          <a:xfrm>
            <a:off x="4646297" y="2930990"/>
            <a:ext cx="2975269" cy="513085"/>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726"/>
                </a:solidFill>
                <a:latin typeface="IBM Plex Sans" pitchFamily="34" charset="0"/>
                <a:ea typeface="IBM Plex Sans" pitchFamily="34" charset="-122"/>
                <a:cs typeface="IBM Plex Sans" pitchFamily="34" charset="-120"/>
              </a:rPr>
              <a:t>"Is anything forwarding my calls?"</a:t>
            </a:r>
            <a:endParaRPr lang="en-US" sz="1600" dirty="0"/>
          </a:p>
        </p:txBody>
      </p:sp>
      <p:sp>
        <p:nvSpPr>
          <p:cNvPr id="13" name="Text 11"/>
          <p:cNvSpPr/>
          <p:nvPr/>
        </p:nvSpPr>
        <p:spPr>
          <a:xfrm>
            <a:off x="4646297" y="3532944"/>
            <a:ext cx="2975269" cy="718838"/>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6505E"/>
                </a:solidFill>
                <a:latin typeface="IBM Plex Sans" pitchFamily="34" charset="0"/>
                <a:ea typeface="IBM Plex Sans" pitchFamily="34" charset="-122"/>
                <a:cs typeface="IBM Plex Sans" pitchFamily="34" charset="-120"/>
              </a:rPr>
              <a:t>Tower calls </a:t>
            </a:r>
            <a:r>
              <a:rPr lang="en-US" sz="1300" b="1" dirty="0">
                <a:solidFill>
                  <a:srgbClr val="46505E"/>
                </a:solidFill>
                <a:latin typeface="IBM Plex Sans" pitchFamily="34" charset="0"/>
                <a:ea typeface="IBM Plex Sans" pitchFamily="34" charset="-122"/>
                <a:cs typeface="IBM Plex Sans" pitchFamily="34" charset="-120"/>
              </a:rPr>
              <a:t>Call Forwarding Signal</a:t>
            </a:r>
            <a:r>
              <a:rPr lang="en-US" sz="1300" dirty="0">
                <a:solidFill>
                  <a:srgbClr val="46505E"/>
                </a:solidFill>
                <a:latin typeface="IBM Plex Sans" pitchFamily="34" charset="0"/>
                <a:ea typeface="IBM Plex Sans" pitchFamily="34" charset="-122"/>
                <a:cs typeface="IBM Plex Sans" pitchFamily="34" charset="-120"/>
              </a:rPr>
              <a:t>. Unconditional forwarding is set on the verified line.</a:t>
            </a:r>
            <a:endParaRPr lang="en-US" sz="1300" dirty="0"/>
          </a:p>
        </p:txBody>
      </p:sp>
      <p:sp>
        <p:nvSpPr>
          <p:cNvPr id="14" name="Text 12"/>
          <p:cNvSpPr/>
          <p:nvPr/>
        </p:nvSpPr>
        <p:spPr>
          <a:xfrm>
            <a:off x="4646297" y="4340653"/>
            <a:ext cx="2888611" cy="1178517"/>
          </a:xfrm>
          <a:prstGeom prst="roundRect">
            <a:avLst>
              <a:gd name="adj" fmla="val 6466"/>
            </a:avLst>
          </a:prstGeom>
          <a:solidFill>
            <a:srgbClr val="F6F5F0"/>
          </a:solidFill>
          <a:ln/>
        </p:spPr>
        <p:txBody>
          <a:bodyPr wrap="square" lIns="126207" tIns="104682" rIns="26289" bIns="79282" rtlCol="0" anchor="t">
            <a:normAutofit/>
          </a:bodyPr>
          <a:lstStyle/>
          <a:p>
            <a:pPr marL="0" indent="0" algn="l">
              <a:lnSpc>
                <a:spcPts val="1820"/>
              </a:lnSpc>
              <a:buNone/>
            </a:pPr>
            <a:r>
              <a:rPr lang="en-US" sz="1300" dirty="0">
                <a:solidFill>
                  <a:srgbClr val="0E1726"/>
                </a:solidFill>
                <a:latin typeface="IBM Plex Sans" pitchFamily="34" charset="0"/>
                <a:ea typeface="IBM Plex Sans" pitchFamily="34" charset="-122"/>
                <a:cs typeface="IBM Plex Sans" pitchFamily="34" charset="-120"/>
              </a:rPr>
              <a:t>"Yes — all your calls have been forwarding since 7:40 this morning. If you didn't set that, call your carrier."</a:t>
            </a:r>
            <a:endParaRPr lang="en-US" sz="1300" dirty="0"/>
          </a:p>
        </p:txBody>
      </p:sp>
      <p:sp>
        <p:nvSpPr>
          <p:cNvPr id="15" name="Shape 13"/>
          <p:cNvSpPr/>
          <p:nvPr/>
        </p:nvSpPr>
        <p:spPr>
          <a:xfrm>
            <a:off x="4646297" y="4340653"/>
            <a:ext cx="2888611" cy="1178517"/>
          </a:xfrm>
          <a:custGeom>
            <a:avLst/>
            <a:gdLst/>
            <a:ahLst/>
            <a:cxnLst/>
            <a:rect l="l" t="t" r="r" b="b"/>
            <a:pathLst>
              <a:path w="2888611" h="1178517">
                <a:moveTo>
                  <a:pt x="76200" y="1178517"/>
                </a:moveTo>
                <a:lnTo>
                  <a:pt x="76200" y="1178517"/>
                </a:lnTo>
                <a:arcTo wR="76200" hR="76200" stAng="5400000" swAng="5400000"/>
                <a:lnTo>
                  <a:pt x="0" y="76200"/>
                </a:lnTo>
                <a:arcTo wR="76200" hR="76200" stAng="10800000" swAng="5400000"/>
                <a:lnTo>
                  <a:pt x="76200" y="0"/>
                </a:lnTo>
                <a:arcTo wR="50800" hR="76200" stAng="16200000" swAng="-5400000"/>
                <a:lnTo>
                  <a:pt x="25400" y="1102317"/>
                </a:lnTo>
                <a:arcTo wR="50800" hR="76200" stAng="10800000" swAng="-5400000"/>
                <a:close/>
              </a:path>
            </a:pathLst>
          </a:custGeom>
          <a:solidFill>
            <a:srgbClr val="E8A33D"/>
          </a:solidFill>
          <a:ln/>
        </p:spPr>
        <p:txBody>
          <a:bodyPr/>
          <a:lstStyle/>
          <a:p>
            <a:endParaRPr lang="en-US"/>
          </a:p>
        </p:txBody>
      </p:sp>
      <p:sp>
        <p:nvSpPr>
          <p:cNvPr id="16" name="Shape 14"/>
          <p:cNvSpPr/>
          <p:nvPr/>
        </p:nvSpPr>
        <p:spPr>
          <a:xfrm>
            <a:off x="7975150" y="2347345"/>
            <a:ext cx="3400889" cy="3427964"/>
          </a:xfrm>
          <a:prstGeom prst="roundRect">
            <a:avLst>
              <a:gd name="adj" fmla="val 2894"/>
            </a:avLst>
          </a:prstGeom>
          <a:solidFill>
            <a:srgbClr val="FFFFFF"/>
          </a:solidFill>
          <a:ln w="6350">
            <a:solidFill>
              <a:srgbClr val="DDE1E6"/>
            </a:solidFill>
            <a:prstDash val="solid"/>
          </a:ln>
        </p:spPr>
        <p:txBody>
          <a:bodyPr/>
          <a:lstStyle/>
          <a:p>
            <a:endParaRPr lang="en-US"/>
          </a:p>
        </p:txBody>
      </p:sp>
      <p:sp>
        <p:nvSpPr>
          <p:cNvPr id="17" name="Text 15"/>
          <p:cNvSpPr/>
          <p:nvPr/>
        </p:nvSpPr>
        <p:spPr>
          <a:xfrm>
            <a:off x="8231288" y="2603484"/>
            <a:ext cx="2975269" cy="238636"/>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2BB3A0"/>
                </a:solidFill>
                <a:latin typeface="IBM Plex Sans" pitchFamily="34" charset="0"/>
                <a:ea typeface="IBM Plex Sans" pitchFamily="34" charset="-122"/>
                <a:cs typeface="IBM Plex Sans" pitchFamily="34" charset="-120"/>
              </a:rPr>
              <a:t>3 · SOMEONE ELSE'S LINE</a:t>
            </a:r>
            <a:endParaRPr lang="en-US" sz="1200" dirty="0"/>
          </a:p>
        </p:txBody>
      </p:sp>
      <p:sp>
        <p:nvSpPr>
          <p:cNvPr id="18" name="Text 16"/>
          <p:cNvSpPr/>
          <p:nvPr/>
        </p:nvSpPr>
        <p:spPr>
          <a:xfrm>
            <a:off x="8231288" y="2930990"/>
            <a:ext cx="2975269" cy="26924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726"/>
                </a:solidFill>
                <a:latin typeface="IBM Plex Sans" pitchFamily="34" charset="0"/>
                <a:ea typeface="IBM Plex Sans" pitchFamily="34" charset="-122"/>
                <a:cs typeface="IBM Plex Sans" pitchFamily="34" charset="-120"/>
              </a:rPr>
              <a:t>"Is Mom's line OK?"</a:t>
            </a:r>
            <a:endParaRPr lang="en-US" sz="1600" dirty="0"/>
          </a:p>
        </p:txBody>
      </p:sp>
      <p:sp>
        <p:nvSpPr>
          <p:cNvPr id="19" name="Text 17"/>
          <p:cNvSpPr/>
          <p:nvPr/>
        </p:nvSpPr>
        <p:spPr>
          <a:xfrm>
            <a:off x="8231288" y="3289102"/>
            <a:ext cx="2975269" cy="94998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6505E"/>
                </a:solidFill>
                <a:latin typeface="IBM Plex Sans" pitchFamily="34" charset="0"/>
                <a:ea typeface="IBM Plex Sans" pitchFamily="34" charset="-122"/>
                <a:cs typeface="IBM Plex Sans" pitchFamily="34" charset="-120"/>
              </a:rPr>
              <a:t>Mom granted </a:t>
            </a:r>
            <a:r>
              <a:rPr lang="en-US" sz="1300" b="1" dirty="0">
                <a:solidFill>
                  <a:srgbClr val="46505E"/>
                </a:solidFill>
                <a:latin typeface="IBM Plex Sans" pitchFamily="34" charset="0"/>
                <a:ea typeface="IBM Plex Sans" pitchFamily="34" charset="-122"/>
                <a:cs typeface="IBM Plex Sans" pitchFamily="34" charset="-120"/>
              </a:rPr>
              <a:t>watch_line</a:t>
            </a:r>
            <a:r>
              <a:rPr lang="en-US" sz="1300" dirty="0">
                <a:solidFill>
                  <a:srgbClr val="46505E"/>
                </a:solidFill>
                <a:latin typeface="IBM Plex Sans" pitchFamily="34" charset="0"/>
                <a:ea typeface="IBM Plex Sans" pitchFamily="34" charset="-122"/>
                <a:cs typeface="IBM Plex Sans" pitchFamily="34" charset="-120"/>
              </a:rPr>
              <a:t> to you, once, on her phone. Tower checks her line; when the mock flips, an SMS lands on your phone — on camera.</a:t>
            </a:r>
            <a:endParaRPr lang="en-US" sz="1300" dirty="0"/>
          </a:p>
        </p:txBody>
      </p:sp>
      <p:sp>
        <p:nvSpPr>
          <p:cNvPr id="20" name="Text 18"/>
          <p:cNvSpPr/>
          <p:nvPr/>
        </p:nvSpPr>
        <p:spPr>
          <a:xfrm>
            <a:off x="8231288" y="4327956"/>
            <a:ext cx="2888611" cy="716225"/>
          </a:xfrm>
          <a:prstGeom prst="roundRect">
            <a:avLst>
              <a:gd name="adj" fmla="val 10639"/>
            </a:avLst>
          </a:prstGeom>
          <a:solidFill>
            <a:srgbClr val="F6F5F0"/>
          </a:solidFill>
          <a:ln/>
        </p:spPr>
        <p:txBody>
          <a:bodyPr wrap="square" lIns="126207" tIns="104682" rIns="26289" bIns="79282" rtlCol="0" anchor="t">
            <a:normAutofit/>
          </a:bodyPr>
          <a:lstStyle/>
          <a:p>
            <a:pPr marL="0" indent="0" algn="l">
              <a:lnSpc>
                <a:spcPts val="1820"/>
              </a:lnSpc>
              <a:buNone/>
            </a:pPr>
            <a:r>
              <a:rPr lang="en-US" sz="1300" dirty="0">
                <a:solidFill>
                  <a:srgbClr val="0E1726"/>
                </a:solidFill>
                <a:latin typeface="IBM Plex Sans" pitchFamily="34" charset="0"/>
                <a:ea typeface="IBM Plex Sans" pitchFamily="34" charset="-122"/>
                <a:cs typeface="IBM Plex Sans" pitchFamily="34" charset="-120"/>
              </a:rPr>
              <a:t>"Yes, as it was. You'll get a text if that changes."</a:t>
            </a:r>
            <a:endParaRPr lang="en-US" sz="1300" dirty="0"/>
          </a:p>
        </p:txBody>
      </p:sp>
      <p:sp>
        <p:nvSpPr>
          <p:cNvPr id="21" name="Shape 19"/>
          <p:cNvSpPr/>
          <p:nvPr/>
        </p:nvSpPr>
        <p:spPr>
          <a:xfrm>
            <a:off x="8231288" y="4327956"/>
            <a:ext cx="2888611" cy="716225"/>
          </a:xfrm>
          <a:custGeom>
            <a:avLst/>
            <a:gdLst/>
            <a:ahLst/>
            <a:cxnLst/>
            <a:rect l="l" t="t" r="r" b="b"/>
            <a:pathLst>
              <a:path w="2888611" h="716225">
                <a:moveTo>
                  <a:pt x="76200" y="716225"/>
                </a:moveTo>
                <a:lnTo>
                  <a:pt x="76200" y="716225"/>
                </a:lnTo>
                <a:arcTo wR="76200" hR="76200" stAng="5400000" swAng="5400000"/>
                <a:lnTo>
                  <a:pt x="0" y="76200"/>
                </a:lnTo>
                <a:arcTo wR="76200" hR="76200" stAng="10800000" swAng="5400000"/>
                <a:lnTo>
                  <a:pt x="76200" y="0"/>
                </a:lnTo>
                <a:arcTo wR="50800" hR="76200" stAng="16200000" swAng="-5400000"/>
                <a:lnTo>
                  <a:pt x="25400" y="640025"/>
                </a:lnTo>
                <a:arcTo wR="50800" hR="76200" stAng="10800000" swAng="-5400000"/>
                <a:close/>
              </a:path>
            </a:pathLst>
          </a:custGeom>
          <a:solidFill>
            <a:srgbClr val="2BB3A0"/>
          </a:solidFill>
          <a:ln/>
        </p:spPr>
        <p:txBody>
          <a:bodyPr/>
          <a:lstStyle/>
          <a:p>
            <a:endParaRPr lang="en-US"/>
          </a:p>
        </p:txBody>
      </p:sp>
      <p:sp>
        <p:nvSpPr>
          <p:cNvPr id="22" name="Text 20"/>
          <p:cNvSpPr/>
          <p:nvPr/>
        </p:nvSpPr>
        <p:spPr>
          <a:xfrm>
            <a:off x="812753" y="6025102"/>
            <a:ext cx="11720590" cy="45187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583"/>
                </a:solidFill>
                <a:latin typeface="IBM Plex Sans" pitchFamily="34" charset="0"/>
                <a:ea typeface="IBM Plex Sans" pitchFamily="34" charset="-122"/>
                <a:cs typeface="IBM Plex Sans" pitchFamily="34" charset="-120"/>
              </a:rPr>
              <a:t>Moment 1 is the one that matters: the Echo is the device that still works after your phone goes dead. Three ends on a real phone buzzing — the second person is the product.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753" y="812753"/>
            <a:ext cx="10883454" cy="201555"/>
          </a:xfrm>
          <a:prstGeom prst="rect">
            <a:avLst/>
          </a:prstGeom>
          <a:noFill/>
          <a:ln/>
        </p:spPr>
        <p:txBody>
          <a:bodyPr wrap="square" lIns="0" tIns="0" rIns="0" bIns="0" rtlCol="0" anchor="t">
            <a:normAutofit/>
          </a:bodyPr>
          <a:lstStyle/>
          <a:p>
            <a:pPr marL="0" indent="0" algn="l">
              <a:lnSpc>
                <a:spcPts val="1422"/>
              </a:lnSpc>
              <a:buNone/>
            </a:pPr>
            <a:r>
              <a:rPr lang="en-US" sz="1016" b="1" kern="0" spc="100" dirty="0">
                <a:solidFill>
                  <a:srgbClr val="2BB3A0"/>
                </a:solidFill>
                <a:latin typeface="IBM Plex Sans" pitchFamily="34" charset="0"/>
                <a:ea typeface="IBM Plex Sans" pitchFamily="34" charset="-122"/>
                <a:cs typeface="IBM Plex Sans" pitchFamily="34" charset="-120"/>
              </a:rPr>
              <a:t>PRIOR ART, STATED PLAINLY</a:t>
            </a:r>
            <a:endParaRPr lang="en-US" sz="1016" dirty="0"/>
          </a:p>
        </p:txBody>
      </p:sp>
      <p:sp>
        <p:nvSpPr>
          <p:cNvPr id="3" name="Text 1"/>
          <p:cNvSpPr>
            <a:spLocks noGrp="1"/>
          </p:cNvSpPr>
          <p:nvPr>
            <p:ph type="title"/>
          </p:nvPr>
        </p:nvSpPr>
        <p:spPr>
          <a:xfrm>
            <a:off x="812753" y="1090482"/>
            <a:ext cx="10883454" cy="366023"/>
          </a:xfrm>
          <a:prstGeom prst="rect">
            <a:avLst/>
          </a:prstGeom>
          <a:noFill/>
          <a:ln/>
        </p:spPr>
        <p:txBody>
          <a:bodyPr wrap="square" lIns="0" tIns="0" rIns="0" bIns="0" rtlCol="0" anchor="t">
            <a:normAutofit/>
          </a:bodyPr>
          <a:lstStyle/>
          <a:p>
            <a:pPr marL="0" indent="0" algn="l">
              <a:lnSpc>
                <a:spcPts val="2717"/>
              </a:lnSpc>
              <a:buNone/>
            </a:pPr>
            <a:r>
              <a:rPr lang="en-US" sz="2470" b="1" i="0" dirty="0">
                <a:solidFill>
                  <a:srgbClr val="0E1726"/>
                </a:solidFill>
                <a:latin typeface="IBM Plex Sans" pitchFamily="34" charset="0"/>
                <a:ea typeface="IBM Plex Sans" pitchFamily="34" charset="-122"/>
                <a:cs typeface="IBM Plex Sans" pitchFamily="34" charset="-120"/>
              </a:rPr>
              <a:t>Most of this exists. The consumer's own agent doesn't.</a:t>
            </a:r>
            <a:endParaRPr lang="en-US" sz="2470" dirty="0"/>
          </a:p>
        </p:txBody>
      </p:sp>
      <p:sp>
        <p:nvSpPr>
          <p:cNvPr id="4" name="Shape 2"/>
          <p:cNvSpPr/>
          <p:nvPr/>
        </p:nvSpPr>
        <p:spPr>
          <a:xfrm>
            <a:off x="812753" y="1710429"/>
            <a:ext cx="10566460" cy="2450283"/>
          </a:xfrm>
          <a:custGeom>
            <a:avLst/>
            <a:gdLst/>
            <a:ahLst/>
            <a:cxnLst/>
            <a:rect l="l" t="t" r="r" b="b"/>
            <a:pathLst>
              <a:path w="10566460" h="2450283">
                <a:moveTo>
                  <a:pt x="10490260" y="0"/>
                </a:moveTo>
                <a:lnTo>
                  <a:pt x="10490260" y="0"/>
                </a:lnTo>
                <a:arcTo wR="76200" hR="76200" stAng="16200000" swAng="5400000"/>
                <a:lnTo>
                  <a:pt x="10566460" y="2374083"/>
                </a:lnTo>
                <a:arcTo wR="76200" hR="76200" stAng="0" swAng="5400000"/>
                <a:lnTo>
                  <a:pt x="76200" y="2450283"/>
                </a:lnTo>
                <a:arcTo wR="76200" hR="76200" stAng="5400000" swAng="5400000"/>
                <a:lnTo>
                  <a:pt x="0" y="2374083"/>
                </a:lnTo>
                <a:arcTo wR="76200" hR="69850" stAng="10800000" swAng="-5400000"/>
                <a:lnTo>
                  <a:pt x="10490260" y="2443933"/>
                </a:lnTo>
                <a:arcTo wR="69850" hR="69850" stAng="5400000" swAng="-5400000"/>
                <a:lnTo>
                  <a:pt x="10560110" y="76200"/>
                </a:lnTo>
                <a:arcTo wR="69850" hR="76200" stAng="0" swAng="-5400000"/>
                <a:close/>
              </a:path>
            </a:pathLst>
          </a:custGeom>
          <a:solidFill>
            <a:srgbClr val="DDE1E6"/>
          </a:solidFill>
          <a:ln/>
        </p:spPr>
        <p:txBody>
          <a:bodyPr/>
          <a:lstStyle/>
          <a:p>
            <a:endParaRPr lang="en-US"/>
          </a:p>
        </p:txBody>
      </p:sp>
      <p:sp>
        <p:nvSpPr>
          <p:cNvPr id="5" name="Shape 3"/>
          <p:cNvSpPr/>
          <p:nvPr/>
        </p:nvSpPr>
        <p:spPr>
          <a:xfrm>
            <a:off x="812753" y="1710429"/>
            <a:ext cx="10566460" cy="2450283"/>
          </a:xfrm>
          <a:custGeom>
            <a:avLst/>
            <a:gdLst/>
            <a:ahLst/>
            <a:cxnLst/>
            <a:rect l="l" t="t" r="r" b="b"/>
            <a:pathLst>
              <a:path w="10566460" h="2450283">
                <a:moveTo>
                  <a:pt x="76200" y="2450283"/>
                </a:moveTo>
                <a:lnTo>
                  <a:pt x="76200" y="2450283"/>
                </a:lnTo>
                <a:arcTo wR="76200" hR="76200" stAng="5400000" swAng="5400000"/>
                <a:lnTo>
                  <a:pt x="0" y="76200"/>
                </a:lnTo>
                <a:arcTo wR="76200" hR="76200" stAng="10800000" swAng="5400000"/>
                <a:lnTo>
                  <a:pt x="10490260" y="0"/>
                </a:lnTo>
                <a:arcTo wR="76200" hR="76200" stAng="16200000" swAng="5400000"/>
                <a:lnTo>
                  <a:pt x="10566460" y="76200"/>
                </a:lnTo>
                <a:arcTo wR="76200" hR="65437" stAng="0" swAng="-5400000"/>
                <a:lnTo>
                  <a:pt x="76200" y="10763"/>
                </a:lnTo>
                <a:arcTo wR="65437" hR="65437" stAng="16200000" swAng="-5400000"/>
                <a:lnTo>
                  <a:pt x="10763" y="2374083"/>
                </a:lnTo>
                <a:arcTo wR="65437" hR="76200" stAng="10800000" swAng="-5400000"/>
                <a:close/>
              </a:path>
            </a:pathLst>
          </a:custGeom>
          <a:solidFill>
            <a:srgbClr val="141413">
              <a:alpha val="22000"/>
            </a:srgbClr>
          </a:solidFill>
          <a:ln/>
        </p:spPr>
        <p:txBody>
          <a:bodyPr/>
          <a:lstStyle/>
          <a:p>
            <a:endParaRPr lang="en-US"/>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3516" y="1721192"/>
          <a:ext cx="10550317" cy="2434140"/>
        </p:xfrm>
        <a:graphic>
          <a:graphicData uri="http://schemas.openxmlformats.org/drawingml/2006/table">
            <a:tbl>
              <a:tblPr/>
              <a:tblGrid>
                <a:gridCol w="3587108">
                  <a:extLst>
                    <a:ext uri="{9D8B030D-6E8A-4147-A177-3AD203B41FA5}">
                      <a16:colId xmlns:a16="http://schemas.microsoft.com/office/drawing/2014/main" val="20000"/>
                    </a:ext>
                  </a:extLst>
                </a:gridCol>
                <a:gridCol w="3798114">
                  <a:extLst>
                    <a:ext uri="{9D8B030D-6E8A-4147-A177-3AD203B41FA5}">
                      <a16:colId xmlns:a16="http://schemas.microsoft.com/office/drawing/2014/main" val="20001"/>
                    </a:ext>
                  </a:extLst>
                </a:gridCol>
                <a:gridCol w="3165095">
                  <a:extLst>
                    <a:ext uri="{9D8B030D-6E8A-4147-A177-3AD203B41FA5}">
                      <a16:colId xmlns:a16="http://schemas.microsoft.com/office/drawing/2014/main" val="20002"/>
                    </a:ext>
                  </a:extLst>
                </a:gridCol>
              </a:tblGrid>
              <a:tr h="338269">
                <a:tc>
                  <a:txBody>
                    <a:bodyPr/>
                    <a:lstStyle/>
                    <a:p>
                      <a:pPr marL="0" indent="0">
                        <a:lnSpc>
                          <a:spcPts val="1593"/>
                        </a:lnSpc>
                        <a:buNone/>
                      </a:pPr>
                      <a:r>
                        <a:rPr lang="en-US" sz="1138" b="1" dirty="0">
                          <a:solidFill>
                            <a:srgbClr val="0E1726"/>
                          </a:solidFill>
                          <a:latin typeface="IBM Plex Sans" pitchFamily="34" charset="0"/>
                          <a:ea typeface="IBM Plex Sans" pitchFamily="34" charset="-122"/>
                          <a:cs typeface="IBM Plex Sans" pitchFamily="34" charset="-120"/>
                        </a:rPr>
                        <a:t>Already exists</a:t>
                      </a:r>
                      <a:endParaRPr lang="en-US" sz="1138" dirty="0">
                        <a:latin typeface="IBM Plex Sans" charset="0"/>
                        <a:ea typeface="IBM Plex Sans" charset="0"/>
                        <a:cs typeface="IBM Plex Sans" charset="0"/>
                      </a:endParaRPr>
                    </a:p>
                  </a:txBody>
                  <a:tcPr marL="50562" marR="50562" marT="50562" marB="50562">
                    <a:lnL w="0" cap="flat" cmpd="sng" algn="ctr">
                      <a:noFill/>
                    </a:lnL>
                    <a:lnR w="12700" cap="flat" cmpd="sng" algn="ctr">
                      <a:solidFill>
                        <a:srgbClr val="0F1622"/>
                      </a:solidFill>
                      <a:prstDash val="solid"/>
                      <a:round/>
                      <a:headEnd type="none" w="med" len="med"/>
                      <a:tailEnd type="none" w="med" len="med"/>
                    </a:lnR>
                    <a:lnT w="0" cap="flat" cmpd="sng" algn="ctr">
                      <a:noFill/>
                    </a:lnT>
                    <a:lnB w="12700" cap="flat" cmpd="sng" algn="ctr">
                      <a:solidFill>
                        <a:srgbClr val="0F1622"/>
                      </a:solidFill>
                      <a:prstDash val="solid"/>
                      <a:round/>
                      <a:headEnd type="none" w="med" len="med"/>
                      <a:tailEnd type="none" w="med" len="med"/>
                    </a:lnB>
                    <a:solidFill>
                      <a:srgbClr val="0E1726"/>
                    </a:solidFill>
                  </a:tcPr>
                </a:tc>
                <a:tc>
                  <a:txBody>
                    <a:bodyPr/>
                    <a:lstStyle/>
                    <a:p>
                      <a:pPr marL="0" indent="0">
                        <a:lnSpc>
                          <a:spcPts val="1593"/>
                        </a:lnSpc>
                        <a:buNone/>
                      </a:pPr>
                      <a:r>
                        <a:rPr lang="en-US" sz="1138" b="1" dirty="0">
                          <a:solidFill>
                            <a:srgbClr val="0E1726"/>
                          </a:solidFill>
                          <a:latin typeface="IBM Plex Sans" pitchFamily="34" charset="0"/>
                          <a:ea typeface="IBM Plex Sans" pitchFamily="34" charset="-122"/>
                          <a:cs typeface="IBM Plex Sans" pitchFamily="34" charset="-120"/>
                        </a:rPr>
                        <a:t>Who ships it</a:t>
                      </a:r>
                      <a:endParaRPr lang="en-US" sz="1138" dirty="0">
                        <a:latin typeface="IBM Plex Sans" charset="0"/>
                        <a:ea typeface="IBM Plex Sans" charset="0"/>
                        <a:cs typeface="IBM Plex Sans" charset="0"/>
                      </a:endParaRPr>
                    </a:p>
                  </a:txBody>
                  <a:tcPr marL="50562" marR="50562" marT="50562" marB="50562">
                    <a:lnL w="12700" cap="flat" cmpd="sng" algn="ctr">
                      <a:solidFill>
                        <a:srgbClr val="0F1622"/>
                      </a:solidFill>
                      <a:prstDash val="solid"/>
                      <a:round/>
                      <a:headEnd type="none" w="med" len="med"/>
                      <a:tailEnd type="none" w="med" len="med"/>
                    </a:lnL>
                    <a:lnR w="12700" cap="flat" cmpd="sng" algn="ctr">
                      <a:solidFill>
                        <a:srgbClr val="0F1622"/>
                      </a:solidFill>
                      <a:prstDash val="solid"/>
                      <a:round/>
                      <a:headEnd type="none" w="med" len="med"/>
                      <a:tailEnd type="none" w="med" len="med"/>
                    </a:lnR>
                    <a:lnT w="0" cap="flat" cmpd="sng" algn="ctr">
                      <a:noFill/>
                    </a:lnT>
                    <a:lnB w="12700" cap="flat" cmpd="sng" algn="ctr">
                      <a:solidFill>
                        <a:srgbClr val="0F1622"/>
                      </a:solidFill>
                      <a:prstDash val="solid"/>
                      <a:round/>
                      <a:headEnd type="none" w="med" len="med"/>
                      <a:tailEnd type="none" w="med" len="med"/>
                    </a:lnB>
                    <a:solidFill>
                      <a:srgbClr val="0E1726"/>
                    </a:solidFill>
                  </a:tcPr>
                </a:tc>
                <a:tc>
                  <a:txBody>
                    <a:bodyPr/>
                    <a:lstStyle/>
                    <a:p>
                      <a:pPr marL="0" indent="0">
                        <a:lnSpc>
                          <a:spcPts val="1593"/>
                        </a:lnSpc>
                        <a:buNone/>
                      </a:pPr>
                      <a:r>
                        <a:rPr lang="en-US" sz="1138" b="1" dirty="0">
                          <a:solidFill>
                            <a:srgbClr val="0E1726"/>
                          </a:solidFill>
                          <a:latin typeface="IBM Plex Sans" pitchFamily="34" charset="0"/>
                          <a:ea typeface="IBM Plex Sans" pitchFamily="34" charset="-122"/>
                          <a:cs typeface="IBM Plex Sans" pitchFamily="34" charset="-120"/>
                        </a:rPr>
                        <a:t>So we don't build it</a:t>
                      </a:r>
                      <a:endParaRPr lang="en-US" sz="1138" dirty="0">
                        <a:latin typeface="IBM Plex Sans" charset="0"/>
                        <a:ea typeface="IBM Plex Sans" charset="0"/>
                        <a:cs typeface="IBM Plex Sans" charset="0"/>
                      </a:endParaRPr>
                    </a:p>
                  </a:txBody>
                  <a:tcPr marL="50562" marR="50562" marT="50562" marB="50562">
                    <a:lnL w="12700" cap="flat" cmpd="sng" algn="ctr">
                      <a:solidFill>
                        <a:srgbClr val="0F1622"/>
                      </a:solidFill>
                      <a:prstDash val="solid"/>
                      <a:round/>
                      <a:headEnd type="none" w="med" len="med"/>
                      <a:tailEnd type="none" w="med" len="med"/>
                    </a:lnL>
                    <a:lnR w="12700" cap="flat" cmpd="sng" algn="ctr">
                      <a:solidFill>
                        <a:srgbClr val="0F1622"/>
                      </a:solidFill>
                      <a:prstDash val="solid"/>
                      <a:round/>
                      <a:headEnd type="none" w="med" len="med"/>
                      <a:tailEnd type="none" w="med" len="med"/>
                    </a:lnR>
                    <a:lnT w="0" cap="flat" cmpd="sng" algn="ctr">
                      <a:noFill/>
                    </a:lnT>
                    <a:lnB w="12700" cap="flat" cmpd="sng" algn="ctr">
                      <a:solidFill>
                        <a:srgbClr val="0F1622"/>
                      </a:solidFill>
                      <a:prstDash val="solid"/>
                      <a:round/>
                      <a:headEnd type="none" w="med" len="med"/>
                      <a:tailEnd type="none" w="med" len="med"/>
                    </a:lnB>
                    <a:solidFill>
                      <a:srgbClr val="0E1726"/>
                    </a:solidFill>
                  </a:tcPr>
                </a:tc>
                <a:extLst>
                  <a:ext uri="{0D108BD9-81ED-4DB2-BD59-A6C34878D82A}">
                    <a16:rowId xmlns:a16="http://schemas.microsoft.com/office/drawing/2014/main" val="10000"/>
                  </a:ext>
                </a:extLst>
              </a:tr>
              <a:tr h="338269">
                <a:tc>
                  <a:txBody>
                    <a:bodyPr/>
                    <a:lstStyle/>
                    <a:p>
                      <a:pPr marL="0" indent="0">
                        <a:lnSpc>
                          <a:spcPts val="1593"/>
                        </a:lnSpc>
                        <a:buNone/>
                      </a:pPr>
                      <a:r>
                        <a:rPr lang="en-US" sz="1138" dirty="0">
                          <a:solidFill>
                            <a:srgbClr val="0E1726"/>
                          </a:solidFill>
                          <a:latin typeface="IBM Plex Sans" pitchFamily="34" charset="0"/>
                          <a:ea typeface="IBM Plex Sans" pitchFamily="34" charset="-122"/>
                          <a:cs typeface="IBM Plex Sans" pitchFamily="34" charset="-120"/>
                        </a:rPr>
                        <a:t>Standard network APIs</a:t>
                      </a:r>
                      <a:endParaRPr lang="en-US" sz="1138" dirty="0">
                        <a:latin typeface="IBM Plex Sans" charset="0"/>
                        <a:ea typeface="IBM Plex Sans" charset="0"/>
                        <a:cs typeface="IBM Plex Sans" charset="0"/>
                      </a:endParaRPr>
                    </a:p>
                  </a:txBody>
                  <a:tcPr marL="50562" marR="50562" marT="50562" marB="50562">
                    <a:lnL w="0" cap="flat" cmpd="sng" algn="ctr">
                      <a:noFill/>
                    </a:lnL>
                    <a:lnR w="12700" cap="flat" cmpd="sng" algn="ctr">
                      <a:solidFill>
                        <a:srgbClr val="C4C4BF"/>
                      </a:solidFill>
                      <a:prstDash val="solid"/>
                      <a:round/>
                      <a:headEnd type="none" w="med" len="med"/>
                      <a:tailEnd type="none" w="med" len="med"/>
                    </a:lnR>
                    <a:lnT w="12700" cap="flat" cmpd="sng" algn="ctr">
                      <a:solidFill>
                        <a:srgbClr val="0F1622"/>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1593"/>
                        </a:lnSpc>
                        <a:buNone/>
                      </a:pPr>
                      <a:r>
                        <a:rPr lang="en-US" sz="1138" dirty="0">
                          <a:solidFill>
                            <a:srgbClr val="0E1726"/>
                          </a:solidFill>
                          <a:latin typeface="IBM Plex Sans" pitchFamily="34" charset="0"/>
                          <a:ea typeface="IBM Plex Sans" pitchFamily="34" charset="-122"/>
                          <a:cs typeface="IBM Plex Sans" pitchFamily="34" charset="-120"/>
                        </a:rPr>
                        <a:t>CAMARA / GSMA Open Gateway, across carriers</a:t>
                      </a:r>
                      <a:endParaRPr lang="en-US" sz="1138" dirty="0">
                        <a:latin typeface="IBM Plex Sans" charset="0"/>
                        <a:ea typeface="IBM Plex Sans" charset="0"/>
                        <a:cs typeface="IBM Plex Sans" charset="0"/>
                      </a:endParaRPr>
                    </a:p>
                  </a:txBody>
                  <a:tcPr marL="50562" marR="50562" marT="50562" marB="50562">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0F1622"/>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1593"/>
                        </a:lnSpc>
                        <a:buNone/>
                      </a:pPr>
                      <a:r>
                        <a:rPr lang="en-US" sz="1138" dirty="0">
                          <a:solidFill>
                            <a:srgbClr val="0E1726"/>
                          </a:solidFill>
                          <a:latin typeface="IBM Plex Sans" pitchFamily="34" charset="0"/>
                          <a:ea typeface="IBM Plex Sans" pitchFamily="34" charset="-122"/>
                          <a:cs typeface="IBM Plex Sans" pitchFamily="34" charset="-120"/>
                        </a:rPr>
                        <a:t>We call them</a:t>
                      </a:r>
                      <a:endParaRPr lang="en-US" sz="1138" dirty="0">
                        <a:latin typeface="IBM Plex Sans" charset="0"/>
                        <a:ea typeface="IBM Plex Sans" charset="0"/>
                        <a:cs typeface="IBM Plex Sans" charset="0"/>
                      </a:endParaRPr>
                    </a:p>
                  </a:txBody>
                  <a:tcPr marL="50562" marR="50562" marT="50562" marB="50562">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0F1622"/>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extLst>
                  <a:ext uri="{0D108BD9-81ED-4DB2-BD59-A6C34878D82A}">
                    <a16:rowId xmlns:a16="http://schemas.microsoft.com/office/drawing/2014/main" val="10001"/>
                  </a:ext>
                </a:extLst>
              </a:tr>
              <a:tr h="338269">
                <a:tc>
                  <a:txBody>
                    <a:bodyPr/>
                    <a:lstStyle/>
                    <a:p>
                      <a:pPr marL="0" indent="0">
                        <a:lnSpc>
                          <a:spcPts val="1593"/>
                        </a:lnSpc>
                        <a:buNone/>
                      </a:pPr>
                      <a:r>
                        <a:rPr lang="en-US" sz="1138" dirty="0">
                          <a:solidFill>
                            <a:srgbClr val="0E1726"/>
                          </a:solidFill>
                          <a:latin typeface="IBM Plex Sans" pitchFamily="34" charset="0"/>
                          <a:ea typeface="IBM Plex Sans" pitchFamily="34" charset="-122"/>
                          <a:cs typeface="IBM Plex Sans" pitchFamily="34" charset="-120"/>
                        </a:rPr>
                        <a:t>An MCP server over those APIs</a:t>
                      </a:r>
                      <a:endParaRPr lang="en-US" sz="1138" dirty="0">
                        <a:latin typeface="IBM Plex Sans" charset="0"/>
                        <a:ea typeface="IBM Plex Sans" charset="0"/>
                        <a:cs typeface="IBM Plex Sans" charset="0"/>
                      </a:endParaRPr>
                    </a:p>
                  </a:txBody>
                  <a:tcPr marL="50562" marR="50562" marT="50562" marB="50562">
                    <a:lnL w="0" cap="flat" cmpd="sng" algn="ctr">
                      <a:noFill/>
                    </a:lnL>
                    <a:lnR w="12700" cap="flat" cmpd="sng" algn="ctr">
                      <a:solidFill>
                        <a:srgbClr val="CBCBCB"/>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593"/>
                        </a:lnSpc>
                        <a:buNone/>
                      </a:pPr>
                      <a:r>
                        <a:rPr lang="en-US" sz="1138" dirty="0">
                          <a:solidFill>
                            <a:srgbClr val="0E1726"/>
                          </a:solidFill>
                          <a:latin typeface="IBM Plex Sans" pitchFamily="34" charset="0"/>
                          <a:ea typeface="IBM Plex Sans" pitchFamily="34" charset="-122"/>
                          <a:cs typeface="IBM Plex Sans" pitchFamily="34" charset="-120"/>
                        </a:rPr>
                        <a:t>Carrier API platforms are starting to publish their own</a:t>
                      </a:r>
                      <a:endParaRPr lang="en-US" sz="1138" dirty="0">
                        <a:latin typeface="IBM Plex Sans" charset="0"/>
                        <a:ea typeface="IBM Plex Sans" charset="0"/>
                        <a:cs typeface="IBM Plex Sans" charset="0"/>
                      </a:endParaRPr>
                    </a:p>
                  </a:txBody>
                  <a:tcPr marL="50562" marR="50562" marT="50562" marB="50562">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593"/>
                        </a:lnSpc>
                        <a:buNone/>
                      </a:pPr>
                      <a:r>
                        <a:rPr lang="en-US" sz="1138" dirty="0">
                          <a:solidFill>
                            <a:srgbClr val="0E1726"/>
                          </a:solidFill>
                          <a:latin typeface="IBM Plex Sans" pitchFamily="34" charset="0"/>
                          <a:ea typeface="IBM Plex Sans" pitchFamily="34" charset="-122"/>
                          <a:cs typeface="IBM Plex Sans" pitchFamily="34" charset="-120"/>
                        </a:rPr>
                        <a:t>We consume one, or a CAMARA mock</a:t>
                      </a:r>
                      <a:endParaRPr lang="en-US" sz="1138" dirty="0">
                        <a:latin typeface="IBM Plex Sans" charset="0"/>
                        <a:ea typeface="IBM Plex Sans" charset="0"/>
                        <a:cs typeface="IBM Plex Sans" charset="0"/>
                      </a:endParaRPr>
                    </a:p>
                  </a:txBody>
                  <a:tcPr marL="50562" marR="50562" marT="50562" marB="50562">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8269">
                <a:tc>
                  <a:txBody>
                    <a:bodyPr/>
                    <a:lstStyle/>
                    <a:p>
                      <a:pPr marL="0" indent="0">
                        <a:lnSpc>
                          <a:spcPts val="1593"/>
                        </a:lnSpc>
                        <a:buNone/>
                      </a:pPr>
                      <a:r>
                        <a:rPr lang="en-US" sz="1138" dirty="0">
                          <a:solidFill>
                            <a:srgbClr val="0E1726"/>
                          </a:solidFill>
                          <a:latin typeface="IBM Plex Sans" pitchFamily="34" charset="0"/>
                          <a:ea typeface="IBM Plex Sans" pitchFamily="34" charset="-122"/>
                          <a:cs typeface="IBM Plex Sans" pitchFamily="34" charset="-120"/>
                        </a:rPr>
                        <a:t>SIM-swap checks before an OTP</a:t>
                      </a:r>
                      <a:endParaRPr lang="en-US" sz="1138" dirty="0">
                        <a:latin typeface="IBM Plex Sans" charset="0"/>
                        <a:ea typeface="IBM Plex Sans" charset="0"/>
                        <a:cs typeface="IBM Plex Sans" charset="0"/>
                      </a:endParaRPr>
                    </a:p>
                  </a:txBody>
                  <a:tcPr marL="50562" marR="50562" marT="50562" marB="50562">
                    <a:lnL w="0" cap="flat" cmpd="sng" algn="ctr">
                      <a:noFill/>
                    </a:lnL>
                    <a:lnR w="12700" cap="flat" cmpd="sng" algn="ctr">
                      <a:solidFill>
                        <a:srgbClr val="C4C4B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1593"/>
                        </a:lnSpc>
                        <a:buNone/>
                      </a:pPr>
                      <a:r>
                        <a:rPr lang="en-US" sz="1138" dirty="0">
                          <a:solidFill>
                            <a:srgbClr val="0E1726"/>
                          </a:solidFill>
                          <a:latin typeface="IBM Plex Sans" pitchFamily="34" charset="0"/>
                          <a:ea typeface="IBM Plex Sans" pitchFamily="34" charset="-122"/>
                          <a:cs typeface="IBM Plex Sans" pitchFamily="34" charset="-120"/>
                        </a:rPr>
                        <a:t>Banks, via Twilio Verify, Prove and similar</a:t>
                      </a:r>
                      <a:endParaRPr lang="en-US" sz="1138" dirty="0">
                        <a:latin typeface="IBM Plex Sans" charset="0"/>
                        <a:ea typeface="IBM Plex Sans" charset="0"/>
                        <a:cs typeface="IBM Plex Sans" charset="0"/>
                      </a:endParaRPr>
                    </a:p>
                  </a:txBody>
                  <a:tcPr marL="50562" marR="50562" marT="50562" marB="50562">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1593"/>
                        </a:lnSpc>
                        <a:buNone/>
                      </a:pPr>
                      <a:r>
                        <a:rPr lang="en-US" sz="1138" dirty="0">
                          <a:solidFill>
                            <a:srgbClr val="0E1726"/>
                          </a:solidFill>
                          <a:latin typeface="IBM Plex Sans" pitchFamily="34" charset="0"/>
                          <a:ea typeface="IBM Plex Sans" pitchFamily="34" charset="-122"/>
                          <a:cs typeface="IBM Plex Sans" pitchFamily="34" charset="-120"/>
                        </a:rPr>
                        <a:t>Same check, on the consumer's own assistant</a:t>
                      </a:r>
                      <a:endParaRPr lang="en-US" sz="1138" dirty="0">
                        <a:latin typeface="IBM Plex Sans" charset="0"/>
                        <a:ea typeface="IBM Plex Sans" charset="0"/>
                        <a:cs typeface="IBM Plex Sans" charset="0"/>
                      </a:endParaRPr>
                    </a:p>
                  </a:txBody>
                  <a:tcPr marL="50562" marR="50562" marT="50562" marB="50562">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extLst>
                  <a:ext uri="{0D108BD9-81ED-4DB2-BD59-A6C34878D82A}">
                    <a16:rowId xmlns:a16="http://schemas.microsoft.com/office/drawing/2014/main" val="10003"/>
                  </a:ext>
                </a:extLst>
              </a:tr>
              <a:tr h="742711">
                <a:tc>
                  <a:txBody>
                    <a:bodyPr/>
                    <a:lstStyle/>
                    <a:p>
                      <a:pPr marL="0" indent="0">
                        <a:lnSpc>
                          <a:spcPts val="1593"/>
                        </a:lnSpc>
                        <a:buNone/>
                      </a:pPr>
                      <a:r>
                        <a:rPr lang="en-US" sz="1138" dirty="0">
                          <a:solidFill>
                            <a:srgbClr val="0E1726"/>
                          </a:solidFill>
                          <a:latin typeface="IBM Plex Sans" pitchFamily="34" charset="0"/>
                          <a:ea typeface="IBM Plex Sans" pitchFamily="34" charset="-122"/>
                          <a:cs typeface="IBM Plex Sans" pitchFamily="34" charset="-120"/>
                        </a:rPr>
                        <a:t>Consumer SIM-swap locks</a:t>
                      </a:r>
                      <a:endParaRPr lang="en-US" sz="1138" dirty="0">
                        <a:latin typeface="IBM Plex Sans" charset="0"/>
                        <a:ea typeface="IBM Plex Sans" charset="0"/>
                        <a:cs typeface="IBM Plex Sans" charset="0"/>
                      </a:endParaRPr>
                    </a:p>
                  </a:txBody>
                  <a:tcPr marL="50562" marR="50562" marT="50562" marB="50562">
                    <a:lnL w="0" cap="flat" cmpd="sng" algn="ctr">
                      <a:noFill/>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1593"/>
                        </a:lnSpc>
                        <a:buNone/>
                      </a:pPr>
                      <a:r>
                        <a:rPr lang="en-US" sz="1138" dirty="0">
                          <a:solidFill>
                            <a:srgbClr val="0E1726"/>
                          </a:solidFill>
                          <a:latin typeface="IBM Plex Sans" pitchFamily="34" charset="0"/>
                          <a:ea typeface="IBM Plex Sans" pitchFamily="34" charset="-122"/>
                          <a:cs typeface="IBM Plex Sans" pitchFamily="34" charset="-120"/>
                        </a:rPr>
                        <a:t>AT&amp;T Wireless Lock, T-Mobile SIM Protection, Verizon Number Lock; Canadian carriers: a PIN</a:t>
                      </a:r>
                      <a:endParaRPr lang="en-US" sz="1138" dirty="0">
                        <a:latin typeface="IBM Plex Sans" charset="0"/>
                        <a:ea typeface="IBM Plex Sans" charset="0"/>
                        <a:cs typeface="IBM Plex Sans" charset="0"/>
                      </a:endParaRPr>
                    </a:p>
                  </a:txBody>
                  <a:tcPr marL="50562" marR="50562" marT="50562" marB="50562">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1593"/>
                        </a:lnSpc>
                        <a:buNone/>
                      </a:pPr>
                      <a:r>
                        <a:rPr lang="en-US" sz="1138" dirty="0">
                          <a:solidFill>
                            <a:srgbClr val="0E1726"/>
                          </a:solidFill>
                          <a:latin typeface="IBM Plex Sans" pitchFamily="34" charset="0"/>
                          <a:ea typeface="IBM Plex Sans" pitchFamily="34" charset="-122"/>
                          <a:cs typeface="IBM Plex Sans" pitchFamily="34" charset="-120"/>
                        </a:rPr>
                        <a:t>A lock prevents; Tower detects and tells a second person. Complement, not replacement</a:t>
                      </a:r>
                      <a:endParaRPr lang="en-US" sz="1138" dirty="0">
                        <a:latin typeface="IBM Plex Sans" charset="0"/>
                        <a:ea typeface="IBM Plex Sans" charset="0"/>
                        <a:cs typeface="IBM Plex Sans" charset="0"/>
                      </a:endParaRPr>
                    </a:p>
                  </a:txBody>
                  <a:tcPr marL="50562" marR="50562" marT="50562" marB="50562">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extLst>
                  <a:ext uri="{0D108BD9-81ED-4DB2-BD59-A6C34878D82A}">
                    <a16:rowId xmlns:a16="http://schemas.microsoft.com/office/drawing/2014/main" val="10004"/>
                  </a:ext>
                </a:extLst>
              </a:tr>
              <a:tr h="338353">
                <a:tc>
                  <a:txBody>
                    <a:bodyPr/>
                    <a:lstStyle/>
                    <a:p>
                      <a:pPr marL="0" indent="0">
                        <a:lnSpc>
                          <a:spcPts val="1593"/>
                        </a:lnSpc>
                        <a:buNone/>
                      </a:pPr>
                      <a:r>
                        <a:rPr lang="en-US" sz="1138" dirty="0">
                          <a:solidFill>
                            <a:srgbClr val="0E1726"/>
                          </a:solidFill>
                          <a:latin typeface="IBM Plex Sans" pitchFamily="34" charset="0"/>
                          <a:ea typeface="IBM Plex Sans" pitchFamily="34" charset="-122"/>
                          <a:cs typeface="IBM Plex Sans" pitchFamily="34" charset="-120"/>
                        </a:rPr>
                        <a:t>Carrier skills on Alexa</a:t>
                      </a:r>
                      <a:endParaRPr lang="en-US" sz="1138" dirty="0">
                        <a:latin typeface="IBM Plex Sans" charset="0"/>
                        <a:ea typeface="IBM Plex Sans" charset="0"/>
                        <a:cs typeface="IBM Plex Sans" charset="0"/>
                      </a:endParaRPr>
                    </a:p>
                  </a:txBody>
                  <a:tcPr marL="50562" marR="50562" marT="50562" marB="50562">
                    <a:lnL w="0" cap="flat" cmpd="sng" algn="ctr">
                      <a:noFill/>
                    </a:lnL>
                    <a:lnR w="12700" cap="flat" cmpd="sng" algn="ctr">
                      <a:solidFill>
                        <a:srgbClr val="CBCBCB"/>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593"/>
                        </a:lnSpc>
                        <a:buNone/>
                      </a:pPr>
                      <a:r>
                        <a:rPr lang="en-US" sz="1138" dirty="0">
                          <a:solidFill>
                            <a:srgbClr val="0E1726"/>
                          </a:solidFill>
                          <a:latin typeface="IBM Plex Sans" pitchFamily="34" charset="0"/>
                          <a:ea typeface="IBM Plex Sans" pitchFamily="34" charset="-122"/>
                          <a:cs typeface="IBM Plex Sans" pitchFamily="34" charset="-120"/>
                        </a:rPr>
                        <a:t>Billing and plan queries</a:t>
                      </a:r>
                      <a:endParaRPr lang="en-US" sz="1138" dirty="0">
                        <a:latin typeface="IBM Plex Sans" charset="0"/>
                        <a:ea typeface="IBM Plex Sans" charset="0"/>
                        <a:cs typeface="IBM Plex Sans" charset="0"/>
                      </a:endParaRPr>
                    </a:p>
                  </a:txBody>
                  <a:tcPr marL="50562" marR="50562" marT="50562" marB="50562">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593"/>
                        </a:lnSpc>
                        <a:buNone/>
                      </a:pPr>
                      <a:r>
                        <a:rPr lang="en-US" sz="1138" dirty="0">
                          <a:solidFill>
                            <a:srgbClr val="0E1726"/>
                          </a:solidFill>
                          <a:latin typeface="IBM Plex Sans" pitchFamily="34" charset="0"/>
                          <a:ea typeface="IBM Plex Sans" pitchFamily="34" charset="-122"/>
                          <a:cs typeface="IBM Plex Sans" pitchFamily="34" charset="-120"/>
                        </a:rPr>
                        <a:t>Different job; no network facts involved</a:t>
                      </a:r>
                      <a:endParaRPr lang="en-US" sz="1138" dirty="0">
                        <a:latin typeface="IBM Plex Sans" charset="0"/>
                        <a:ea typeface="IBM Plex Sans" charset="0"/>
                        <a:cs typeface="IBM Plex Sans" charset="0"/>
                      </a:endParaRPr>
                    </a:p>
                  </a:txBody>
                  <a:tcPr marL="50562" marR="50562" marT="50562" marB="50562">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Shape 4"/>
          <p:cNvSpPr/>
          <p:nvPr/>
        </p:nvSpPr>
        <p:spPr>
          <a:xfrm>
            <a:off x="812753" y="4440039"/>
            <a:ext cx="5176276" cy="1401927"/>
          </a:xfrm>
          <a:prstGeom prst="roundRect">
            <a:avLst>
              <a:gd name="adj" fmla="val 7247"/>
            </a:avLst>
          </a:prstGeom>
          <a:solidFill>
            <a:srgbClr val="0E1726"/>
          </a:solidFill>
          <a:ln/>
        </p:spPr>
        <p:txBody>
          <a:bodyPr/>
          <a:lstStyle/>
          <a:p>
            <a:endParaRPr lang="en-US"/>
          </a:p>
        </p:txBody>
      </p:sp>
      <p:sp>
        <p:nvSpPr>
          <p:cNvPr id="8" name="Text 5"/>
          <p:cNvSpPr/>
          <p:nvPr/>
        </p:nvSpPr>
        <p:spPr>
          <a:xfrm>
            <a:off x="1041292" y="4668577"/>
            <a:ext cx="4860773" cy="196931"/>
          </a:xfrm>
          <a:prstGeom prst="rect">
            <a:avLst/>
          </a:prstGeom>
          <a:noFill/>
          <a:ln/>
        </p:spPr>
        <p:txBody>
          <a:bodyPr wrap="square" lIns="0" tIns="0" rIns="0" bIns="0" rtlCol="0" anchor="t">
            <a:normAutofit/>
          </a:bodyPr>
          <a:lstStyle/>
          <a:p>
            <a:pPr marL="0" indent="0" algn="l">
              <a:lnSpc>
                <a:spcPts val="1374"/>
              </a:lnSpc>
              <a:buNone/>
            </a:pPr>
            <a:r>
              <a:rPr lang="en-US" sz="1145" b="1" dirty="0">
                <a:solidFill>
                  <a:srgbClr val="2BB3A0"/>
                </a:solidFill>
                <a:latin typeface="IBM Plex Sans" pitchFamily="34" charset="0"/>
                <a:ea typeface="IBM Plex Sans" pitchFamily="34" charset="-122"/>
                <a:cs typeface="IBM Plex Sans" pitchFamily="34" charset="-120"/>
              </a:rPr>
              <a:t>What is new — and it is a narrow slice</a:t>
            </a:r>
            <a:endParaRPr lang="en-US" sz="1145" dirty="0"/>
          </a:p>
        </p:txBody>
      </p:sp>
      <p:sp>
        <p:nvSpPr>
          <p:cNvPr id="9" name="Text 6"/>
          <p:cNvSpPr/>
          <p:nvPr/>
        </p:nvSpPr>
        <p:spPr>
          <a:xfrm>
            <a:off x="1041292" y="4916289"/>
            <a:ext cx="4860773" cy="722538"/>
          </a:xfrm>
          <a:prstGeom prst="rect">
            <a:avLst/>
          </a:prstGeom>
          <a:noFill/>
          <a:ln/>
        </p:spPr>
        <p:txBody>
          <a:bodyPr wrap="square" lIns="0" tIns="0" rIns="0" bIns="0" rtlCol="0" anchor="t">
            <a:normAutofit/>
          </a:bodyPr>
          <a:lstStyle/>
          <a:p>
            <a:pPr marL="152305" indent="-134615" algn="l">
              <a:lnSpc>
                <a:spcPts val="1499"/>
              </a:lnSpc>
              <a:buSzPct val="100000"/>
              <a:buChar char="•"/>
            </a:pPr>
            <a:r>
              <a:rPr lang="en-US" sz="999" dirty="0">
                <a:solidFill>
                  <a:srgbClr val="B9C4D0"/>
                </a:solidFill>
                <a:latin typeface="IBM Plex Sans" pitchFamily="34" charset="0"/>
                <a:ea typeface="IBM Plex Sans" pitchFamily="34" charset="-122"/>
                <a:cs typeface="IBM Plex Sans" pitchFamily="34" charset="-120"/>
              </a:rPr>
              <a:t>A consumer-agent surface for network facts — the person's own assistant asking</a:t>
            </a:r>
            <a:endParaRPr lang="en-US" sz="999" dirty="0"/>
          </a:p>
          <a:p>
            <a:pPr marL="152305" indent="-134615" algn="l">
              <a:lnSpc>
                <a:spcPts val="1499"/>
              </a:lnSpc>
              <a:buSzPct val="100000"/>
              <a:buChar char="•"/>
            </a:pPr>
            <a:r>
              <a:rPr lang="en-US" sz="999" dirty="0">
                <a:solidFill>
                  <a:srgbClr val="B9C4D0"/>
                </a:solidFill>
                <a:latin typeface="IBM Plex Sans" pitchFamily="34" charset="0"/>
                <a:ea typeface="IBM Plex Sans" pitchFamily="34" charset="-122"/>
                <a:cs typeface="IBM Plex Sans" pitchFamily="34" charset="-120"/>
              </a:rPr>
              <a:t>A network fact changing what the assistant is willing to do</a:t>
            </a:r>
            <a:endParaRPr lang="en-US" sz="999" dirty="0"/>
          </a:p>
          <a:p>
            <a:pPr marL="152305" indent="-134615" algn="l">
              <a:lnSpc>
                <a:spcPts val="1499"/>
              </a:lnSpc>
              <a:buSzPct val="100000"/>
              <a:buChar char="•"/>
            </a:pPr>
            <a:r>
              <a:rPr lang="en-US" sz="999" dirty="0">
                <a:solidFill>
                  <a:srgbClr val="B9C4D0"/>
                </a:solidFill>
                <a:latin typeface="IBM Plex Sans" pitchFamily="34" charset="0"/>
                <a:ea typeface="IBM Plex Sans" pitchFamily="34" charset="-122"/>
                <a:cs typeface="IBM Plex Sans" pitchFamily="34" charset="-120"/>
              </a:rPr>
              <a:t>Consent and line binding for lines you don't own</a:t>
            </a:r>
            <a:endParaRPr lang="en-US" sz="999" dirty="0"/>
          </a:p>
        </p:txBody>
      </p:sp>
      <p:sp>
        <p:nvSpPr>
          <p:cNvPr id="10" name="Shape 7"/>
          <p:cNvSpPr/>
          <p:nvPr/>
        </p:nvSpPr>
        <p:spPr>
          <a:xfrm>
            <a:off x="6195350" y="4443214"/>
            <a:ext cx="5180689" cy="1395577"/>
          </a:xfrm>
          <a:prstGeom prst="roundRect">
            <a:avLst>
              <a:gd name="adj" fmla="val 7053"/>
            </a:avLst>
          </a:prstGeom>
          <a:solidFill>
            <a:srgbClr val="FFFFFF"/>
          </a:solidFill>
          <a:ln w="6350">
            <a:solidFill>
              <a:srgbClr val="DDE1E6"/>
            </a:solidFill>
            <a:prstDash val="solid"/>
          </a:ln>
        </p:spPr>
        <p:txBody>
          <a:bodyPr/>
          <a:lstStyle/>
          <a:p>
            <a:endParaRPr lang="en-US"/>
          </a:p>
        </p:txBody>
      </p:sp>
      <p:sp>
        <p:nvSpPr>
          <p:cNvPr id="11" name="Text 8"/>
          <p:cNvSpPr/>
          <p:nvPr/>
        </p:nvSpPr>
        <p:spPr>
          <a:xfrm>
            <a:off x="6426096" y="4673960"/>
            <a:ext cx="4860773" cy="242840"/>
          </a:xfrm>
          <a:prstGeom prst="rect">
            <a:avLst/>
          </a:prstGeom>
          <a:noFill/>
          <a:ln/>
        </p:spPr>
        <p:txBody>
          <a:bodyPr wrap="square" lIns="0" tIns="0" rIns="0" bIns="0" rtlCol="0" anchor="t">
            <a:normAutofit/>
          </a:bodyPr>
          <a:lstStyle/>
          <a:p>
            <a:pPr marL="0" indent="0" algn="l">
              <a:lnSpc>
                <a:spcPts val="1722"/>
              </a:lnSpc>
              <a:buNone/>
            </a:pPr>
            <a:r>
              <a:rPr lang="en-US" sz="1435" b="1" dirty="0">
                <a:solidFill>
                  <a:srgbClr val="0E1726"/>
                </a:solidFill>
                <a:latin typeface="IBM Plex Sans" pitchFamily="34" charset="0"/>
                <a:ea typeface="IBM Plex Sans" pitchFamily="34" charset="-122"/>
                <a:cs typeface="IBM Plex Sans" pitchFamily="34" charset="-120"/>
              </a:rPr>
              <a:t>Why narrow is the right size</a:t>
            </a:r>
            <a:endParaRPr lang="en-US" sz="1435" dirty="0"/>
          </a:p>
        </p:txBody>
      </p:sp>
      <p:sp>
        <p:nvSpPr>
          <p:cNvPr id="12" name="Text 9"/>
          <p:cNvSpPr/>
          <p:nvPr/>
        </p:nvSpPr>
        <p:spPr>
          <a:xfrm>
            <a:off x="6426096" y="4967579"/>
            <a:ext cx="4860773" cy="665865"/>
          </a:xfrm>
          <a:prstGeom prst="rect">
            <a:avLst/>
          </a:prstGeom>
          <a:noFill/>
          <a:ln/>
        </p:spPr>
        <p:txBody>
          <a:bodyPr wrap="square" lIns="0" tIns="0" rIns="0" bIns="0" rtlCol="0" anchor="t">
            <a:normAutofit/>
          </a:bodyPr>
          <a:lstStyle/>
          <a:p>
            <a:pPr marL="0" indent="0" algn="l">
              <a:lnSpc>
                <a:spcPts val="1691"/>
              </a:lnSpc>
              <a:buNone/>
            </a:pPr>
            <a:r>
              <a:rPr lang="en-US" sz="1166" dirty="0">
                <a:solidFill>
                  <a:srgbClr val="46505E"/>
                </a:solidFill>
                <a:latin typeface="IBM Plex Sans" pitchFamily="34" charset="0"/>
                <a:ea typeface="IBM Plex Sans" pitchFamily="34" charset="-122"/>
                <a:cs typeface="IBM Plex Sans" pitchFamily="34" charset="-120"/>
              </a:rPr>
              <a:t>Eighteen days, as of 5 October. A build that leans on standard APIs and an existing server is one that ships, runs from a README, and can be judged on what it actually does.</a:t>
            </a:r>
            <a:endParaRPr lang="en-US" sz="1166"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726"/>
        </a:solidFill>
        <a:effectLst/>
      </p:bgPr>
    </p:bg>
    <p:spTree>
      <p:nvGrpSpPr>
        <p:cNvPr id="1" name=""/>
        <p:cNvGrpSpPr/>
        <p:nvPr/>
      </p:nvGrpSpPr>
      <p:grpSpPr>
        <a:xfrm>
          <a:off x="0" y="0"/>
          <a:ext cx="0" cy="0"/>
          <a:chOff x="0" y="0"/>
          <a:chExt cx="0" cy="0"/>
        </a:xfrm>
      </p:grpSpPr>
      <p:sp>
        <p:nvSpPr>
          <p:cNvPr id="2" name="Text 0"/>
          <p:cNvSpPr/>
          <p:nvPr/>
        </p:nvSpPr>
        <p:spPr>
          <a:xfrm>
            <a:off x="812753" y="812753"/>
            <a:ext cx="10883454" cy="256546"/>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B3A0"/>
                </a:solidFill>
                <a:latin typeface="IBM Plex Sans" pitchFamily="34" charset="0"/>
                <a:ea typeface="IBM Plex Sans" pitchFamily="34" charset="-122"/>
                <a:cs typeface="IBM Plex Sans" pitchFamily="34" charset="-120"/>
              </a:rPr>
              <a:t>ARCHITECTURE</a:t>
            </a:r>
            <a:endParaRPr lang="en-US" sz="1300" dirty="0"/>
          </a:p>
        </p:txBody>
      </p:sp>
      <p:sp>
        <p:nvSpPr>
          <p:cNvPr id="3" name="Text 1"/>
          <p:cNvSpPr>
            <a:spLocks noGrp="1"/>
          </p:cNvSpPr>
          <p:nvPr>
            <p:ph type="title"/>
          </p:nvPr>
        </p:nvSpPr>
        <p:spPr>
          <a:xfrm>
            <a:off x="812753" y="1094684"/>
            <a:ext cx="10883454" cy="416473"/>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F6F5F0"/>
                </a:solidFill>
                <a:latin typeface="IBM Plex Sans" pitchFamily="34" charset="0"/>
                <a:ea typeface="IBM Plex Sans" pitchFamily="34" charset="-122"/>
                <a:cs typeface="IBM Plex Sans" pitchFamily="34" charset="-120"/>
              </a:rPr>
              <a:t>Four boxes, one of them ours — and a short hot path</a:t>
            </a:r>
            <a:endParaRPr lang="en-US" sz="2800" dirty="0"/>
          </a:p>
        </p:txBody>
      </p:sp>
      <p:sp>
        <p:nvSpPr>
          <p:cNvPr id="4" name="Text 2"/>
          <p:cNvSpPr/>
          <p:nvPr/>
        </p:nvSpPr>
        <p:spPr>
          <a:xfrm>
            <a:off x="812753" y="6238335"/>
            <a:ext cx="11379247" cy="23863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583"/>
                </a:solidFill>
                <a:latin typeface="IBM Plex Sans" pitchFamily="34" charset="0"/>
                <a:ea typeface="IBM Plex Sans" pitchFamily="34" charset="-122"/>
                <a:cs typeface="IBM Plex Sans" pitchFamily="34" charset="-120"/>
              </a:rPr>
              <a:t>Teal: the request path, three hops. Amber: the proactive path — a carrier event or poll, the policy, an SMS to a phone. Bedrock is not on either.</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753" y="812753"/>
            <a:ext cx="10883454" cy="256546"/>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B3A0"/>
                </a:solidFill>
                <a:latin typeface="IBM Plex Sans" pitchFamily="34" charset="0"/>
                <a:ea typeface="IBM Plex Sans" pitchFamily="34" charset="-122"/>
                <a:cs typeface="IBM Plex Sans" pitchFamily="34" charset="-120"/>
              </a:rPr>
              <a:t>WHAT WE BUILD ON AWS</a:t>
            </a:r>
            <a:endParaRPr lang="en-US" sz="1300" dirty="0"/>
          </a:p>
        </p:txBody>
      </p:sp>
      <p:sp>
        <p:nvSpPr>
          <p:cNvPr id="3" name="Text 1"/>
          <p:cNvSpPr>
            <a:spLocks noGrp="1"/>
          </p:cNvSpPr>
          <p:nvPr>
            <p:ph type="title"/>
          </p:nvPr>
        </p:nvSpPr>
        <p:spPr>
          <a:xfrm>
            <a:off x="812753" y="1145474"/>
            <a:ext cx="10883454" cy="919378"/>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E1726"/>
                </a:solidFill>
                <a:latin typeface="IBM Plex Sans" pitchFamily="34" charset="0"/>
                <a:ea typeface="IBM Plex Sans" pitchFamily="34" charset="-122"/>
                <a:cs typeface="IBM Plex Sans" pitchFamily="34" charset="-120"/>
              </a:rPr>
              <a:t>AgentCore runs and connects. Policy decides, in code. Alexa+ does the talking.</a:t>
            </a:r>
            <a:endParaRPr lang="en-US" sz="3200" dirty="0"/>
          </a:p>
        </p:txBody>
      </p:sp>
      <p:sp>
        <p:nvSpPr>
          <p:cNvPr id="4" name="Shape 2"/>
          <p:cNvSpPr/>
          <p:nvPr/>
        </p:nvSpPr>
        <p:spPr>
          <a:xfrm>
            <a:off x="819103" y="2299736"/>
            <a:ext cx="3633169" cy="3443055"/>
          </a:xfrm>
          <a:prstGeom prst="roundRect">
            <a:avLst>
              <a:gd name="adj" fmla="val 2766"/>
            </a:avLst>
          </a:prstGeom>
          <a:solidFill>
            <a:srgbClr val="FFFFFF"/>
          </a:solidFill>
          <a:ln w="12700">
            <a:solidFill>
              <a:srgbClr val="2BB3A0"/>
            </a:solidFill>
            <a:prstDash val="solid"/>
          </a:ln>
        </p:spPr>
        <p:txBody>
          <a:bodyPr/>
          <a:lstStyle/>
          <a:p>
            <a:endParaRPr lang="en-US"/>
          </a:p>
        </p:txBody>
      </p:sp>
      <p:pic>
        <p:nvPicPr>
          <p:cNvPr id="5" name="Image 0" descr="Settings"/>
          <p:cNvPicPr>
            <a:picLocks noChangeAspect="1"/>
          </p:cNvPicPr>
          <p:nvPr/>
        </p:nvPicPr>
        <p:blipFill>
          <a:blip r:embed="rId3"/>
          <a:srcRect/>
          <a:stretch/>
        </p:blipFill>
        <p:spPr>
          <a:xfrm>
            <a:off x="1026662" y="2507292"/>
            <a:ext cx="228539" cy="228539"/>
          </a:xfrm>
          <a:prstGeom prst="rect">
            <a:avLst/>
          </a:prstGeom>
        </p:spPr>
      </p:pic>
      <p:sp>
        <p:nvSpPr>
          <p:cNvPr id="6" name="Text 3"/>
          <p:cNvSpPr/>
          <p:nvPr/>
        </p:nvSpPr>
        <p:spPr>
          <a:xfrm>
            <a:off x="1026662" y="2824708"/>
            <a:ext cx="3314592" cy="23880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E1726"/>
                </a:solidFill>
                <a:latin typeface="IBM Plex Sans" pitchFamily="34" charset="0"/>
                <a:ea typeface="IBM Plex Sans" pitchFamily="34" charset="-122"/>
                <a:cs typeface="IBM Plex Sans" pitchFamily="34" charset="-120"/>
              </a:rPr>
              <a:t>AgentCore — the hot path</a:t>
            </a:r>
            <a:endParaRPr lang="en-US" sz="1400" dirty="0"/>
          </a:p>
        </p:txBody>
      </p:sp>
      <p:sp>
        <p:nvSpPr>
          <p:cNvPr id="7" name="Text 4"/>
          <p:cNvSpPr/>
          <p:nvPr/>
        </p:nvSpPr>
        <p:spPr>
          <a:xfrm>
            <a:off x="1026662" y="3126991"/>
            <a:ext cx="3314592" cy="2013391"/>
          </a:xfrm>
          <a:prstGeom prst="rect">
            <a:avLst/>
          </a:prstGeom>
          <a:noFill/>
          <a:ln/>
        </p:spPr>
        <p:txBody>
          <a:bodyPr wrap="square" lIns="0" tIns="0" rIns="0" bIns="0" rtlCol="0" anchor="t">
            <a:normAutofit/>
          </a:bodyPr>
          <a:lstStyle/>
          <a:p>
            <a:pPr marL="182880" indent="-155194" algn="l">
              <a:lnSpc>
                <a:spcPts val="1740"/>
              </a:lnSpc>
              <a:buSzPct val="100000"/>
              <a:buChar char="•"/>
            </a:pPr>
            <a:r>
              <a:rPr lang="en-US" sz="1200" b="1" dirty="0">
                <a:solidFill>
                  <a:srgbClr val="46505E"/>
                </a:solidFill>
                <a:latin typeface="IBM Plex Sans" pitchFamily="34" charset="0"/>
                <a:ea typeface="IBM Plex Sans" pitchFamily="34" charset="-122"/>
                <a:cs typeface="IBM Plex Sans" pitchFamily="34" charset="-120"/>
              </a:rPr>
              <a:t>Runtime</a:t>
            </a:r>
            <a:r>
              <a:rPr lang="en-US" sz="1200" dirty="0">
                <a:solidFill>
                  <a:srgbClr val="46505E"/>
                </a:solidFill>
                <a:latin typeface="IBM Plex Sans" pitchFamily="34" charset="0"/>
                <a:ea typeface="IBM Plex Sans" pitchFamily="34" charset="-122"/>
                <a:cs typeface="IBM Plex Sans" pitchFamily="34" charset="-120"/>
              </a:rPr>
              <a:t> — hosts Tower as an MCP server directly</a:t>
            </a:r>
            <a:endParaRPr lang="en-US" sz="1200" dirty="0"/>
          </a:p>
          <a:p>
            <a:pPr marL="182880" indent="-155194" algn="l">
              <a:lnSpc>
                <a:spcPts val="1740"/>
              </a:lnSpc>
              <a:buSzPct val="100000"/>
              <a:buChar char="•"/>
            </a:pPr>
            <a:r>
              <a:rPr lang="en-US" sz="1200" b="1" dirty="0">
                <a:solidFill>
                  <a:srgbClr val="46505E"/>
                </a:solidFill>
                <a:latin typeface="IBM Plex Sans" pitchFamily="34" charset="0"/>
                <a:ea typeface="IBM Plex Sans" pitchFamily="34" charset="-122"/>
                <a:cs typeface="IBM Plex Sans" pitchFamily="34" charset="-120"/>
              </a:rPr>
              <a:t>Gateway</a:t>
            </a:r>
            <a:r>
              <a:rPr lang="en-US" sz="1200" dirty="0">
                <a:solidFill>
                  <a:srgbClr val="46505E"/>
                </a:solidFill>
                <a:latin typeface="IBM Plex Sans" pitchFamily="34" charset="0"/>
                <a:ea typeface="IBM Plex Sans" pitchFamily="34" charset="-122"/>
                <a:cs typeface="IBM Plex Sans" pitchFamily="34" charset="-120"/>
              </a:rPr>
              <a:t> — CAMARA OpenAPI specs become MCP tools; no hand-written carrier client</a:t>
            </a:r>
            <a:endParaRPr lang="en-US" sz="1200" dirty="0"/>
          </a:p>
          <a:p>
            <a:pPr marL="182880" indent="-155194" algn="l">
              <a:lnSpc>
                <a:spcPts val="1740"/>
              </a:lnSpc>
              <a:buSzPct val="100000"/>
              <a:buChar char="•"/>
            </a:pPr>
            <a:r>
              <a:rPr lang="en-US" sz="1200" b="1" dirty="0">
                <a:solidFill>
                  <a:srgbClr val="46505E"/>
                </a:solidFill>
                <a:latin typeface="IBM Plex Sans" pitchFamily="34" charset="0"/>
                <a:ea typeface="IBM Plex Sans" pitchFamily="34" charset="-122"/>
                <a:cs typeface="IBM Plex Sans" pitchFamily="34" charset="-120"/>
              </a:rPr>
              <a:t>Identity</a:t>
            </a:r>
            <a:r>
              <a:rPr lang="en-US" sz="1200" dirty="0">
                <a:solidFill>
                  <a:srgbClr val="46505E"/>
                </a:solidFill>
                <a:latin typeface="IBM Plex Sans" pitchFamily="34" charset="0"/>
                <a:ea typeface="IBM Plex Sans" pitchFamily="34" charset="-122"/>
                <a:cs typeface="IBM Plex Sans" pitchFamily="34" charset="-120"/>
              </a:rPr>
              <a:t> — outbound carrier OAuth; CIBA, if the carrier uses it, is custom code</a:t>
            </a:r>
            <a:endParaRPr lang="en-US" sz="1200" dirty="0"/>
          </a:p>
          <a:p>
            <a:pPr marL="182880" indent="-155194" algn="l">
              <a:lnSpc>
                <a:spcPts val="1740"/>
              </a:lnSpc>
              <a:buSzPct val="100000"/>
              <a:buChar char="•"/>
            </a:pPr>
            <a:r>
              <a:rPr lang="en-US" sz="1200" b="1" dirty="0">
                <a:solidFill>
                  <a:srgbClr val="46505E"/>
                </a:solidFill>
                <a:latin typeface="IBM Plex Sans" pitchFamily="34" charset="0"/>
                <a:ea typeface="IBM Plex Sans" pitchFamily="34" charset="-122"/>
                <a:cs typeface="IBM Plex Sans" pitchFamily="34" charset="-120"/>
              </a:rPr>
              <a:t>Observability</a:t>
            </a:r>
            <a:r>
              <a:rPr lang="en-US" sz="1200" dirty="0">
                <a:solidFill>
                  <a:srgbClr val="46505E"/>
                </a:solidFill>
                <a:latin typeface="IBM Plex Sans" pitchFamily="34" charset="0"/>
                <a:ea typeface="IBM Plex Sans" pitchFamily="34" charset="-122"/>
                <a:cs typeface="IBM Plex Sans" pitchFamily="34" charset="-120"/>
              </a:rPr>
              <a:t> — every call traced; the audit log is derived from traces</a:t>
            </a:r>
            <a:endParaRPr lang="en-US" sz="1200" dirty="0"/>
          </a:p>
        </p:txBody>
      </p:sp>
      <p:sp>
        <p:nvSpPr>
          <p:cNvPr id="8" name="Shape 5"/>
          <p:cNvSpPr/>
          <p:nvPr/>
        </p:nvSpPr>
        <p:spPr>
          <a:xfrm>
            <a:off x="4610981" y="2293386"/>
            <a:ext cx="3624343" cy="3455755"/>
          </a:xfrm>
          <a:prstGeom prst="roundRect">
            <a:avLst>
              <a:gd name="adj" fmla="val 2940"/>
            </a:avLst>
          </a:prstGeom>
          <a:solidFill>
            <a:srgbClr val="0E1726"/>
          </a:solidFill>
          <a:ln/>
        </p:spPr>
        <p:txBody>
          <a:bodyPr/>
          <a:lstStyle/>
          <a:p>
            <a:endParaRPr lang="en-US"/>
          </a:p>
        </p:txBody>
      </p:sp>
      <p:pic>
        <p:nvPicPr>
          <p:cNvPr id="9" name="Image 1" descr="Lightning"/>
          <p:cNvPicPr>
            <a:picLocks noChangeAspect="1"/>
          </p:cNvPicPr>
          <p:nvPr/>
        </p:nvPicPr>
        <p:blipFill>
          <a:blip r:embed="rId4"/>
          <a:srcRect/>
          <a:stretch/>
        </p:blipFill>
        <p:spPr>
          <a:xfrm>
            <a:off x="4814127" y="2496530"/>
            <a:ext cx="228539" cy="228539"/>
          </a:xfrm>
          <a:prstGeom prst="rect">
            <a:avLst/>
          </a:prstGeom>
        </p:spPr>
      </p:pic>
      <p:sp>
        <p:nvSpPr>
          <p:cNvPr id="10" name="Text 6"/>
          <p:cNvSpPr/>
          <p:nvPr/>
        </p:nvSpPr>
        <p:spPr>
          <a:xfrm>
            <a:off x="4814127" y="2813946"/>
            <a:ext cx="3314592" cy="23880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6F5F0"/>
                </a:solidFill>
                <a:latin typeface="IBM Plex Sans" pitchFamily="34" charset="0"/>
                <a:ea typeface="IBM Plex Sans" pitchFamily="34" charset="-122"/>
                <a:cs typeface="IBM Plex Sans" pitchFamily="34" charset="-120"/>
              </a:rPr>
              <a:t>Around it</a:t>
            </a:r>
            <a:endParaRPr lang="en-US" sz="1400" dirty="0"/>
          </a:p>
        </p:txBody>
      </p:sp>
      <p:sp>
        <p:nvSpPr>
          <p:cNvPr id="11" name="Text 7"/>
          <p:cNvSpPr/>
          <p:nvPr/>
        </p:nvSpPr>
        <p:spPr>
          <a:xfrm>
            <a:off x="4814127" y="3116228"/>
            <a:ext cx="3314592" cy="2455166"/>
          </a:xfrm>
          <a:prstGeom prst="rect">
            <a:avLst/>
          </a:prstGeom>
          <a:noFill/>
          <a:ln/>
        </p:spPr>
        <p:txBody>
          <a:bodyPr wrap="square" lIns="0" tIns="0" rIns="0" bIns="0" rtlCol="0" anchor="t">
            <a:normAutofit/>
          </a:bodyPr>
          <a:lstStyle/>
          <a:p>
            <a:pPr marL="182880" indent="-155194" algn="l">
              <a:lnSpc>
                <a:spcPts val="1740"/>
              </a:lnSpc>
              <a:buSzPct val="100000"/>
              <a:buChar char="•"/>
            </a:pPr>
            <a:r>
              <a:rPr lang="en-US" sz="1200" b="1" dirty="0">
                <a:solidFill>
                  <a:srgbClr val="F6F5F0"/>
                </a:solidFill>
                <a:latin typeface="IBM Plex Sans" pitchFamily="34" charset="0"/>
                <a:ea typeface="IBM Plex Sans" pitchFamily="34" charset="-122"/>
                <a:cs typeface="IBM Plex Sans" pitchFamily="34" charset="-120"/>
              </a:rPr>
              <a:t>DynamoDB</a:t>
            </a:r>
            <a:r>
              <a:rPr lang="en-US" sz="1200" dirty="0">
                <a:solidFill>
                  <a:srgbClr val="B9C4D0"/>
                </a:solidFill>
                <a:latin typeface="IBM Plex Sans" pitchFamily="34" charset="0"/>
                <a:ea typeface="IBM Plex Sans" pitchFamily="34" charset="-122"/>
                <a:cs typeface="IBM Plex Sans" pitchFamily="34" charset="-120"/>
              </a:rPr>
              <a:t> — consent per line per tool; one read per call</a:t>
            </a:r>
            <a:endParaRPr lang="en-US" sz="1200" dirty="0"/>
          </a:p>
          <a:p>
            <a:pPr marL="182880" indent="-155194" algn="l">
              <a:lnSpc>
                <a:spcPts val="1740"/>
              </a:lnSpc>
              <a:buSzPct val="100000"/>
              <a:buChar char="•"/>
            </a:pPr>
            <a:r>
              <a:rPr lang="en-US" sz="1200" b="1" dirty="0">
                <a:solidFill>
                  <a:srgbClr val="F6F5F0"/>
                </a:solidFill>
                <a:latin typeface="IBM Plex Sans" pitchFamily="34" charset="0"/>
                <a:ea typeface="IBM Plex Sans" pitchFamily="34" charset="-122"/>
                <a:cs typeface="IBM Plex Sans" pitchFamily="34" charset="-120"/>
              </a:rPr>
              <a:t>SNS</a:t>
            </a:r>
            <a:r>
              <a:rPr lang="en-US" sz="1200" dirty="0">
                <a:solidFill>
                  <a:srgbClr val="B9C4D0"/>
                </a:solidFill>
                <a:latin typeface="IBM Plex Sans" pitchFamily="34" charset="0"/>
                <a:ea typeface="IBM Plex Sans" pitchFamily="34" charset="-122"/>
                <a:cs typeface="IBM Plex Sans" pitchFamily="34" charset="-120"/>
              </a:rPr>
              <a:t> — the SMS or push to the consented second person; the proactive path Alexa+ can't provide</a:t>
            </a:r>
            <a:endParaRPr lang="en-US" sz="1200" dirty="0"/>
          </a:p>
          <a:p>
            <a:pPr marL="182880" indent="-155194" algn="l">
              <a:lnSpc>
                <a:spcPts val="1740"/>
              </a:lnSpc>
              <a:buSzPct val="100000"/>
              <a:buChar char="•"/>
            </a:pPr>
            <a:r>
              <a:rPr lang="en-US" sz="1200" b="1" dirty="0">
                <a:solidFill>
                  <a:srgbClr val="F6F5F0"/>
                </a:solidFill>
                <a:latin typeface="IBM Plex Sans" pitchFamily="34" charset="0"/>
                <a:ea typeface="IBM Plex Sans" pitchFamily="34" charset="-122"/>
                <a:cs typeface="IBM Plex Sans" pitchFamily="34" charset="-120"/>
              </a:rPr>
              <a:t>EventBridge Scheduler</a:t>
            </a:r>
            <a:r>
              <a:rPr lang="en-US" sz="1200" dirty="0">
                <a:solidFill>
                  <a:srgbClr val="B9C4D0"/>
                </a:solidFill>
                <a:latin typeface="IBM Plex Sans" pitchFamily="34" charset="0"/>
                <a:ea typeface="IBM Plex Sans" pitchFamily="34" charset="-122"/>
                <a:cs typeface="IBM Plex Sans" pitchFamily="34" charset="-120"/>
              </a:rPr>
              <a:t> — polls where a carrier has no subscription API</a:t>
            </a:r>
            <a:endParaRPr lang="en-US" sz="1200" dirty="0"/>
          </a:p>
          <a:p>
            <a:pPr marL="182880" indent="-155194" algn="l">
              <a:lnSpc>
                <a:spcPts val="1740"/>
              </a:lnSpc>
              <a:buSzPct val="100000"/>
              <a:buChar char="•"/>
            </a:pPr>
            <a:r>
              <a:rPr lang="en-US" sz="1200" b="1" dirty="0">
                <a:solidFill>
                  <a:srgbClr val="F6F5F0"/>
                </a:solidFill>
                <a:latin typeface="IBM Plex Sans" pitchFamily="34" charset="0"/>
                <a:ea typeface="IBM Plex Sans" pitchFamily="34" charset="-122"/>
                <a:cs typeface="IBM Plex Sans" pitchFamily="34" charset="-120"/>
              </a:rPr>
              <a:t>Bedrock, off the hot path</a:t>
            </a:r>
            <a:r>
              <a:rPr lang="en-US" sz="1200" dirty="0">
                <a:solidFill>
                  <a:srgbClr val="B9C4D0"/>
                </a:solidFill>
                <a:latin typeface="IBM Plex Sans" pitchFamily="34" charset="0"/>
                <a:ea typeface="IBM Plex Sans" pitchFamily="34" charset="-122"/>
                <a:cs typeface="IBM Plex Sans" pitchFamily="34" charset="-120"/>
              </a:rPr>
              <a:t> — a Strands reference client for the demo if Alexa+ registration slips; alert and consent texts are templates</a:t>
            </a:r>
            <a:endParaRPr lang="en-US" sz="1200" dirty="0"/>
          </a:p>
        </p:txBody>
      </p:sp>
      <p:sp>
        <p:nvSpPr>
          <p:cNvPr id="12" name="Shape 8"/>
          <p:cNvSpPr/>
          <p:nvPr/>
        </p:nvSpPr>
        <p:spPr>
          <a:xfrm>
            <a:off x="8390859" y="2296561"/>
            <a:ext cx="2985179" cy="3449405"/>
          </a:xfrm>
          <a:prstGeom prst="roundRect">
            <a:avLst>
              <a:gd name="adj" fmla="val 3297"/>
            </a:avLst>
          </a:prstGeom>
          <a:solidFill>
            <a:srgbClr val="FFFFFF"/>
          </a:solidFill>
          <a:ln w="6350">
            <a:solidFill>
              <a:srgbClr val="DDE1E6"/>
            </a:solidFill>
            <a:prstDash val="solid"/>
          </a:ln>
        </p:spPr>
        <p:txBody>
          <a:bodyPr/>
          <a:lstStyle/>
          <a:p>
            <a:endParaRPr lang="en-US"/>
          </a:p>
        </p:txBody>
      </p:sp>
      <p:pic>
        <p:nvPicPr>
          <p:cNvPr id="13" name="Image 2" descr="Lock"/>
          <p:cNvPicPr>
            <a:picLocks noChangeAspect="1"/>
          </p:cNvPicPr>
          <p:nvPr/>
        </p:nvPicPr>
        <p:blipFill>
          <a:blip r:embed="rId5"/>
          <a:srcRect/>
          <a:stretch/>
        </p:blipFill>
        <p:spPr>
          <a:xfrm>
            <a:off x="8596212" y="2501912"/>
            <a:ext cx="228539" cy="228539"/>
          </a:xfrm>
          <a:prstGeom prst="rect">
            <a:avLst/>
          </a:prstGeom>
        </p:spPr>
      </p:pic>
      <p:sp>
        <p:nvSpPr>
          <p:cNvPr id="14" name="Text 9"/>
          <p:cNvSpPr/>
          <p:nvPr/>
        </p:nvSpPr>
        <p:spPr>
          <a:xfrm>
            <a:off x="8596212" y="2819329"/>
            <a:ext cx="2651709" cy="23880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E1726"/>
                </a:solidFill>
                <a:latin typeface="IBM Plex Sans" pitchFamily="34" charset="0"/>
                <a:ea typeface="IBM Plex Sans" pitchFamily="34" charset="-122"/>
                <a:cs typeface="IBM Plex Sans" pitchFamily="34" charset="-120"/>
              </a:rPr>
              <a:t>Never the model</a:t>
            </a:r>
            <a:endParaRPr lang="en-US" sz="1400" dirty="0"/>
          </a:p>
        </p:txBody>
      </p:sp>
      <p:sp>
        <p:nvSpPr>
          <p:cNvPr id="15" name="Text 10"/>
          <p:cNvSpPr/>
          <p:nvPr/>
        </p:nvSpPr>
        <p:spPr>
          <a:xfrm>
            <a:off x="8596212" y="3121608"/>
            <a:ext cx="2651709" cy="15180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05E"/>
                </a:solidFill>
                <a:latin typeface="IBM Plex Sans" pitchFamily="34" charset="0"/>
                <a:ea typeface="IBM Plex Sans" pitchFamily="34" charset="-122"/>
                <a:cs typeface="IBM Plex Sans" pitchFamily="34" charset="-120"/>
              </a:rPr>
              <a:t>Whether a call is allowed. Whether Mom consented. Whether a flag means "changed". Deterministic code with a network fact as input, tested as a table. Alexa+ phrases the structured result; no second LLM sits between the fact and the answer.</a:t>
            </a:r>
            <a:endParaRPr lang="en-US" sz="1200" dirty="0"/>
          </a:p>
        </p:txBody>
      </p:sp>
      <p:pic>
        <p:nvPicPr>
          <p:cNvPr id="16" name="Image 3" descr="line"/>
          <p:cNvPicPr>
            <a:picLocks noChangeAspect="1"/>
          </p:cNvPicPr>
          <p:nvPr/>
        </p:nvPicPr>
        <p:blipFill>
          <a:blip r:embed="rId6"/>
          <a:srcRect l="-9059" r="-9059"/>
          <a:stretch/>
        </p:blipFill>
        <p:spPr>
          <a:xfrm>
            <a:off x="8596212" y="4703136"/>
            <a:ext cx="2574474" cy="10763"/>
          </a:xfrm>
          <a:prstGeom prst="rect">
            <a:avLst/>
          </a:prstGeom>
        </p:spPr>
      </p:pic>
      <p:sp>
        <p:nvSpPr>
          <p:cNvPr id="17" name="Text 11"/>
          <p:cNvSpPr/>
          <p:nvPr/>
        </p:nvSpPr>
        <p:spPr>
          <a:xfrm>
            <a:off x="8596212" y="4802777"/>
            <a:ext cx="2651709" cy="665109"/>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6B7583"/>
                </a:solidFill>
                <a:latin typeface="IBM Plex Sans" pitchFamily="34" charset="0"/>
                <a:ea typeface="IBM Plex Sans" pitchFamily="34" charset="-122"/>
                <a:cs typeface="IBM Plex Sans" pitchFamily="34" charset="-120"/>
              </a:rPr>
              <a:t>Not used, on purpose:</a:t>
            </a:r>
            <a:r>
              <a:rPr lang="en-US" sz="1200" dirty="0">
                <a:solidFill>
                  <a:srgbClr val="6B7583"/>
                </a:solidFill>
                <a:latin typeface="IBM Plex Sans" pitchFamily="34" charset="0"/>
                <a:ea typeface="IBM Plex Sans" pitchFamily="34" charset="-122"/>
                <a:cs typeface="IBM Plex Sans" pitchFamily="34" charset="-120"/>
              </a:rPr>
              <a:t> AgentCore Memory, Knowledge Bases, fine-tuning, Bedrock for phrasing.</a:t>
            </a:r>
            <a:endParaRPr lang="en-US" sz="1200" dirty="0"/>
          </a:p>
        </p:txBody>
      </p:sp>
      <p:sp>
        <p:nvSpPr>
          <p:cNvPr id="18" name="Text 12"/>
          <p:cNvSpPr/>
          <p:nvPr/>
        </p:nvSpPr>
        <p:spPr>
          <a:xfrm>
            <a:off x="812753" y="6238335"/>
            <a:ext cx="10237256" cy="23863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583"/>
                </a:solidFill>
                <a:latin typeface="IBM Plex Sans" pitchFamily="34" charset="0"/>
                <a:ea typeface="IBM Plex Sans" pitchFamily="34" charset="-122"/>
                <a:cs typeface="IBM Plex Sans" pitchFamily="34" charset="-120"/>
              </a:rPr>
              <a:t>Week one checks: Gateway against the CAMARA OAuth shape; end-to-end latency against the mock, measured not assumed.</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753" y="812757"/>
            <a:ext cx="10883454" cy="237039"/>
          </a:xfrm>
          <a:prstGeom prst="rect">
            <a:avLst/>
          </a:prstGeom>
          <a:noFill/>
          <a:ln/>
        </p:spPr>
        <p:txBody>
          <a:bodyPr wrap="square" lIns="0" tIns="0" rIns="0" bIns="0" rtlCol="0" anchor="t">
            <a:normAutofit/>
          </a:bodyPr>
          <a:lstStyle/>
          <a:p>
            <a:pPr marL="0" indent="0" algn="l">
              <a:lnSpc>
                <a:spcPts val="1672"/>
              </a:lnSpc>
              <a:buNone/>
            </a:pPr>
            <a:r>
              <a:rPr lang="en-US" sz="1194" b="1" kern="0" spc="100" dirty="0">
                <a:solidFill>
                  <a:srgbClr val="2BB3A0"/>
                </a:solidFill>
                <a:latin typeface="IBM Plex Sans" pitchFamily="34" charset="0"/>
                <a:ea typeface="IBM Plex Sans" pitchFamily="34" charset="-122"/>
                <a:cs typeface="IBM Plex Sans" pitchFamily="34" charset="-120"/>
              </a:rPr>
              <a:t>CONSENT AND SAFETY</a:t>
            </a:r>
            <a:endParaRPr lang="en-US" sz="1194" dirty="0"/>
          </a:p>
        </p:txBody>
      </p:sp>
      <p:sp>
        <p:nvSpPr>
          <p:cNvPr id="3" name="Text 1"/>
          <p:cNvSpPr>
            <a:spLocks noGrp="1"/>
          </p:cNvSpPr>
          <p:nvPr>
            <p:ph type="title"/>
          </p:nvPr>
        </p:nvSpPr>
        <p:spPr>
          <a:xfrm>
            <a:off x="812753" y="1125965"/>
            <a:ext cx="10883454" cy="843955"/>
          </a:xfrm>
          <a:prstGeom prst="rect">
            <a:avLst/>
          </a:prstGeom>
          <a:noFill/>
          <a:ln/>
        </p:spPr>
        <p:txBody>
          <a:bodyPr wrap="square" lIns="0" tIns="0" rIns="0" bIns="0" rtlCol="0" anchor="t">
            <a:normAutofit/>
          </a:bodyPr>
          <a:lstStyle/>
          <a:p>
            <a:pPr marL="0" indent="0" algn="l">
              <a:lnSpc>
                <a:spcPts val="3234"/>
              </a:lnSpc>
              <a:buNone/>
            </a:pPr>
            <a:r>
              <a:rPr lang="en-US" sz="2940" b="1" i="0" dirty="0">
                <a:solidFill>
                  <a:srgbClr val="0E1726"/>
                </a:solidFill>
                <a:latin typeface="IBM Plex Sans" pitchFamily="34" charset="0"/>
                <a:ea typeface="IBM Plex Sans" pitchFamily="34" charset="-122"/>
                <a:cs typeface="IBM Plex Sans" pitchFamily="34" charset="-120"/>
              </a:rPr>
              <a:t>A line is asked about only by someone it was bound to, for a tool it agreed to</a:t>
            </a:r>
            <a:endParaRPr lang="en-US" sz="2940" dirty="0"/>
          </a:p>
        </p:txBody>
      </p:sp>
      <p:sp>
        <p:nvSpPr>
          <p:cNvPr id="4" name="Shape 2"/>
          <p:cNvSpPr/>
          <p:nvPr/>
        </p:nvSpPr>
        <p:spPr>
          <a:xfrm>
            <a:off x="815928" y="2227021"/>
            <a:ext cx="3397274" cy="2065472"/>
          </a:xfrm>
          <a:prstGeom prst="roundRect">
            <a:avLst>
              <a:gd name="adj" fmla="val 4765"/>
            </a:avLst>
          </a:prstGeom>
          <a:solidFill>
            <a:srgbClr val="FFFFFF"/>
          </a:solidFill>
          <a:ln w="6350">
            <a:solidFill>
              <a:srgbClr val="DDE1E6"/>
            </a:solidFill>
            <a:prstDash val="solid"/>
          </a:ln>
        </p:spPr>
        <p:txBody>
          <a:bodyPr/>
          <a:lstStyle/>
          <a:p>
            <a:endParaRPr lang="en-US"/>
          </a:p>
        </p:txBody>
      </p:sp>
      <p:pic>
        <p:nvPicPr>
          <p:cNvPr id="5" name="Image 0" descr="Key"/>
          <p:cNvPicPr>
            <a:picLocks noChangeAspect="1"/>
          </p:cNvPicPr>
          <p:nvPr/>
        </p:nvPicPr>
        <p:blipFill>
          <a:blip r:embed="rId3"/>
          <a:srcRect l="-277" r="-277"/>
          <a:stretch/>
        </p:blipFill>
        <p:spPr>
          <a:xfrm>
            <a:off x="1046674" y="2457766"/>
            <a:ext cx="253933" cy="227278"/>
          </a:xfrm>
          <a:prstGeom prst="rect">
            <a:avLst/>
          </a:prstGeom>
        </p:spPr>
      </p:pic>
      <p:sp>
        <p:nvSpPr>
          <p:cNvPr id="6" name="Text 3"/>
          <p:cNvSpPr/>
          <p:nvPr/>
        </p:nvSpPr>
        <p:spPr>
          <a:xfrm>
            <a:off x="1046674" y="2773921"/>
            <a:ext cx="3023856" cy="229892"/>
          </a:xfrm>
          <a:prstGeom prst="rect">
            <a:avLst/>
          </a:prstGeom>
          <a:noFill/>
          <a:ln/>
        </p:spPr>
        <p:txBody>
          <a:bodyPr wrap="square" lIns="0" tIns="0" rIns="0" bIns="0" rtlCol="0" anchor="t">
            <a:normAutofit/>
          </a:bodyPr>
          <a:lstStyle/>
          <a:p>
            <a:pPr marL="0" indent="0" algn="l">
              <a:lnSpc>
                <a:spcPts val="1620"/>
              </a:lnSpc>
              <a:buNone/>
            </a:pPr>
            <a:r>
              <a:rPr lang="en-US" sz="1350" b="1" dirty="0">
                <a:solidFill>
                  <a:srgbClr val="0E1726"/>
                </a:solidFill>
                <a:latin typeface="IBM Plex Sans" pitchFamily="34" charset="0"/>
                <a:ea typeface="IBM Plex Sans" pitchFamily="34" charset="-122"/>
                <a:cs typeface="IBM Plex Sans" pitchFamily="34" charset="-120"/>
              </a:rPr>
              <a:t>Bind the line first</a:t>
            </a:r>
            <a:endParaRPr lang="en-US" sz="1350" dirty="0"/>
          </a:p>
        </p:txBody>
      </p:sp>
      <p:sp>
        <p:nvSpPr>
          <p:cNvPr id="7" name="Text 4"/>
          <p:cNvSpPr/>
          <p:nvPr/>
        </p:nvSpPr>
        <p:spPr>
          <a:xfrm>
            <a:off x="1046674" y="3067292"/>
            <a:ext cx="3023856" cy="1019858"/>
          </a:xfrm>
          <a:prstGeom prst="rect">
            <a:avLst/>
          </a:prstGeom>
          <a:noFill/>
          <a:ln/>
        </p:spPr>
        <p:txBody>
          <a:bodyPr wrap="square" lIns="0" tIns="0" rIns="0" bIns="0" rtlCol="0" anchor="t">
            <a:normAutofit/>
          </a:bodyPr>
          <a:lstStyle/>
          <a:p>
            <a:pPr marL="0" indent="0" algn="l">
              <a:lnSpc>
                <a:spcPts val="1613"/>
              </a:lnSpc>
              <a:buNone/>
            </a:pPr>
            <a:r>
              <a:rPr lang="en-US" sz="1152" dirty="0">
                <a:solidFill>
                  <a:srgbClr val="46505E"/>
                </a:solidFill>
                <a:latin typeface="IBM Plex Sans" pitchFamily="34" charset="0"/>
                <a:ea typeface="IBM Plex Sans" pitchFamily="34" charset="-122"/>
                <a:cs typeface="IBM Plex Sans" pitchFamily="34" charset="-120"/>
              </a:rPr>
              <a:t>Alexa sends a link; you open it on your phone over mobile data; Number Verification proves the number. One tap, once. No binding, no tools — for your own line too.</a:t>
            </a:r>
            <a:endParaRPr lang="en-US" sz="1152" dirty="0"/>
          </a:p>
        </p:txBody>
      </p:sp>
      <p:sp>
        <p:nvSpPr>
          <p:cNvPr id="8" name="Shape 5"/>
          <p:cNvSpPr/>
          <p:nvPr/>
        </p:nvSpPr>
        <p:spPr>
          <a:xfrm>
            <a:off x="4397304" y="2227021"/>
            <a:ext cx="3397358" cy="2065472"/>
          </a:xfrm>
          <a:prstGeom prst="roundRect">
            <a:avLst>
              <a:gd name="adj" fmla="val 4765"/>
            </a:avLst>
          </a:prstGeom>
          <a:solidFill>
            <a:srgbClr val="FFFFFF"/>
          </a:solidFill>
          <a:ln w="6350">
            <a:solidFill>
              <a:srgbClr val="DDE1E6"/>
            </a:solidFill>
            <a:prstDash val="solid"/>
          </a:ln>
        </p:spPr>
        <p:txBody>
          <a:bodyPr/>
          <a:lstStyle/>
          <a:p>
            <a:endParaRPr lang="en-US"/>
          </a:p>
        </p:txBody>
      </p:sp>
      <p:pic>
        <p:nvPicPr>
          <p:cNvPr id="9" name="Image 1" descr="Users"/>
          <p:cNvPicPr>
            <a:picLocks noChangeAspect="1"/>
          </p:cNvPicPr>
          <p:nvPr/>
        </p:nvPicPr>
        <p:blipFill>
          <a:blip r:embed="rId4"/>
          <a:srcRect l="-483" r="-483"/>
          <a:stretch/>
        </p:blipFill>
        <p:spPr>
          <a:xfrm>
            <a:off x="4628050" y="2457766"/>
            <a:ext cx="253933" cy="226353"/>
          </a:xfrm>
          <a:prstGeom prst="rect">
            <a:avLst/>
          </a:prstGeom>
        </p:spPr>
      </p:pic>
      <p:sp>
        <p:nvSpPr>
          <p:cNvPr id="10" name="Text 6"/>
          <p:cNvSpPr/>
          <p:nvPr/>
        </p:nvSpPr>
        <p:spPr>
          <a:xfrm>
            <a:off x="4628050" y="2772997"/>
            <a:ext cx="3163437" cy="432954"/>
          </a:xfrm>
          <a:prstGeom prst="rect">
            <a:avLst/>
          </a:prstGeom>
          <a:noFill/>
          <a:ln/>
        </p:spPr>
        <p:txBody>
          <a:bodyPr wrap="square" lIns="0" tIns="0" rIns="0" bIns="0" rtlCol="0" anchor="t">
            <a:normAutofit/>
          </a:bodyPr>
          <a:lstStyle/>
          <a:p>
            <a:pPr marL="0" indent="0" algn="l">
              <a:lnSpc>
                <a:spcPts val="1766"/>
              </a:lnSpc>
              <a:buNone/>
            </a:pPr>
            <a:r>
              <a:rPr lang="en-US" sz="1472" b="1" dirty="0">
                <a:solidFill>
                  <a:srgbClr val="0E1726"/>
                </a:solidFill>
                <a:latin typeface="IBM Plex Sans" pitchFamily="34" charset="0"/>
                <a:ea typeface="IBM Plex Sans" pitchFamily="34" charset="-122"/>
                <a:cs typeface="IBM Plex Sans" pitchFamily="34" charset="-120"/>
              </a:rPr>
              <a:t>Someone else's line: they consent</a:t>
            </a:r>
            <a:endParaRPr lang="en-US" sz="1472" dirty="0"/>
          </a:p>
        </p:txBody>
      </p:sp>
      <p:sp>
        <p:nvSpPr>
          <p:cNvPr id="11" name="Text 7"/>
          <p:cNvSpPr/>
          <p:nvPr/>
        </p:nvSpPr>
        <p:spPr>
          <a:xfrm>
            <a:off x="4628050" y="3269425"/>
            <a:ext cx="3023942" cy="817721"/>
          </a:xfrm>
          <a:prstGeom prst="rect">
            <a:avLst/>
          </a:prstGeom>
          <a:noFill/>
          <a:ln/>
        </p:spPr>
        <p:txBody>
          <a:bodyPr wrap="square" lIns="0" tIns="0" rIns="0" bIns="0" rtlCol="0" anchor="t">
            <a:normAutofit/>
          </a:bodyPr>
          <a:lstStyle/>
          <a:p>
            <a:pPr marL="0" indent="0" algn="l">
              <a:lnSpc>
                <a:spcPts val="1564"/>
              </a:lnSpc>
              <a:buNone/>
            </a:pPr>
            <a:r>
              <a:rPr lang="en-US" sz="1117" dirty="0">
                <a:solidFill>
                  <a:srgbClr val="46505E"/>
                </a:solidFill>
                <a:latin typeface="IBM Plex Sans" pitchFamily="34" charset="0"/>
                <a:ea typeface="IBM Plex Sans" pitchFamily="34" charset="-122"/>
                <a:cs typeface="IBM Plex Sans" pitchFamily="34" charset="-120"/>
              </a:rPr>
              <a:t>Dad binds his line the same way and grants </a:t>
            </a:r>
            <a:r>
              <a:rPr lang="en-US" sz="1117" b="1" dirty="0">
                <a:solidFill>
                  <a:srgbClr val="46505E"/>
                </a:solidFill>
                <a:latin typeface="IBM Plex Sans" pitchFamily="34" charset="0"/>
                <a:ea typeface="IBM Plex Sans" pitchFamily="34" charset="-122"/>
                <a:cs typeface="IBM Plex Sans" pitchFamily="34" charset="-120"/>
              </a:rPr>
              <a:t>is_reachable</a:t>
            </a:r>
            <a:r>
              <a:rPr lang="en-US" sz="1117" dirty="0">
                <a:solidFill>
                  <a:srgbClr val="46505E"/>
                </a:solidFill>
                <a:latin typeface="IBM Plex Sans" pitchFamily="34" charset="0"/>
                <a:ea typeface="IBM Plex Sans" pitchFamily="34" charset="-122"/>
                <a:cs typeface="IBM Plex Sans" pitchFamily="34" charset="-120"/>
              </a:rPr>
              <a:t> or </a:t>
            </a:r>
            <a:r>
              <a:rPr lang="en-US" sz="1117" b="1" dirty="0">
                <a:solidFill>
                  <a:srgbClr val="46505E"/>
                </a:solidFill>
                <a:latin typeface="IBM Plex Sans" pitchFamily="34" charset="0"/>
                <a:ea typeface="IBM Plex Sans" pitchFamily="34" charset="-122"/>
                <a:cs typeface="IBM Plex Sans" pitchFamily="34" charset="-120"/>
              </a:rPr>
              <a:t>watch_line</a:t>
            </a:r>
            <a:r>
              <a:rPr lang="en-US" sz="1117" dirty="0">
                <a:solidFill>
                  <a:srgbClr val="46505E"/>
                </a:solidFill>
                <a:latin typeface="IBM Plex Sans" pitchFamily="34" charset="0"/>
                <a:ea typeface="IBM Plex Sans" pitchFamily="34" charset="-122"/>
                <a:cs typeface="IBM Plex Sans" pitchFamily="34" charset="-120"/>
              </a:rPr>
              <a:t> to you, revocable any time. Nothing else is offered for a shared line.</a:t>
            </a:r>
            <a:endParaRPr lang="en-US" sz="1117" dirty="0"/>
          </a:p>
        </p:txBody>
      </p:sp>
      <p:sp>
        <p:nvSpPr>
          <p:cNvPr id="12" name="Shape 8"/>
          <p:cNvSpPr/>
          <p:nvPr/>
        </p:nvSpPr>
        <p:spPr>
          <a:xfrm>
            <a:off x="7978765" y="2227021"/>
            <a:ext cx="3397274" cy="2065472"/>
          </a:xfrm>
          <a:prstGeom prst="roundRect">
            <a:avLst>
              <a:gd name="adj" fmla="val 4765"/>
            </a:avLst>
          </a:prstGeom>
          <a:solidFill>
            <a:srgbClr val="FFFFFF"/>
          </a:solidFill>
          <a:ln w="6350">
            <a:solidFill>
              <a:srgbClr val="DDE1E6"/>
            </a:solidFill>
            <a:prstDash val="solid"/>
          </a:ln>
        </p:spPr>
        <p:txBody>
          <a:bodyPr/>
          <a:lstStyle/>
          <a:p>
            <a:endParaRPr lang="en-US"/>
          </a:p>
        </p:txBody>
      </p:sp>
      <p:pic>
        <p:nvPicPr>
          <p:cNvPr id="13" name="Image 2" descr="Verified"/>
          <p:cNvPicPr>
            <a:picLocks noChangeAspect="1"/>
          </p:cNvPicPr>
          <p:nvPr/>
        </p:nvPicPr>
        <p:blipFill>
          <a:blip r:embed="rId5"/>
          <a:srcRect l="-277" r="-277"/>
          <a:stretch/>
        </p:blipFill>
        <p:spPr>
          <a:xfrm>
            <a:off x="8209511" y="2457766"/>
            <a:ext cx="253933" cy="227278"/>
          </a:xfrm>
          <a:prstGeom prst="rect">
            <a:avLst/>
          </a:prstGeom>
        </p:spPr>
      </p:pic>
      <p:sp>
        <p:nvSpPr>
          <p:cNvPr id="14" name="Text 9"/>
          <p:cNvSpPr/>
          <p:nvPr/>
        </p:nvSpPr>
        <p:spPr>
          <a:xfrm>
            <a:off x="8209511" y="2773921"/>
            <a:ext cx="3023856" cy="229892"/>
          </a:xfrm>
          <a:prstGeom prst="rect">
            <a:avLst/>
          </a:prstGeom>
          <a:noFill/>
          <a:ln/>
        </p:spPr>
        <p:txBody>
          <a:bodyPr wrap="square" lIns="0" tIns="0" rIns="0" bIns="0" rtlCol="0" anchor="t">
            <a:normAutofit/>
          </a:bodyPr>
          <a:lstStyle/>
          <a:p>
            <a:pPr marL="0" indent="0" algn="l">
              <a:lnSpc>
                <a:spcPts val="1620"/>
              </a:lnSpc>
              <a:buNone/>
            </a:pPr>
            <a:r>
              <a:rPr lang="en-US" sz="1350" b="1" dirty="0">
                <a:solidFill>
                  <a:srgbClr val="0E1726"/>
                </a:solidFill>
                <a:latin typeface="IBM Plex Sans" pitchFamily="34" charset="0"/>
                <a:ea typeface="IBM Plex Sans" pitchFamily="34" charset="-122"/>
                <a:cs typeface="IBM Plex Sans" pitchFamily="34" charset="-120"/>
              </a:rPr>
              <a:t>Verify, never retrieve</a:t>
            </a:r>
            <a:endParaRPr lang="en-US" sz="1350" dirty="0"/>
          </a:p>
        </p:txBody>
      </p:sp>
      <p:sp>
        <p:nvSpPr>
          <p:cNvPr id="15" name="Text 10"/>
          <p:cNvSpPr/>
          <p:nvPr/>
        </p:nvSpPr>
        <p:spPr>
          <a:xfrm>
            <a:off x="8209511" y="3067292"/>
            <a:ext cx="3023856" cy="1019858"/>
          </a:xfrm>
          <a:prstGeom prst="rect">
            <a:avLst/>
          </a:prstGeom>
          <a:noFill/>
          <a:ln/>
        </p:spPr>
        <p:txBody>
          <a:bodyPr wrap="square" lIns="0" tIns="0" rIns="0" bIns="0" rtlCol="0" anchor="t">
            <a:normAutofit/>
          </a:bodyPr>
          <a:lstStyle/>
          <a:p>
            <a:pPr marL="0" indent="0" algn="l">
              <a:lnSpc>
                <a:spcPts val="1679"/>
              </a:lnSpc>
              <a:buNone/>
            </a:pPr>
            <a:r>
              <a:rPr lang="en-US" sz="1199" dirty="0">
                <a:solidFill>
                  <a:srgbClr val="46505E"/>
                </a:solidFill>
                <a:latin typeface="IBM Plex Sans" pitchFamily="34" charset="0"/>
                <a:ea typeface="IBM Plex Sans" pitchFamily="34" charset="-122"/>
                <a:cs typeface="IBM Plex Sans" pitchFamily="34" charset="-120"/>
              </a:rPr>
              <a:t>Every result is a boolean. Tower is the contracted API consumer under CAMARA's consent model; you are the one who consents, and the consent is yours to pull.</a:t>
            </a:r>
            <a:endParaRPr lang="en-US" sz="1199" dirty="0"/>
          </a:p>
        </p:txBody>
      </p:sp>
      <p:sp>
        <p:nvSpPr>
          <p:cNvPr id="16" name="Shape 11"/>
          <p:cNvSpPr/>
          <p:nvPr/>
        </p:nvSpPr>
        <p:spPr>
          <a:xfrm>
            <a:off x="812753" y="4574995"/>
            <a:ext cx="5623770" cy="1266973"/>
          </a:xfrm>
          <a:prstGeom prst="roundRect">
            <a:avLst>
              <a:gd name="adj" fmla="val 8019"/>
            </a:avLst>
          </a:prstGeom>
          <a:solidFill>
            <a:srgbClr val="0E1726"/>
          </a:solidFill>
          <a:ln/>
        </p:spPr>
        <p:txBody>
          <a:bodyPr/>
          <a:lstStyle/>
          <a:p>
            <a:endParaRPr lang="en-US"/>
          </a:p>
        </p:txBody>
      </p:sp>
      <p:sp>
        <p:nvSpPr>
          <p:cNvPr id="17" name="Text 12"/>
          <p:cNvSpPr/>
          <p:nvPr/>
        </p:nvSpPr>
        <p:spPr>
          <a:xfrm>
            <a:off x="1015899" y="4778139"/>
            <a:ext cx="5374001" cy="23880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BB3A0"/>
                </a:solidFill>
                <a:latin typeface="IBM Plex Sans" pitchFamily="34" charset="0"/>
                <a:ea typeface="IBM Plex Sans" pitchFamily="34" charset="-122"/>
                <a:cs typeface="IBM Plex Sans" pitchFamily="34" charset="-120"/>
              </a:rPr>
              <a:t>Audited, always</a:t>
            </a:r>
            <a:endParaRPr lang="en-US" sz="1400" dirty="0"/>
          </a:p>
        </p:txBody>
      </p:sp>
      <p:sp>
        <p:nvSpPr>
          <p:cNvPr id="18" name="Text 13"/>
          <p:cNvSpPr/>
          <p:nvPr/>
        </p:nvSpPr>
        <p:spPr>
          <a:xfrm>
            <a:off x="1015899" y="5067722"/>
            <a:ext cx="5374001" cy="469866"/>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B9C4D0"/>
                </a:solidFill>
                <a:latin typeface="IBM Plex Sans" pitchFamily="34" charset="0"/>
                <a:ea typeface="IBM Plex Sans" pitchFamily="34" charset="-122"/>
                <a:cs typeface="IBM Plex Sans" pitchFamily="34" charset="-120"/>
              </a:rPr>
              <a:t>Every call and every refusal is logged with the tool, the line, who asked, and why. The line-holder can read their own log by voice.</a:t>
            </a:r>
            <a:endParaRPr lang="en-US" sz="1250" dirty="0"/>
          </a:p>
        </p:txBody>
      </p:sp>
      <p:sp>
        <p:nvSpPr>
          <p:cNvPr id="19" name="Shape 14"/>
          <p:cNvSpPr/>
          <p:nvPr/>
        </p:nvSpPr>
        <p:spPr>
          <a:xfrm>
            <a:off x="6617450" y="4578170"/>
            <a:ext cx="4758589" cy="1260623"/>
          </a:xfrm>
          <a:prstGeom prst="roundRect">
            <a:avLst>
              <a:gd name="adj" fmla="val 7808"/>
            </a:avLst>
          </a:prstGeom>
          <a:solidFill>
            <a:srgbClr val="FFFFFF"/>
          </a:solidFill>
          <a:ln w="6350">
            <a:solidFill>
              <a:srgbClr val="DDE1E6"/>
            </a:solidFill>
            <a:prstDash val="solid"/>
          </a:ln>
        </p:spPr>
        <p:txBody>
          <a:bodyPr/>
          <a:lstStyle/>
          <a:p>
            <a:endParaRPr lang="en-US"/>
          </a:p>
        </p:txBody>
      </p:sp>
      <p:sp>
        <p:nvSpPr>
          <p:cNvPr id="20" name="Text 15"/>
          <p:cNvSpPr/>
          <p:nvPr/>
        </p:nvSpPr>
        <p:spPr>
          <a:xfrm>
            <a:off x="6822803" y="4783522"/>
            <a:ext cx="4478320" cy="212991"/>
          </a:xfrm>
          <a:prstGeom prst="rect">
            <a:avLst/>
          </a:prstGeom>
          <a:noFill/>
          <a:ln/>
        </p:spPr>
        <p:txBody>
          <a:bodyPr wrap="square" lIns="0" tIns="0" rIns="0" bIns="0" rtlCol="0" anchor="t">
            <a:normAutofit/>
          </a:bodyPr>
          <a:lstStyle/>
          <a:p>
            <a:pPr marL="0" indent="0" algn="l">
              <a:lnSpc>
                <a:spcPts val="1523"/>
              </a:lnSpc>
              <a:buNone/>
            </a:pPr>
            <a:r>
              <a:rPr lang="en-US" sz="1269" b="1" dirty="0">
                <a:solidFill>
                  <a:srgbClr val="0E1726"/>
                </a:solidFill>
                <a:latin typeface="IBM Plex Sans" pitchFamily="34" charset="0"/>
                <a:ea typeface="IBM Plex Sans" pitchFamily="34" charset="-122"/>
                <a:cs typeface="IBM Plex Sans" pitchFamily="34" charset="-120"/>
              </a:rPr>
              <a:t>Deliberately not built</a:t>
            </a:r>
            <a:endParaRPr lang="en-US" sz="1269" dirty="0"/>
          </a:p>
        </p:txBody>
      </p:sp>
      <p:sp>
        <p:nvSpPr>
          <p:cNvPr id="21" name="Text 16"/>
          <p:cNvSpPr/>
          <p:nvPr/>
        </p:nvSpPr>
        <p:spPr>
          <a:xfrm>
            <a:off x="6822803" y="5047295"/>
            <a:ext cx="4478320" cy="611547"/>
          </a:xfrm>
          <a:prstGeom prst="rect">
            <a:avLst/>
          </a:prstGeom>
          <a:noFill/>
          <a:ln/>
        </p:spPr>
        <p:txBody>
          <a:bodyPr wrap="square" lIns="0" tIns="0" rIns="0" bIns="0" rtlCol="0" anchor="t">
            <a:normAutofit/>
          </a:bodyPr>
          <a:lstStyle/>
          <a:p>
            <a:pPr marL="0" indent="0" algn="l">
              <a:lnSpc>
                <a:spcPts val="1537"/>
              </a:lnSpc>
              <a:buNone/>
            </a:pPr>
            <a:r>
              <a:rPr lang="en-US" sz="1098" dirty="0">
                <a:solidFill>
                  <a:srgbClr val="46505E"/>
                </a:solidFill>
                <a:latin typeface="IBM Plex Sans" pitchFamily="34" charset="0"/>
                <a:ea typeface="IBM Plex Sans" pitchFamily="34" charset="-122"/>
                <a:cs typeface="IBM Plex Sans" pitchFamily="34" charset="-120"/>
              </a:rPr>
              <a:t>Location of any kind · call or message content · any query on an unbound line · anything the model can override · Alexa speaking unprompted</a:t>
            </a:r>
            <a:endParaRPr lang="en-US" sz="1098" dirty="0"/>
          </a:p>
        </p:txBody>
      </p:sp>
      <p:sp>
        <p:nvSpPr>
          <p:cNvPr id="22" name="Text 17"/>
          <p:cNvSpPr/>
          <p:nvPr/>
        </p:nvSpPr>
        <p:spPr>
          <a:xfrm>
            <a:off x="812753" y="6238335"/>
            <a:ext cx="4839084" cy="23863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583"/>
                </a:solidFill>
                <a:latin typeface="IBM Plex Sans" pitchFamily="34" charset="0"/>
                <a:ea typeface="IBM Plex Sans" pitchFamily="34" charset="-122"/>
                <a:cs typeface="IBM Plex Sans" pitchFamily="34" charset="-120"/>
              </a:rPr>
              <a:t>Consent is the first screen of the demo, not a settings page.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753" y="812750"/>
            <a:ext cx="10883454" cy="203069"/>
          </a:xfrm>
          <a:prstGeom prst="rect">
            <a:avLst/>
          </a:prstGeom>
          <a:noFill/>
          <a:ln/>
        </p:spPr>
        <p:txBody>
          <a:bodyPr wrap="square" lIns="0" tIns="0" rIns="0" bIns="0" rtlCol="0" anchor="t">
            <a:normAutofit/>
          </a:bodyPr>
          <a:lstStyle/>
          <a:p>
            <a:pPr marL="0" indent="0" algn="l">
              <a:lnSpc>
                <a:spcPts val="1422"/>
              </a:lnSpc>
              <a:buNone/>
            </a:pPr>
            <a:r>
              <a:rPr lang="en-US" sz="1016" b="1" kern="0" spc="100" dirty="0">
                <a:solidFill>
                  <a:srgbClr val="2BB3A0"/>
                </a:solidFill>
                <a:latin typeface="IBM Plex Sans" pitchFamily="34" charset="0"/>
                <a:ea typeface="IBM Plex Sans" pitchFamily="34" charset="-122"/>
                <a:cs typeface="IBM Plex Sans" pitchFamily="34" charset="-120"/>
              </a:rPr>
              <a:t>WHERE IT GOES NEXT</a:t>
            </a:r>
            <a:endParaRPr lang="en-US" sz="1016" dirty="0"/>
          </a:p>
        </p:txBody>
      </p:sp>
      <p:sp>
        <p:nvSpPr>
          <p:cNvPr id="3" name="Text 1"/>
          <p:cNvSpPr>
            <a:spLocks noGrp="1"/>
          </p:cNvSpPr>
          <p:nvPr>
            <p:ph type="title"/>
          </p:nvPr>
        </p:nvSpPr>
        <p:spPr>
          <a:xfrm>
            <a:off x="812753" y="1091995"/>
            <a:ext cx="11379247" cy="712616"/>
          </a:xfrm>
          <a:prstGeom prst="rect">
            <a:avLst/>
          </a:prstGeom>
          <a:noFill/>
          <a:ln/>
        </p:spPr>
        <p:txBody>
          <a:bodyPr wrap="square" lIns="0" tIns="0" rIns="0" bIns="0" rtlCol="0" anchor="t">
            <a:normAutofit/>
          </a:bodyPr>
          <a:lstStyle/>
          <a:p>
            <a:pPr marL="0" indent="0" algn="l">
              <a:lnSpc>
                <a:spcPts val="3212"/>
              </a:lnSpc>
              <a:buNone/>
            </a:pPr>
            <a:r>
              <a:rPr lang="en-US" sz="2920" b="1" i="0" dirty="0">
                <a:solidFill>
                  <a:srgbClr val="0E1726"/>
                </a:solidFill>
                <a:latin typeface="IBM Plex Sans" pitchFamily="34" charset="0"/>
                <a:ea typeface="IBM Plex Sans" pitchFamily="34" charset="-122"/>
                <a:cs typeface="IBM Plex Sans" pitchFamily="34" charset="-120"/>
              </a:rPr>
              <a:t>The demo stays at three tools. The pattern doesn't stop there.</a:t>
            </a:r>
            <a:endParaRPr lang="en-US" sz="2920" dirty="0"/>
          </a:p>
        </p:txBody>
      </p:sp>
      <p:sp>
        <p:nvSpPr>
          <p:cNvPr id="4" name="Shape 2"/>
          <p:cNvSpPr/>
          <p:nvPr/>
        </p:nvSpPr>
        <p:spPr>
          <a:xfrm>
            <a:off x="812753" y="2033141"/>
            <a:ext cx="3413377" cy="2426487"/>
          </a:xfrm>
          <a:prstGeom prst="roundRect">
            <a:avLst>
              <a:gd name="adj" fmla="val 4187"/>
            </a:avLst>
          </a:prstGeom>
          <a:solidFill>
            <a:srgbClr val="0E1726"/>
          </a:solidFill>
          <a:ln/>
        </p:spPr>
        <p:txBody>
          <a:bodyPr/>
          <a:lstStyle/>
          <a:p>
            <a:endParaRPr lang="en-US"/>
          </a:p>
        </p:txBody>
      </p:sp>
      <p:pic>
        <p:nvPicPr>
          <p:cNvPr id="5" name="Image 0" descr="Lock"/>
          <p:cNvPicPr>
            <a:picLocks noChangeAspect="1"/>
          </p:cNvPicPr>
          <p:nvPr/>
        </p:nvPicPr>
        <p:blipFill>
          <a:blip r:embed="rId3"/>
          <a:srcRect t="-433" b="-433"/>
          <a:stretch/>
        </p:blipFill>
        <p:spPr>
          <a:xfrm>
            <a:off x="1015899" y="2236291"/>
            <a:ext cx="228539" cy="166486"/>
          </a:xfrm>
          <a:prstGeom prst="rect">
            <a:avLst/>
          </a:prstGeom>
        </p:spPr>
      </p:pic>
      <p:sp>
        <p:nvSpPr>
          <p:cNvPr id="6" name="Text 3"/>
          <p:cNvSpPr/>
          <p:nvPr/>
        </p:nvSpPr>
        <p:spPr>
          <a:xfrm>
            <a:off x="1015899" y="2491649"/>
            <a:ext cx="3097297" cy="180871"/>
          </a:xfrm>
          <a:prstGeom prst="rect">
            <a:avLst/>
          </a:prstGeom>
          <a:noFill/>
          <a:ln/>
        </p:spPr>
        <p:txBody>
          <a:bodyPr wrap="square" lIns="0" tIns="0" rIns="0" bIns="0" rtlCol="0" anchor="t">
            <a:normAutofit/>
          </a:bodyPr>
          <a:lstStyle/>
          <a:p>
            <a:pPr marL="0" indent="0" algn="l">
              <a:lnSpc>
                <a:spcPts val="1223"/>
              </a:lnSpc>
              <a:buNone/>
            </a:pPr>
            <a:r>
              <a:rPr lang="en-US" sz="1019" b="1" dirty="0">
                <a:solidFill>
                  <a:srgbClr val="F6F5F0"/>
                </a:solidFill>
                <a:latin typeface="IBM Plex Sans" pitchFamily="34" charset="0"/>
                <a:ea typeface="IBM Plex Sans" pitchFamily="34" charset="-122"/>
                <a:cs typeface="IBM Plex Sans" pitchFamily="34" charset="-120"/>
              </a:rPr>
              <a:t>Fraud and account safety</a:t>
            </a:r>
            <a:endParaRPr lang="en-US" sz="1019" dirty="0"/>
          </a:p>
        </p:txBody>
      </p:sp>
      <p:sp>
        <p:nvSpPr>
          <p:cNvPr id="7" name="Text 4"/>
          <p:cNvSpPr/>
          <p:nvPr/>
        </p:nvSpPr>
        <p:spPr>
          <a:xfrm>
            <a:off x="1015899" y="2736000"/>
            <a:ext cx="3097297" cy="491476"/>
          </a:xfrm>
          <a:prstGeom prst="rect">
            <a:avLst/>
          </a:prstGeom>
          <a:noFill/>
          <a:ln/>
        </p:spPr>
        <p:txBody>
          <a:bodyPr wrap="square" lIns="0" tIns="0" rIns="0" bIns="0" rtlCol="0" anchor="t">
            <a:normAutofit/>
          </a:bodyPr>
          <a:lstStyle/>
          <a:p>
            <a:pPr marL="0" indent="0" algn="l">
              <a:lnSpc>
                <a:spcPts val="1659"/>
              </a:lnSpc>
              <a:buNone/>
            </a:pPr>
            <a:r>
              <a:rPr lang="en-US" sz="1185" dirty="0">
                <a:solidFill>
                  <a:srgbClr val="B9C4D0"/>
                </a:solidFill>
                <a:latin typeface="IBM Plex Sans" pitchFamily="34" charset="0"/>
                <a:ea typeface="IBM Plex Sans" pitchFamily="34" charset="-122"/>
                <a:cs typeface="IBM Plex Sans" pitchFamily="34" charset="-120"/>
              </a:rPr>
              <a:t>Same shape as the dead-phone moment: a network fact, told to the right person in time.</a:t>
            </a:r>
            <a:endParaRPr lang="en-US" sz="1185" dirty="0"/>
          </a:p>
        </p:txBody>
      </p:sp>
      <p:sp>
        <p:nvSpPr>
          <p:cNvPr id="8" name="Text 5"/>
          <p:cNvSpPr/>
          <p:nvPr/>
        </p:nvSpPr>
        <p:spPr>
          <a:xfrm>
            <a:off x="1015899" y="3290950"/>
            <a:ext cx="3097297" cy="990933"/>
          </a:xfrm>
          <a:prstGeom prst="rect">
            <a:avLst/>
          </a:prstGeom>
          <a:noFill/>
          <a:ln/>
        </p:spPr>
        <p:txBody>
          <a:bodyPr wrap="square" lIns="0" tIns="0" rIns="0" bIns="0" rtlCol="0" anchor="t">
            <a:normAutofit/>
          </a:bodyPr>
          <a:lstStyle/>
          <a:p>
            <a:pPr marL="137732" indent="-127537" algn="l">
              <a:lnSpc>
                <a:spcPts val="1310"/>
              </a:lnSpc>
              <a:buSzPct val="100000"/>
              <a:buChar char="•"/>
            </a:pPr>
            <a:r>
              <a:rPr lang="en-US" sz="904" b="1" dirty="0">
                <a:solidFill>
                  <a:srgbClr val="F6F5F0"/>
                </a:solidFill>
                <a:latin typeface="IBM Plex Sans" pitchFamily="34" charset="0"/>
                <a:ea typeface="IBM Plex Sans" pitchFamily="34" charset="-122"/>
                <a:cs typeface="IBM Plex Sans" pitchFamily="34" charset="-120"/>
              </a:rPr>
              <a:t>Family line sweep</a:t>
            </a:r>
            <a:r>
              <a:rPr lang="en-US" sz="904" dirty="0">
                <a:solidFill>
                  <a:srgbClr val="B9C4D0"/>
                </a:solidFill>
                <a:latin typeface="IBM Plex Sans" pitchFamily="34" charset="0"/>
                <a:ea typeface="IBM Plex Sans" pitchFamily="34" charset="-122"/>
                <a:cs typeface="IBM Plex Sans" pitchFamily="34" charset="-120"/>
              </a:rPr>
              <a:t> — four lines, one sentence: "all as they were"</a:t>
            </a:r>
            <a:endParaRPr lang="en-US" sz="904" dirty="0"/>
          </a:p>
          <a:p>
            <a:pPr marL="137732" indent="-127537" algn="l">
              <a:lnSpc>
                <a:spcPts val="1310"/>
              </a:lnSpc>
              <a:buSzPct val="100000"/>
              <a:buChar char="•"/>
            </a:pPr>
            <a:r>
              <a:rPr lang="en-US" sz="904" b="1" dirty="0">
                <a:solidFill>
                  <a:srgbClr val="F6F5F0"/>
                </a:solidFill>
                <a:latin typeface="IBM Plex Sans" pitchFamily="34" charset="0"/>
                <a:ea typeface="IBM Plex Sans" pitchFamily="34" charset="-122"/>
                <a:cs typeface="IBM Plex Sans" pitchFamily="34" charset="-120"/>
              </a:rPr>
              <a:t>Device-swap guard</a:t>
            </a:r>
            <a:r>
              <a:rPr lang="en-US" sz="904" dirty="0">
                <a:solidFill>
                  <a:srgbClr val="B9C4D0"/>
                </a:solidFill>
                <a:latin typeface="IBM Plex Sans" pitchFamily="34" charset="0"/>
                <a:ea typeface="IBM Plex Sans" pitchFamily="34" charset="-122"/>
                <a:cs typeface="IBM Plex Sans" pitchFamily="34" charset="-120"/>
              </a:rPr>
              <a:t> — number moved to a new handset</a:t>
            </a:r>
            <a:endParaRPr lang="en-US" sz="904" dirty="0"/>
          </a:p>
          <a:p>
            <a:pPr marL="137732" indent="-127537" algn="l">
              <a:lnSpc>
                <a:spcPts val="1310"/>
              </a:lnSpc>
              <a:buSzPct val="100000"/>
              <a:buChar char="•"/>
            </a:pPr>
            <a:r>
              <a:rPr lang="en-US" sz="904" b="1" dirty="0">
                <a:solidFill>
                  <a:srgbClr val="F6F5F0"/>
                </a:solidFill>
                <a:latin typeface="IBM Plex Sans" pitchFamily="34" charset="0"/>
                <a:ea typeface="IBM Plex Sans" pitchFamily="34" charset="-122"/>
                <a:cs typeface="IBM Plex Sans" pitchFamily="34" charset="-120"/>
              </a:rPr>
              <a:t>Recycled-number check</a:t>
            </a:r>
            <a:r>
              <a:rPr lang="en-US" sz="904" dirty="0">
                <a:solidFill>
                  <a:srgbClr val="B9C4D0"/>
                </a:solidFill>
                <a:latin typeface="IBM Plex Sans" pitchFamily="34" charset="0"/>
                <a:ea typeface="IBM Plex Sans" pitchFamily="34" charset="-122"/>
                <a:cs typeface="IBM Plex Sans" pitchFamily="34" charset="-120"/>
              </a:rPr>
              <a:t> — before sending to a saved contact</a:t>
            </a:r>
            <a:endParaRPr lang="en-US" sz="904" dirty="0"/>
          </a:p>
        </p:txBody>
      </p:sp>
      <p:sp>
        <p:nvSpPr>
          <p:cNvPr id="9" name="Shape 6"/>
          <p:cNvSpPr/>
          <p:nvPr/>
        </p:nvSpPr>
        <p:spPr>
          <a:xfrm>
            <a:off x="4381665" y="2036316"/>
            <a:ext cx="3417874" cy="2420137"/>
          </a:xfrm>
          <a:prstGeom prst="roundRect">
            <a:avLst>
              <a:gd name="adj" fmla="val 4067"/>
            </a:avLst>
          </a:prstGeom>
          <a:solidFill>
            <a:srgbClr val="FFFFFF"/>
          </a:solidFill>
          <a:ln w="6350">
            <a:solidFill>
              <a:srgbClr val="DDE1E6"/>
            </a:solidFill>
            <a:prstDash val="solid"/>
          </a:ln>
        </p:spPr>
        <p:txBody>
          <a:bodyPr/>
          <a:lstStyle/>
          <a:p>
            <a:endParaRPr lang="en-US"/>
          </a:p>
        </p:txBody>
      </p:sp>
      <p:pic>
        <p:nvPicPr>
          <p:cNvPr id="10" name="Image 1" descr="Users"/>
          <p:cNvPicPr>
            <a:picLocks noChangeAspect="1"/>
          </p:cNvPicPr>
          <p:nvPr/>
        </p:nvPicPr>
        <p:blipFill>
          <a:blip r:embed="rId4"/>
          <a:srcRect l="-683" r="-683"/>
          <a:stretch/>
        </p:blipFill>
        <p:spPr>
          <a:xfrm>
            <a:off x="4587017" y="2241674"/>
            <a:ext cx="228539" cy="181621"/>
          </a:xfrm>
          <a:prstGeom prst="rect">
            <a:avLst/>
          </a:prstGeom>
        </p:spPr>
      </p:pic>
      <p:sp>
        <p:nvSpPr>
          <p:cNvPr id="11" name="Text 7"/>
          <p:cNvSpPr/>
          <p:nvPr/>
        </p:nvSpPr>
        <p:spPr>
          <a:xfrm>
            <a:off x="4587017" y="2512169"/>
            <a:ext cx="3097384" cy="194913"/>
          </a:xfrm>
          <a:prstGeom prst="rect">
            <a:avLst/>
          </a:prstGeom>
          <a:noFill/>
          <a:ln/>
        </p:spPr>
        <p:txBody>
          <a:bodyPr wrap="square" lIns="0" tIns="0" rIns="0" bIns="0" rtlCol="0" anchor="t">
            <a:normAutofit/>
          </a:bodyPr>
          <a:lstStyle/>
          <a:p>
            <a:pPr marL="0" indent="0" algn="l">
              <a:lnSpc>
                <a:spcPts val="1370"/>
              </a:lnSpc>
              <a:buNone/>
            </a:pPr>
            <a:r>
              <a:rPr lang="en-US" sz="1142" b="1" dirty="0">
                <a:solidFill>
                  <a:srgbClr val="0E1726"/>
                </a:solidFill>
                <a:latin typeface="IBM Plex Sans" pitchFamily="34" charset="0"/>
                <a:ea typeface="IBM Plex Sans" pitchFamily="34" charset="-122"/>
                <a:cs typeface="IBM Plex Sans" pitchFamily="34" charset="-120"/>
              </a:rPr>
              <a:t>Family and care</a:t>
            </a:r>
            <a:endParaRPr lang="en-US" sz="1142" dirty="0"/>
          </a:p>
        </p:txBody>
      </p:sp>
      <p:sp>
        <p:nvSpPr>
          <p:cNvPr id="12" name="Text 8"/>
          <p:cNvSpPr/>
          <p:nvPr/>
        </p:nvSpPr>
        <p:spPr>
          <a:xfrm>
            <a:off x="4587017" y="2770560"/>
            <a:ext cx="3209346" cy="364173"/>
          </a:xfrm>
          <a:prstGeom prst="rect">
            <a:avLst/>
          </a:prstGeom>
          <a:noFill/>
          <a:ln/>
        </p:spPr>
        <p:txBody>
          <a:bodyPr wrap="square" lIns="0" tIns="0" rIns="0" bIns="0" rtlCol="0" anchor="t">
            <a:normAutofit/>
          </a:bodyPr>
          <a:lstStyle/>
          <a:p>
            <a:pPr marL="0" indent="0" algn="l">
              <a:lnSpc>
                <a:spcPts val="1675"/>
              </a:lnSpc>
              <a:buNone/>
            </a:pPr>
            <a:r>
              <a:rPr lang="en-US" sz="1196" dirty="0">
                <a:solidFill>
                  <a:srgbClr val="46505E"/>
                </a:solidFill>
                <a:latin typeface="IBM Plex Sans" pitchFamily="34" charset="0"/>
                <a:ea typeface="IBM Plex Sans" pitchFamily="34" charset="-122"/>
                <a:cs typeface="IBM Plex Sans" pitchFamily="34" charset="-120"/>
              </a:rPr>
              <a:t>Consent-scoped, like the reachability check.</a:t>
            </a:r>
            <a:endParaRPr lang="en-US" sz="1196" dirty="0"/>
          </a:p>
        </p:txBody>
      </p:sp>
      <p:sp>
        <p:nvSpPr>
          <p:cNvPr id="13" name="Text 9"/>
          <p:cNvSpPr/>
          <p:nvPr/>
        </p:nvSpPr>
        <p:spPr>
          <a:xfrm>
            <a:off x="4587017" y="3198205"/>
            <a:ext cx="3097384" cy="1078296"/>
          </a:xfrm>
          <a:prstGeom prst="rect">
            <a:avLst/>
          </a:prstGeom>
          <a:noFill/>
          <a:ln/>
        </p:spPr>
        <p:txBody>
          <a:bodyPr wrap="square" lIns="0" tIns="0" rIns="0" bIns="0" rtlCol="0" anchor="t">
            <a:normAutofit/>
          </a:bodyPr>
          <a:lstStyle/>
          <a:p>
            <a:pPr marL="145733" indent="-134287" algn="l">
              <a:lnSpc>
                <a:spcPts val="1387"/>
              </a:lnSpc>
              <a:buSzPct val="100000"/>
              <a:buChar char="•"/>
            </a:pPr>
            <a:r>
              <a:rPr lang="en-US" sz="956" b="1" dirty="0">
                <a:solidFill>
                  <a:srgbClr val="46505E"/>
                </a:solidFill>
                <a:latin typeface="IBM Plex Sans" pitchFamily="34" charset="0"/>
                <a:ea typeface="IBM Plex Sans" pitchFamily="34" charset="-122"/>
                <a:cs typeface="IBM Plex Sans" pitchFamily="34" charset="-120"/>
              </a:rPr>
              <a:t>Roaming check</a:t>
            </a:r>
            <a:r>
              <a:rPr lang="en-US" sz="956" dirty="0">
                <a:solidFill>
                  <a:srgbClr val="46505E"/>
                </a:solidFill>
                <a:latin typeface="IBM Plex Sans" pitchFamily="34" charset="0"/>
                <a:ea typeface="IBM Plex Sans" pitchFamily="34" charset="-122"/>
                <a:cs typeface="IBM Plex Sans" pitchFamily="34" charset="-120"/>
              </a:rPr>
              <a:t> — a child abroad, or your own line on holiday</a:t>
            </a:r>
            <a:endParaRPr lang="en-US" sz="956" dirty="0"/>
          </a:p>
          <a:p>
            <a:pPr marL="145733" indent="-134287" algn="l">
              <a:lnSpc>
                <a:spcPts val="1387"/>
              </a:lnSpc>
              <a:buSzPct val="100000"/>
              <a:buChar char="•"/>
            </a:pPr>
            <a:r>
              <a:rPr lang="en-US" sz="956" b="1" dirty="0">
                <a:solidFill>
                  <a:srgbClr val="46505E"/>
                </a:solidFill>
                <a:latin typeface="IBM Plex Sans" pitchFamily="34" charset="0"/>
                <a:ea typeface="IBM Plex Sans" pitchFamily="34" charset="-122"/>
                <a:cs typeface="IBM Plex Sans" pitchFamily="34" charset="-120"/>
              </a:rPr>
              <a:t>Unreachable escalation</a:t>
            </a:r>
            <a:r>
              <a:rPr lang="en-US" sz="956" dirty="0">
                <a:solidFill>
                  <a:srgbClr val="46505E"/>
                </a:solidFill>
                <a:latin typeface="IBM Plex Sans" pitchFamily="34" charset="0"/>
                <a:ea typeface="IBM Plex Sans" pitchFamily="34" charset="-122"/>
                <a:cs typeface="IBM Plex Sans" pitchFamily="34" charset="-120"/>
              </a:rPr>
              <a:t> — off-network for hours, notify a second contact</a:t>
            </a:r>
            <a:endParaRPr lang="en-US" sz="956" dirty="0"/>
          </a:p>
          <a:p>
            <a:pPr marL="145733" indent="-134287" algn="l">
              <a:lnSpc>
                <a:spcPts val="1387"/>
              </a:lnSpc>
              <a:buSzPct val="100000"/>
              <a:buChar char="•"/>
            </a:pPr>
            <a:r>
              <a:rPr lang="en-US" sz="956" b="1" dirty="0">
                <a:solidFill>
                  <a:srgbClr val="46505E"/>
                </a:solidFill>
                <a:latin typeface="IBM Plex Sans" pitchFamily="34" charset="0"/>
                <a:ea typeface="IBM Plex Sans" pitchFamily="34" charset="-122"/>
                <a:cs typeface="IBM Plex Sans" pitchFamily="34" charset="-120"/>
              </a:rPr>
              <a:t>Age attestation</a:t>
            </a:r>
            <a:r>
              <a:rPr lang="en-US" sz="956" dirty="0">
                <a:solidFill>
                  <a:srgbClr val="46505E"/>
                </a:solidFill>
                <a:latin typeface="IBM Plex Sans" pitchFamily="34" charset="0"/>
                <a:ea typeface="IBM Plex Sans" pitchFamily="34" charset="-122"/>
                <a:cs typeface="IBM Plex Sans" pitchFamily="34" charset="-120"/>
              </a:rPr>
              <a:t> — carrier says 18+, no ID shown or stored</a:t>
            </a:r>
            <a:endParaRPr lang="en-US" sz="956" dirty="0"/>
          </a:p>
        </p:txBody>
      </p:sp>
      <p:sp>
        <p:nvSpPr>
          <p:cNvPr id="14" name="Shape 10"/>
          <p:cNvSpPr/>
          <p:nvPr/>
        </p:nvSpPr>
        <p:spPr>
          <a:xfrm>
            <a:off x="7958248" y="2036316"/>
            <a:ext cx="3417790" cy="2420137"/>
          </a:xfrm>
          <a:prstGeom prst="roundRect">
            <a:avLst>
              <a:gd name="adj" fmla="val 4067"/>
            </a:avLst>
          </a:prstGeom>
          <a:solidFill>
            <a:srgbClr val="FFFFFF"/>
          </a:solidFill>
          <a:ln w="6350">
            <a:solidFill>
              <a:srgbClr val="DDE1E6"/>
            </a:solidFill>
            <a:prstDash val="solid"/>
          </a:ln>
        </p:spPr>
        <p:txBody>
          <a:bodyPr/>
          <a:lstStyle/>
          <a:p>
            <a:endParaRPr lang="en-US"/>
          </a:p>
        </p:txBody>
      </p:sp>
      <p:pic>
        <p:nvPicPr>
          <p:cNvPr id="15" name="Image 2" descr="Verified"/>
          <p:cNvPicPr>
            <a:picLocks noChangeAspect="1"/>
          </p:cNvPicPr>
          <p:nvPr/>
        </p:nvPicPr>
        <p:blipFill>
          <a:blip r:embed="rId5"/>
          <a:srcRect l="-502" r="-502"/>
          <a:stretch/>
        </p:blipFill>
        <p:spPr>
          <a:xfrm>
            <a:off x="8163601" y="2241674"/>
            <a:ext cx="228539" cy="201128"/>
          </a:xfrm>
          <a:prstGeom prst="rect">
            <a:avLst/>
          </a:prstGeom>
        </p:spPr>
      </p:pic>
      <p:sp>
        <p:nvSpPr>
          <p:cNvPr id="16" name="Text 11"/>
          <p:cNvSpPr/>
          <p:nvPr/>
        </p:nvSpPr>
        <p:spPr>
          <a:xfrm>
            <a:off x="8163601" y="2531678"/>
            <a:ext cx="3097297" cy="213159"/>
          </a:xfrm>
          <a:prstGeom prst="rect">
            <a:avLst/>
          </a:prstGeom>
          <a:noFill/>
          <a:ln/>
        </p:spPr>
        <p:txBody>
          <a:bodyPr wrap="square" lIns="0" tIns="0" rIns="0" bIns="0" rtlCol="0" anchor="t">
            <a:normAutofit/>
          </a:bodyPr>
          <a:lstStyle/>
          <a:p>
            <a:pPr marL="0" indent="0" algn="l">
              <a:lnSpc>
                <a:spcPts val="1523"/>
              </a:lnSpc>
              <a:buNone/>
            </a:pPr>
            <a:r>
              <a:rPr lang="en-US" sz="1269" b="1" dirty="0">
                <a:solidFill>
                  <a:srgbClr val="0E1726"/>
                </a:solidFill>
                <a:latin typeface="IBM Plex Sans" pitchFamily="34" charset="0"/>
                <a:ea typeface="IBM Plex Sans" pitchFamily="34" charset="-122"/>
                <a:cs typeface="IBM Plex Sans" pitchFamily="34" charset="-120"/>
              </a:rPr>
              <a:t>Identity and daily use</a:t>
            </a:r>
            <a:endParaRPr lang="en-US" sz="1269" dirty="0"/>
          </a:p>
        </p:txBody>
      </p:sp>
      <p:sp>
        <p:nvSpPr>
          <p:cNvPr id="17" name="Text 12"/>
          <p:cNvSpPr/>
          <p:nvPr/>
        </p:nvSpPr>
        <p:spPr>
          <a:xfrm>
            <a:off x="8163601" y="2808312"/>
            <a:ext cx="3097297" cy="212991"/>
          </a:xfrm>
          <a:prstGeom prst="rect">
            <a:avLst/>
          </a:prstGeom>
          <a:noFill/>
          <a:ln/>
        </p:spPr>
        <p:txBody>
          <a:bodyPr wrap="square" lIns="0" tIns="0" rIns="0" bIns="0" rtlCol="0" anchor="t">
            <a:normAutofit/>
          </a:bodyPr>
          <a:lstStyle/>
          <a:p>
            <a:pPr marL="0" indent="0" algn="l">
              <a:lnSpc>
                <a:spcPts val="1523"/>
              </a:lnSpc>
              <a:buNone/>
            </a:pPr>
            <a:r>
              <a:rPr lang="en-US" sz="1088" dirty="0">
                <a:solidFill>
                  <a:srgbClr val="46505E"/>
                </a:solidFill>
                <a:latin typeface="IBM Plex Sans" pitchFamily="34" charset="0"/>
                <a:ea typeface="IBM Plex Sans" pitchFamily="34" charset="-122"/>
                <a:cs typeface="IBM Plex Sans" pitchFamily="34" charset="-120"/>
              </a:rPr>
              <a:t>Same consent kit, same voice surface.</a:t>
            </a:r>
            <a:endParaRPr lang="en-US" sz="1088" dirty="0"/>
          </a:p>
        </p:txBody>
      </p:sp>
      <p:sp>
        <p:nvSpPr>
          <p:cNvPr id="18" name="Text 13"/>
          <p:cNvSpPr/>
          <p:nvPr/>
        </p:nvSpPr>
        <p:spPr>
          <a:xfrm>
            <a:off x="8163601" y="3084779"/>
            <a:ext cx="3097297" cy="1191725"/>
          </a:xfrm>
          <a:prstGeom prst="rect">
            <a:avLst/>
          </a:prstGeom>
          <a:noFill/>
          <a:ln/>
        </p:spPr>
        <p:txBody>
          <a:bodyPr wrap="square" lIns="0" tIns="0" rIns="0" bIns="0" rtlCol="0" anchor="t">
            <a:normAutofit/>
          </a:bodyPr>
          <a:lstStyle/>
          <a:p>
            <a:pPr marL="161163" indent="-141408" algn="l">
              <a:lnSpc>
                <a:spcPts val="1533"/>
              </a:lnSpc>
              <a:buSzPct val="100000"/>
              <a:buChar char="•"/>
            </a:pPr>
            <a:r>
              <a:rPr lang="en-US" sz="1058" b="1" dirty="0">
                <a:solidFill>
                  <a:srgbClr val="46505E"/>
                </a:solidFill>
                <a:latin typeface="IBM Plex Sans" pitchFamily="34" charset="0"/>
                <a:ea typeface="IBM Plex Sans" pitchFamily="34" charset="-122"/>
                <a:cs typeface="IBM Plex Sans" pitchFamily="34" charset="-120"/>
              </a:rPr>
              <a:t>Passwordless login</a:t>
            </a:r>
            <a:r>
              <a:rPr lang="en-US" sz="1058" dirty="0">
                <a:solidFill>
                  <a:srgbClr val="46505E"/>
                </a:solidFill>
                <a:latin typeface="IBM Plex Sans" pitchFamily="34" charset="0"/>
                <a:ea typeface="IBM Plex Sans" pitchFamily="34" charset="-122"/>
                <a:cs typeface="IBM Plex Sans" pitchFamily="34" charset="-120"/>
              </a:rPr>
              <a:t> — Number Verification as silent auth for a skill</a:t>
            </a:r>
            <a:endParaRPr lang="en-US" sz="1058" dirty="0"/>
          </a:p>
          <a:p>
            <a:pPr marL="161163" indent="-141408" algn="l">
              <a:lnSpc>
                <a:spcPts val="1533"/>
              </a:lnSpc>
              <a:buSzPct val="100000"/>
              <a:buChar char="•"/>
            </a:pPr>
            <a:r>
              <a:rPr lang="en-US" sz="1058" b="1" dirty="0">
                <a:solidFill>
                  <a:srgbClr val="46505E"/>
                </a:solidFill>
                <a:latin typeface="IBM Plex Sans" pitchFamily="34" charset="0"/>
                <a:ea typeface="IBM Plex Sans" pitchFamily="34" charset="-122"/>
                <a:cs typeface="IBM Plex Sans" pitchFamily="34" charset="-120"/>
              </a:rPr>
              <a:t>Congestion-aware timing</a:t>
            </a:r>
            <a:r>
              <a:rPr lang="en-US" sz="1058" dirty="0">
                <a:solidFill>
                  <a:srgbClr val="46505E"/>
                </a:solidFill>
                <a:latin typeface="IBM Plex Sans" pitchFamily="34" charset="0"/>
                <a:ea typeface="IBM Plex Sans" pitchFamily="34" charset="-122"/>
                <a:cs typeface="IBM Plex Sans" pitchFamily="34" charset="-120"/>
              </a:rPr>
              <a:t> — "when will my video visit hold?"</a:t>
            </a:r>
            <a:endParaRPr lang="en-US" sz="1058" dirty="0"/>
          </a:p>
          <a:p>
            <a:pPr marL="161163" indent="-141408" algn="l">
              <a:lnSpc>
                <a:spcPts val="1533"/>
              </a:lnSpc>
              <a:buSzPct val="100000"/>
              <a:buChar char="•"/>
            </a:pPr>
            <a:r>
              <a:rPr lang="en-US" sz="1058" b="1" dirty="0">
                <a:solidFill>
                  <a:srgbClr val="46505E"/>
                </a:solidFill>
                <a:latin typeface="IBM Plex Sans" pitchFamily="34" charset="0"/>
                <a:ea typeface="IBM Plex Sans" pitchFamily="34" charset="-122"/>
                <a:cs typeface="IBM Plex Sans" pitchFamily="34" charset="-120"/>
              </a:rPr>
              <a:t>Blame correctly</a:t>
            </a:r>
            <a:r>
              <a:rPr lang="en-US" sz="1058" dirty="0">
                <a:solidFill>
                  <a:srgbClr val="46505E"/>
                </a:solidFill>
                <a:latin typeface="IBM Plex Sans" pitchFamily="34" charset="0"/>
                <a:ea typeface="IBM Plex Sans" pitchFamily="34" charset="-122"/>
                <a:cs typeface="IBM Plex Sans" pitchFamily="34" charset="-120"/>
              </a:rPr>
              <a:t> — "it's the mobile network, not your Wi-Fi"</a:t>
            </a:r>
            <a:endParaRPr lang="en-US" sz="1058" dirty="0"/>
          </a:p>
        </p:txBody>
      </p:sp>
      <p:sp>
        <p:nvSpPr>
          <p:cNvPr id="19" name="Shape 14"/>
          <p:cNvSpPr/>
          <p:nvPr/>
        </p:nvSpPr>
        <p:spPr>
          <a:xfrm>
            <a:off x="815928" y="4716742"/>
            <a:ext cx="6797366" cy="1122053"/>
          </a:xfrm>
          <a:prstGeom prst="roundRect">
            <a:avLst>
              <a:gd name="adj" fmla="val 6508"/>
            </a:avLst>
          </a:prstGeom>
          <a:solidFill>
            <a:srgbClr val="FFFFFF"/>
          </a:solidFill>
          <a:ln w="6350">
            <a:solidFill>
              <a:srgbClr val="DDE1E6"/>
            </a:solidFill>
            <a:prstDash val="solid"/>
          </a:ln>
        </p:spPr>
        <p:txBody>
          <a:bodyPr/>
          <a:lstStyle/>
          <a:p>
            <a:endParaRPr lang="en-US"/>
          </a:p>
        </p:txBody>
      </p:sp>
      <p:sp>
        <p:nvSpPr>
          <p:cNvPr id="20" name="Text 15"/>
          <p:cNvSpPr/>
          <p:nvPr/>
        </p:nvSpPr>
        <p:spPr>
          <a:xfrm>
            <a:off x="1021280" y="4871306"/>
            <a:ext cx="6578260" cy="177760"/>
          </a:xfrm>
          <a:prstGeom prst="rect">
            <a:avLst/>
          </a:prstGeom>
          <a:noFill/>
          <a:ln/>
        </p:spPr>
        <p:txBody>
          <a:bodyPr wrap="square" lIns="0" tIns="0" rIns="0" bIns="0" rtlCol="0" anchor="t">
            <a:normAutofit/>
          </a:bodyPr>
          <a:lstStyle/>
          <a:p>
            <a:pPr marL="0" indent="0" algn="l">
              <a:lnSpc>
                <a:spcPts val="1223"/>
              </a:lnSpc>
              <a:buNone/>
            </a:pPr>
            <a:r>
              <a:rPr lang="en-US" sz="874" b="1" kern="0" spc="50" dirty="0">
                <a:solidFill>
                  <a:srgbClr val="6B7583"/>
                </a:solidFill>
                <a:latin typeface="IBM Plex Sans" pitchFamily="34" charset="0"/>
                <a:ea typeface="IBM Plex Sans" pitchFamily="34" charset="-122"/>
                <a:cs typeface="IBM Plex Sans" pitchFamily="34" charset="-120"/>
              </a:rPr>
              <a:t>EVERY ONE OF THESE IS A STANDARD CAMARA API</a:t>
            </a:r>
            <a:endParaRPr lang="en-US" sz="874" dirty="0"/>
          </a:p>
        </p:txBody>
      </p:sp>
      <p:sp>
        <p:nvSpPr>
          <p:cNvPr id="21" name="Text 16"/>
          <p:cNvSpPr/>
          <p:nvPr/>
        </p:nvSpPr>
        <p:spPr>
          <a:xfrm>
            <a:off x="1021280" y="5074450"/>
            <a:ext cx="6578260" cy="635175"/>
          </a:xfrm>
          <a:prstGeom prst="rect">
            <a:avLst/>
          </a:prstGeom>
          <a:noFill/>
          <a:ln/>
        </p:spPr>
        <p:txBody>
          <a:bodyPr wrap="square" lIns="0" tIns="0" rIns="0" bIns="0" rtlCol="0" anchor="t">
            <a:normAutofit/>
          </a:bodyPr>
          <a:lstStyle/>
          <a:p>
            <a:pPr marL="0" indent="0" algn="l">
              <a:lnSpc>
                <a:spcPts val="1606"/>
              </a:lnSpc>
              <a:buNone/>
            </a:pPr>
            <a:r>
              <a:rPr lang="en-US" sz="1148" dirty="0">
                <a:solidFill>
                  <a:srgbClr val="46505E"/>
                </a:solidFill>
                <a:latin typeface="IBM Plex Sans" pitchFamily="34" charset="0"/>
                <a:ea typeface="IBM Plex Sans" pitchFamily="34" charset="-122"/>
                <a:cs typeface="IBM Plex Sans" pitchFamily="34" charset="-120"/>
              </a:rPr>
              <a:t>Device Swap · Number Recycling · Roaming Status · Device Reachability · KYC Age Verification · Number Verification · Congestion Insights · Session Insights. Each is one more tool behind the same consent layer. Fire TV and home-line QoD belong to a different track and a later day.</a:t>
            </a:r>
            <a:endParaRPr lang="en-US" sz="1148" dirty="0"/>
          </a:p>
        </p:txBody>
      </p:sp>
      <p:sp>
        <p:nvSpPr>
          <p:cNvPr id="22" name="Shape 17"/>
          <p:cNvSpPr/>
          <p:nvPr/>
        </p:nvSpPr>
        <p:spPr>
          <a:xfrm>
            <a:off x="7772003" y="4716742"/>
            <a:ext cx="3604035" cy="1122053"/>
          </a:xfrm>
          <a:prstGeom prst="roundRect">
            <a:avLst>
              <a:gd name="adj" fmla="val 6508"/>
            </a:avLst>
          </a:prstGeom>
          <a:solidFill>
            <a:srgbClr val="FBEAEA"/>
          </a:solidFill>
          <a:ln w="6350">
            <a:solidFill>
              <a:srgbClr val="E5B4B4"/>
            </a:solidFill>
            <a:prstDash val="solid"/>
          </a:ln>
        </p:spPr>
        <p:txBody>
          <a:bodyPr/>
          <a:lstStyle/>
          <a:p>
            <a:endParaRPr lang="en-US"/>
          </a:p>
        </p:txBody>
      </p:sp>
      <p:sp>
        <p:nvSpPr>
          <p:cNvPr id="23" name="Text 18"/>
          <p:cNvSpPr/>
          <p:nvPr/>
        </p:nvSpPr>
        <p:spPr>
          <a:xfrm>
            <a:off x="7977356" y="4871306"/>
            <a:ext cx="3289130" cy="177760"/>
          </a:xfrm>
          <a:prstGeom prst="rect">
            <a:avLst/>
          </a:prstGeom>
          <a:noFill/>
          <a:ln/>
        </p:spPr>
        <p:txBody>
          <a:bodyPr wrap="square" lIns="0" tIns="0" rIns="0" bIns="0" rtlCol="0" anchor="t">
            <a:normAutofit/>
          </a:bodyPr>
          <a:lstStyle/>
          <a:p>
            <a:pPr marL="0" indent="0" algn="l">
              <a:lnSpc>
                <a:spcPts val="1223"/>
              </a:lnSpc>
              <a:buNone/>
            </a:pPr>
            <a:r>
              <a:rPr lang="en-US" sz="874" b="1" kern="0" spc="50" dirty="0">
                <a:solidFill>
                  <a:srgbClr val="9B3B3B"/>
                </a:solidFill>
                <a:latin typeface="IBM Plex Sans" pitchFamily="34" charset="0"/>
                <a:ea typeface="IBM Plex Sans" pitchFamily="34" charset="-122"/>
                <a:cs typeface="IBM Plex Sans" pitchFamily="34" charset="-120"/>
              </a:rPr>
              <a:t>DELIBERATELY NOT ON THE LIST</a:t>
            </a:r>
            <a:endParaRPr lang="en-US" sz="874" dirty="0"/>
          </a:p>
        </p:txBody>
      </p:sp>
      <p:sp>
        <p:nvSpPr>
          <p:cNvPr id="24" name="Text 19"/>
          <p:cNvSpPr/>
          <p:nvPr/>
        </p:nvSpPr>
        <p:spPr>
          <a:xfrm>
            <a:off x="7977356" y="5074450"/>
            <a:ext cx="3289130" cy="635175"/>
          </a:xfrm>
          <a:prstGeom prst="rect">
            <a:avLst/>
          </a:prstGeom>
          <a:noFill/>
          <a:ln/>
        </p:spPr>
        <p:txBody>
          <a:bodyPr wrap="square" lIns="0" tIns="0" rIns="0" bIns="0" rtlCol="0" anchor="t">
            <a:normAutofit/>
          </a:bodyPr>
          <a:lstStyle/>
          <a:p>
            <a:pPr marL="0" indent="0" algn="l">
              <a:lnSpc>
                <a:spcPts val="1543"/>
              </a:lnSpc>
              <a:buNone/>
            </a:pPr>
            <a:r>
              <a:rPr lang="en-US" sz="1103" dirty="0">
                <a:solidFill>
                  <a:srgbClr val="46505E"/>
                </a:solidFill>
                <a:latin typeface="IBM Plex Sans" pitchFamily="34" charset="0"/>
                <a:ea typeface="IBM Plex Sans" pitchFamily="34" charset="-122"/>
                <a:cs typeface="IBM Plex Sans" pitchFamily="34" charset="-120"/>
              </a:rPr>
              <a:t>Anything that scores </a:t>
            </a:r>
            <a:r>
              <a:rPr lang="en-US" sz="1103" i="1" dirty="0">
                <a:solidFill>
                  <a:srgbClr val="46505E"/>
                </a:solidFill>
                <a:latin typeface="IBM Plex Sans" pitchFamily="34" charset="0"/>
                <a:ea typeface="IBM Plex Sans" pitchFamily="34" charset="-122"/>
                <a:cs typeface="IBM Plex Sans" pitchFamily="34" charset="-120"/>
              </a:rPr>
              <a:t>another person's</a:t>
            </a:r>
            <a:r>
              <a:rPr lang="en-US" sz="1103" dirty="0">
                <a:solidFill>
                  <a:srgbClr val="46505E"/>
                </a:solidFill>
                <a:latin typeface="IBM Plex Sans" pitchFamily="34" charset="0"/>
                <a:ea typeface="IBM Plex Sans" pitchFamily="34" charset="-122"/>
                <a:cs typeface="IBM Plex Sans" pitchFamily="34" charset="-120"/>
              </a:rPr>
              <a:t> line without their consent — tenure, device identifiers. Business fraud signals turn creepy on the consumer side.</a:t>
            </a:r>
            <a:endParaRPr lang="en-US" sz="1103" dirty="0"/>
          </a:p>
        </p:txBody>
      </p:sp>
      <p:sp>
        <p:nvSpPr>
          <p:cNvPr id="25" name="Text 20"/>
          <p:cNvSpPr/>
          <p:nvPr/>
        </p:nvSpPr>
        <p:spPr>
          <a:xfrm>
            <a:off x="812753" y="6238335"/>
            <a:ext cx="11379247" cy="23863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583"/>
                </a:solidFill>
                <a:latin typeface="IBM Plex Sans" pitchFamily="34" charset="0"/>
                <a:ea typeface="IBM Plex Sans" pitchFamily="34" charset="-122"/>
                <a:cs typeface="IBM Plex Sans" pitchFamily="34" charset="-120"/>
              </a:rPr>
              <a:t>First extensions after the demo: device-swap guard and recycled-number check extend the safety pattern; passwordless login reuses the binding already built.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753" y="812750"/>
            <a:ext cx="10883454" cy="192222"/>
          </a:xfrm>
          <a:prstGeom prst="rect">
            <a:avLst/>
          </a:prstGeom>
          <a:noFill/>
          <a:ln/>
        </p:spPr>
        <p:txBody>
          <a:bodyPr wrap="square" lIns="0" tIns="0" rIns="0" bIns="0" rtlCol="0" anchor="t">
            <a:normAutofit/>
          </a:bodyPr>
          <a:lstStyle/>
          <a:p>
            <a:pPr marL="0" indent="0" algn="l">
              <a:lnSpc>
                <a:spcPts val="1319"/>
              </a:lnSpc>
              <a:buNone/>
            </a:pPr>
            <a:r>
              <a:rPr lang="en-US" sz="942" b="1" kern="0" spc="100" dirty="0">
                <a:solidFill>
                  <a:srgbClr val="2BB3A0"/>
                </a:solidFill>
                <a:latin typeface="IBM Plex Sans" pitchFamily="34" charset="0"/>
                <a:ea typeface="IBM Plex Sans" pitchFamily="34" charset="-122"/>
                <a:cs typeface="IBM Plex Sans" pitchFamily="34" charset="-120"/>
              </a:rPr>
              <a:t>CARE — THE SAME THREE TOOLS, POINTED AT A FAMILY</a:t>
            </a:r>
            <a:endParaRPr lang="en-US" sz="942" dirty="0"/>
          </a:p>
        </p:txBody>
      </p:sp>
      <p:sp>
        <p:nvSpPr>
          <p:cNvPr id="3" name="Text 1"/>
          <p:cNvSpPr>
            <a:spLocks noGrp="1"/>
          </p:cNvSpPr>
          <p:nvPr>
            <p:ph type="title"/>
          </p:nvPr>
        </p:nvSpPr>
        <p:spPr>
          <a:xfrm>
            <a:off x="812753" y="1081150"/>
            <a:ext cx="10883454" cy="670742"/>
          </a:xfrm>
          <a:prstGeom prst="rect">
            <a:avLst/>
          </a:prstGeom>
          <a:noFill/>
          <a:ln/>
        </p:spPr>
        <p:txBody>
          <a:bodyPr wrap="square" lIns="0" tIns="0" rIns="0" bIns="0" rtlCol="0" anchor="t">
            <a:normAutofit/>
          </a:bodyPr>
          <a:lstStyle/>
          <a:p>
            <a:pPr marL="0" indent="0" algn="l">
              <a:lnSpc>
                <a:spcPts val="2563"/>
              </a:lnSpc>
              <a:buNone/>
            </a:pPr>
            <a:r>
              <a:rPr lang="en-US" sz="2330" b="1" i="0" dirty="0">
                <a:solidFill>
                  <a:srgbClr val="0E1726"/>
                </a:solidFill>
                <a:latin typeface="IBM Plex Sans" pitchFamily="34" charset="0"/>
                <a:ea typeface="IBM Plex Sans" pitchFamily="34" charset="-122"/>
                <a:cs typeface="IBM Plex Sans" pitchFamily="34" charset="-120"/>
              </a:rPr>
              <a:t>Nothing to wear, nothing to install on Mom's phone — one tap to bind her line, then nothing to remember</a:t>
            </a:r>
            <a:endParaRPr lang="en-US" sz="2330" dirty="0"/>
          </a:p>
        </p:txBody>
      </p:sp>
      <p:sp>
        <p:nvSpPr>
          <p:cNvPr id="4" name="Shape 2"/>
          <p:cNvSpPr/>
          <p:nvPr/>
        </p:nvSpPr>
        <p:spPr>
          <a:xfrm>
            <a:off x="812753" y="1955031"/>
            <a:ext cx="3413377" cy="2610378"/>
          </a:xfrm>
          <a:prstGeom prst="roundRect">
            <a:avLst>
              <a:gd name="adj" fmla="val 3892"/>
            </a:avLst>
          </a:prstGeom>
          <a:solidFill>
            <a:srgbClr val="0E1726"/>
          </a:solidFill>
          <a:ln/>
        </p:spPr>
        <p:txBody>
          <a:bodyPr/>
          <a:lstStyle/>
          <a:p>
            <a:endParaRPr lang="en-US"/>
          </a:p>
        </p:txBody>
      </p:sp>
      <p:pic>
        <p:nvPicPr>
          <p:cNvPr id="5" name="Image 0" descr="Lock"/>
          <p:cNvPicPr>
            <a:picLocks noChangeAspect="1"/>
          </p:cNvPicPr>
          <p:nvPr/>
        </p:nvPicPr>
        <p:blipFill>
          <a:blip r:embed="rId3"/>
          <a:srcRect t="-331" b="-331"/>
          <a:stretch/>
        </p:blipFill>
        <p:spPr>
          <a:xfrm>
            <a:off x="1015899" y="2158175"/>
            <a:ext cx="228539" cy="178930"/>
          </a:xfrm>
          <a:prstGeom prst="rect">
            <a:avLst/>
          </a:prstGeom>
        </p:spPr>
      </p:pic>
      <p:sp>
        <p:nvSpPr>
          <p:cNvPr id="6" name="Text 3"/>
          <p:cNvSpPr/>
          <p:nvPr/>
        </p:nvSpPr>
        <p:spPr>
          <a:xfrm>
            <a:off x="1015899" y="2425979"/>
            <a:ext cx="3097297" cy="192474"/>
          </a:xfrm>
          <a:prstGeom prst="rect">
            <a:avLst/>
          </a:prstGeom>
          <a:noFill/>
          <a:ln/>
        </p:spPr>
        <p:txBody>
          <a:bodyPr wrap="square" lIns="0" tIns="0" rIns="0" bIns="0" rtlCol="0" anchor="t">
            <a:normAutofit/>
          </a:bodyPr>
          <a:lstStyle/>
          <a:p>
            <a:pPr marL="0" indent="0" algn="l">
              <a:lnSpc>
                <a:spcPts val="1323"/>
              </a:lnSpc>
              <a:buNone/>
            </a:pPr>
            <a:r>
              <a:rPr lang="en-US" sz="1103" b="1" dirty="0">
                <a:solidFill>
                  <a:srgbClr val="F6F5F0"/>
                </a:solidFill>
                <a:latin typeface="IBM Plex Sans" pitchFamily="34" charset="0"/>
                <a:ea typeface="IBM Plex Sans" pitchFamily="34" charset="-122"/>
                <a:cs typeface="IBM Plex Sans" pitchFamily="34" charset="-120"/>
              </a:rPr>
              <a:t>Elder fraud shield</a:t>
            </a:r>
            <a:endParaRPr lang="en-US" sz="1103" dirty="0"/>
          </a:p>
        </p:txBody>
      </p:sp>
      <p:sp>
        <p:nvSpPr>
          <p:cNvPr id="7" name="Text 4"/>
          <p:cNvSpPr/>
          <p:nvPr/>
        </p:nvSpPr>
        <p:spPr>
          <a:xfrm>
            <a:off x="1015899" y="2681932"/>
            <a:ext cx="3097297" cy="693024"/>
          </a:xfrm>
          <a:prstGeom prst="rect">
            <a:avLst/>
          </a:prstGeom>
          <a:noFill/>
          <a:ln/>
        </p:spPr>
        <p:txBody>
          <a:bodyPr wrap="square" lIns="0" tIns="0" rIns="0" bIns="0" rtlCol="0" anchor="t">
            <a:normAutofit/>
          </a:bodyPr>
          <a:lstStyle/>
          <a:p>
            <a:pPr marL="0" indent="0" algn="l">
              <a:lnSpc>
                <a:spcPts val="1391"/>
              </a:lnSpc>
              <a:buNone/>
            </a:pPr>
            <a:r>
              <a:rPr lang="en-US" sz="994" dirty="0">
                <a:solidFill>
                  <a:srgbClr val="B9C4D0"/>
                </a:solidFill>
                <a:latin typeface="IBM Plex Sans" pitchFamily="34" charset="0"/>
                <a:ea typeface="IBM Plex Sans" pitchFamily="34" charset="-122"/>
                <a:cs typeface="IBM Plex Sans" pitchFamily="34" charset="-120"/>
              </a:rPr>
              <a:t>With her consent, Mom's line is watched for a SIM swap or call forwarding — the carrier's event feed plus a daily check. A change is texted to </a:t>
            </a:r>
            <a:r>
              <a:rPr lang="en-US" sz="994" b="1" dirty="0">
                <a:solidFill>
                  <a:srgbClr val="F6F5F0"/>
                </a:solidFill>
                <a:latin typeface="IBM Plex Sans" pitchFamily="34" charset="0"/>
                <a:ea typeface="IBM Plex Sans" pitchFamily="34" charset="-122"/>
                <a:cs typeface="IBM Plex Sans" pitchFamily="34" charset="-120"/>
              </a:rPr>
              <a:t>her and you</a:t>
            </a:r>
            <a:r>
              <a:rPr lang="en-US" sz="994" dirty="0">
                <a:solidFill>
                  <a:srgbClr val="B9C4D0"/>
                </a:solidFill>
                <a:latin typeface="IBM Plex Sans" pitchFamily="34" charset="0"/>
                <a:ea typeface="IBM Plex Sans" pitchFamily="34" charset="-122"/>
                <a:cs typeface="IBM Plex Sans" pitchFamily="34" charset="-120"/>
              </a:rPr>
              <a:t>.</a:t>
            </a:r>
            <a:endParaRPr lang="en-US" sz="994" dirty="0"/>
          </a:p>
        </p:txBody>
      </p:sp>
      <p:sp>
        <p:nvSpPr>
          <p:cNvPr id="8" name="Text 5"/>
          <p:cNvSpPr/>
          <p:nvPr/>
        </p:nvSpPr>
        <p:spPr>
          <a:xfrm>
            <a:off x="1015899" y="3438432"/>
            <a:ext cx="3007085" cy="369968"/>
          </a:xfrm>
          <a:prstGeom prst="roundRect">
            <a:avLst>
              <a:gd name="adj" fmla="val 17164"/>
            </a:avLst>
          </a:prstGeom>
          <a:solidFill>
            <a:srgbClr val="17233A"/>
          </a:solidFill>
          <a:ln/>
        </p:spPr>
        <p:txBody>
          <a:bodyPr wrap="square" lIns="104527" tIns="83001" rIns="0" bIns="57601" rtlCol="0" anchor="t">
            <a:normAutofit/>
          </a:bodyPr>
          <a:lstStyle/>
          <a:p>
            <a:pPr marL="0" indent="0" algn="l">
              <a:lnSpc>
                <a:spcPts val="1323"/>
              </a:lnSpc>
              <a:buNone/>
            </a:pPr>
            <a:r>
              <a:rPr lang="en-US" sz="945" dirty="0">
                <a:solidFill>
                  <a:srgbClr val="F6F5F0"/>
                </a:solidFill>
                <a:latin typeface="IBM Plex Sans" pitchFamily="34" charset="0"/>
                <a:ea typeface="IBM Plex Sans" pitchFamily="34" charset="-122"/>
                <a:cs typeface="IBM Plex Sans" pitchFamily="34" charset="-120"/>
              </a:rPr>
              <a:t>"Mom's line is as it was."</a:t>
            </a:r>
            <a:endParaRPr lang="en-US" sz="945" dirty="0"/>
          </a:p>
        </p:txBody>
      </p:sp>
      <p:sp>
        <p:nvSpPr>
          <p:cNvPr id="9" name="Shape 6"/>
          <p:cNvSpPr/>
          <p:nvPr/>
        </p:nvSpPr>
        <p:spPr>
          <a:xfrm>
            <a:off x="1015899" y="3438432"/>
            <a:ext cx="3007085" cy="369968"/>
          </a:xfrm>
          <a:custGeom>
            <a:avLst/>
            <a:gdLst/>
            <a:ahLst/>
            <a:cxnLst/>
            <a:rect l="l" t="t" r="r" b="b"/>
            <a:pathLst>
              <a:path w="3007085" h="369968">
                <a:moveTo>
                  <a:pt x="63500" y="369968"/>
                </a:moveTo>
                <a:lnTo>
                  <a:pt x="63500" y="369968"/>
                </a:lnTo>
                <a:arcTo wR="63500" hR="63500" stAng="5400000" swAng="5400000"/>
                <a:lnTo>
                  <a:pt x="0" y="63500"/>
                </a:lnTo>
                <a:arcTo wR="63500" hR="63500" stAng="10800000" swAng="5400000"/>
                <a:lnTo>
                  <a:pt x="63500" y="0"/>
                </a:lnTo>
                <a:arcTo wR="38100" hR="63500" stAng="16200000" swAng="-5400000"/>
                <a:lnTo>
                  <a:pt x="25400" y="306468"/>
                </a:lnTo>
                <a:arcTo wR="38100" hR="63500" stAng="10800000" swAng="-5400000"/>
                <a:close/>
              </a:path>
            </a:pathLst>
          </a:custGeom>
          <a:solidFill>
            <a:srgbClr val="2BB3A0"/>
          </a:solidFill>
          <a:ln/>
        </p:spPr>
        <p:txBody>
          <a:bodyPr/>
          <a:lstStyle/>
          <a:p>
            <a:endParaRPr lang="en-US"/>
          </a:p>
        </p:txBody>
      </p:sp>
      <p:sp>
        <p:nvSpPr>
          <p:cNvPr id="10" name="Text 7"/>
          <p:cNvSpPr/>
          <p:nvPr/>
        </p:nvSpPr>
        <p:spPr>
          <a:xfrm>
            <a:off x="1015899" y="3897275"/>
            <a:ext cx="3097297" cy="490383"/>
          </a:xfrm>
          <a:prstGeom prst="rect">
            <a:avLst/>
          </a:prstGeom>
          <a:noFill/>
          <a:ln/>
        </p:spPr>
        <p:txBody>
          <a:bodyPr wrap="square" lIns="0" tIns="0" rIns="0" bIns="0" rtlCol="0" anchor="t">
            <a:normAutofit/>
          </a:bodyPr>
          <a:lstStyle/>
          <a:p>
            <a:pPr marL="0" indent="0" algn="l">
              <a:lnSpc>
                <a:spcPts val="1224"/>
              </a:lnSpc>
              <a:buNone/>
            </a:pPr>
            <a:r>
              <a:rPr lang="en-US" sz="941" dirty="0">
                <a:solidFill>
                  <a:srgbClr val="6B7583"/>
                </a:solidFill>
                <a:latin typeface="IBM Plex Sans" pitchFamily="34" charset="0"/>
                <a:ea typeface="IBM Plex Sans" pitchFamily="34" charset="-122"/>
                <a:cs typeface="IBM Plex Sans" pitchFamily="34" charset="-120"/>
              </a:rPr>
              <a:t>Exists: carrier SIM locks, set by few; Canadian carriers offer a PIN. New: a consented second person who is told.</a:t>
            </a:r>
            <a:endParaRPr lang="en-US" sz="941" dirty="0"/>
          </a:p>
        </p:txBody>
      </p:sp>
      <p:sp>
        <p:nvSpPr>
          <p:cNvPr id="11" name="Shape 8"/>
          <p:cNvSpPr/>
          <p:nvPr/>
        </p:nvSpPr>
        <p:spPr>
          <a:xfrm>
            <a:off x="4381665" y="1958206"/>
            <a:ext cx="3417874" cy="2604028"/>
          </a:xfrm>
          <a:prstGeom prst="roundRect">
            <a:avLst>
              <a:gd name="adj" fmla="val 3780"/>
            </a:avLst>
          </a:prstGeom>
          <a:solidFill>
            <a:srgbClr val="FFFFFF"/>
          </a:solidFill>
          <a:ln w="6350">
            <a:solidFill>
              <a:srgbClr val="DDE1E6"/>
            </a:solidFill>
            <a:prstDash val="solid"/>
          </a:ln>
        </p:spPr>
        <p:txBody>
          <a:bodyPr/>
          <a:lstStyle/>
          <a:p>
            <a:endParaRPr lang="en-US"/>
          </a:p>
        </p:txBody>
      </p:sp>
      <p:pic>
        <p:nvPicPr>
          <p:cNvPr id="12" name="Image 1" descr="Clock"/>
          <p:cNvPicPr>
            <a:picLocks noChangeAspect="1"/>
          </p:cNvPicPr>
          <p:nvPr/>
        </p:nvPicPr>
        <p:blipFill>
          <a:blip r:embed="rId4"/>
          <a:srcRect t="-590" b="-590"/>
          <a:stretch/>
        </p:blipFill>
        <p:spPr>
          <a:xfrm>
            <a:off x="4587017" y="2163558"/>
            <a:ext cx="228539" cy="147735"/>
          </a:xfrm>
          <a:prstGeom prst="rect">
            <a:avLst/>
          </a:prstGeom>
        </p:spPr>
      </p:pic>
      <p:sp>
        <p:nvSpPr>
          <p:cNvPr id="13" name="Text 9"/>
          <p:cNvSpPr/>
          <p:nvPr/>
        </p:nvSpPr>
        <p:spPr>
          <a:xfrm>
            <a:off x="4587017" y="2400170"/>
            <a:ext cx="3097384" cy="163381"/>
          </a:xfrm>
          <a:prstGeom prst="rect">
            <a:avLst/>
          </a:prstGeom>
          <a:noFill/>
          <a:ln/>
        </p:spPr>
        <p:txBody>
          <a:bodyPr wrap="square" lIns="0" tIns="0" rIns="0" bIns="0" rtlCol="0" anchor="t">
            <a:normAutofit/>
          </a:bodyPr>
          <a:lstStyle/>
          <a:p>
            <a:pPr marL="0" indent="0" algn="l">
              <a:lnSpc>
                <a:spcPts val="1123"/>
              </a:lnSpc>
              <a:buNone/>
            </a:pPr>
            <a:r>
              <a:rPr lang="en-US" sz="936" b="1" dirty="0">
                <a:solidFill>
                  <a:srgbClr val="0E1726"/>
                </a:solidFill>
                <a:latin typeface="IBM Plex Sans" pitchFamily="34" charset="0"/>
                <a:ea typeface="IBM Plex Sans" pitchFamily="34" charset="-122"/>
                <a:cs typeface="IBM Plex Sans" pitchFamily="34" charset="-120"/>
              </a:rPr>
              <a:t>Post-discharge silence alarm</a:t>
            </a:r>
            <a:endParaRPr lang="en-US" sz="936" dirty="0"/>
          </a:p>
        </p:txBody>
      </p:sp>
      <p:sp>
        <p:nvSpPr>
          <p:cNvPr id="14" name="Text 10"/>
          <p:cNvSpPr/>
          <p:nvPr/>
        </p:nvSpPr>
        <p:spPr>
          <a:xfrm>
            <a:off x="4587017" y="2627027"/>
            <a:ext cx="3097384" cy="714718"/>
          </a:xfrm>
          <a:prstGeom prst="rect">
            <a:avLst/>
          </a:prstGeom>
          <a:noFill/>
          <a:ln/>
        </p:spPr>
        <p:txBody>
          <a:bodyPr wrap="square" lIns="0" tIns="0" rIns="0" bIns="0" rtlCol="0" anchor="t">
            <a:normAutofit/>
          </a:bodyPr>
          <a:lstStyle/>
          <a:p>
            <a:pPr marL="0" indent="0" algn="l">
              <a:lnSpc>
                <a:spcPts val="1365"/>
              </a:lnSpc>
              <a:buNone/>
            </a:pPr>
            <a:r>
              <a:rPr lang="en-US" sz="975" dirty="0">
                <a:solidFill>
                  <a:srgbClr val="46505E"/>
                </a:solidFill>
                <a:latin typeface="IBM Plex Sans" pitchFamily="34" charset="0"/>
                <a:ea typeface="IBM Plex Sans" pitchFamily="34" charset="-122"/>
                <a:cs typeface="IBM Plex Sans" pitchFamily="34" charset="-120"/>
              </a:rPr>
              <a:t>Home from surgery, alone. If her phone is off the network for four hours, the neighbour gets a text. Roadmap only: it measures the phone, so it ships paired with an activity signal.</a:t>
            </a:r>
            <a:endParaRPr lang="en-US" sz="975" dirty="0"/>
          </a:p>
        </p:txBody>
      </p:sp>
      <p:sp>
        <p:nvSpPr>
          <p:cNvPr id="15" name="Text 11"/>
          <p:cNvSpPr/>
          <p:nvPr/>
        </p:nvSpPr>
        <p:spPr>
          <a:xfrm>
            <a:off x="4587017" y="3405219"/>
            <a:ext cx="3007169" cy="478773"/>
          </a:xfrm>
          <a:prstGeom prst="roundRect">
            <a:avLst>
              <a:gd name="adj" fmla="val 13263"/>
            </a:avLst>
          </a:prstGeom>
          <a:solidFill>
            <a:srgbClr val="F6F5F0"/>
          </a:solidFill>
          <a:ln/>
        </p:spPr>
        <p:txBody>
          <a:bodyPr wrap="none" lIns="0" tIns="83001" rIns="83001" bIns="57601" rtlCol="0" anchor="t">
            <a:normAutofit/>
          </a:bodyPr>
          <a:lstStyle/>
          <a:p>
            <a:pPr marL="0" indent="0" algn="r">
              <a:lnSpc>
                <a:spcPts val="1108"/>
              </a:lnSpc>
              <a:buNone/>
            </a:pPr>
            <a:r>
              <a:rPr lang="en-US" sz="791" dirty="0">
                <a:solidFill>
                  <a:srgbClr val="0E1726"/>
                </a:solidFill>
                <a:latin typeface="IBM Plex Sans" pitchFamily="34" charset="0"/>
                <a:ea typeface="IBM Plex Sans" pitchFamily="34" charset="-122"/>
                <a:cs typeface="IBM Plex Sans" pitchFamily="34" charset="-120"/>
              </a:rPr>
              <a:t>"Unreachable since 11 — not </a:t>
            </a:r>
            <a:r>
              <a:rPr lang="en-US" sz="791" i="1" dirty="0">
                <a:solidFill>
                  <a:srgbClr val="0E1726"/>
                </a:solidFill>
                <a:latin typeface="IBM Plex Sans" pitchFamily="34" charset="0"/>
                <a:ea typeface="IBM Plex Sans" pitchFamily="34" charset="-122"/>
                <a:cs typeface="IBM Plex Sans" pitchFamily="34" charset="-120"/>
              </a:rPr>
              <a:t>unwell</a:t>
            </a:r>
            <a:r>
              <a:rPr lang="en-US" sz="791" dirty="0">
                <a:solidFill>
                  <a:srgbClr val="0E1726"/>
                </a:solidFill>
                <a:latin typeface="IBM Plex Sans" pitchFamily="34" charset="0"/>
                <a:ea typeface="IBM Plex Sans" pitchFamily="34" charset="-122"/>
                <a:cs typeface="IBM Plex Sans" pitchFamily="34" charset="-120"/>
              </a:rPr>
              <a:t>. I've told Priya next door."</a:t>
            </a:r>
            <a:endParaRPr lang="en-US" sz="791" dirty="0"/>
          </a:p>
        </p:txBody>
      </p:sp>
      <p:sp>
        <p:nvSpPr>
          <p:cNvPr id="16" name="Shape 12"/>
          <p:cNvSpPr/>
          <p:nvPr/>
        </p:nvSpPr>
        <p:spPr>
          <a:xfrm>
            <a:off x="4587017" y="3405219"/>
            <a:ext cx="3007169" cy="478773"/>
          </a:xfrm>
          <a:custGeom>
            <a:avLst/>
            <a:gdLst/>
            <a:ahLst/>
            <a:cxnLst/>
            <a:rect l="l" t="t" r="r" b="b"/>
            <a:pathLst>
              <a:path w="3007169" h="478773">
                <a:moveTo>
                  <a:pt x="63500" y="478773"/>
                </a:moveTo>
                <a:lnTo>
                  <a:pt x="63500" y="478773"/>
                </a:lnTo>
                <a:arcTo wR="63500" hR="63500" stAng="5400000" swAng="5400000"/>
                <a:lnTo>
                  <a:pt x="0" y="63500"/>
                </a:lnTo>
                <a:arcTo wR="63500" hR="63500" stAng="10800000" swAng="5400000"/>
                <a:lnTo>
                  <a:pt x="63500" y="0"/>
                </a:lnTo>
                <a:arcTo wR="38100" hR="63500" stAng="16200000" swAng="-5400000"/>
                <a:lnTo>
                  <a:pt x="25400" y="415273"/>
                </a:lnTo>
                <a:arcTo wR="38100" hR="63500" stAng="10800000" swAng="-5400000"/>
                <a:close/>
              </a:path>
            </a:pathLst>
          </a:custGeom>
          <a:solidFill>
            <a:srgbClr val="E8A33D"/>
          </a:solidFill>
          <a:ln/>
        </p:spPr>
        <p:txBody>
          <a:bodyPr/>
          <a:lstStyle/>
          <a:p>
            <a:endParaRPr lang="en-US"/>
          </a:p>
        </p:txBody>
      </p:sp>
      <p:sp>
        <p:nvSpPr>
          <p:cNvPr id="17" name="Text 13"/>
          <p:cNvSpPr/>
          <p:nvPr/>
        </p:nvSpPr>
        <p:spPr>
          <a:xfrm>
            <a:off x="4587017" y="3972868"/>
            <a:ext cx="3097384" cy="409410"/>
          </a:xfrm>
          <a:prstGeom prst="rect">
            <a:avLst/>
          </a:prstGeom>
          <a:noFill/>
          <a:ln/>
        </p:spPr>
        <p:txBody>
          <a:bodyPr wrap="square" lIns="0" tIns="0" rIns="0" bIns="0" rtlCol="0" anchor="t">
            <a:normAutofit/>
          </a:bodyPr>
          <a:lstStyle/>
          <a:p>
            <a:pPr marL="0" indent="0" algn="l">
              <a:lnSpc>
                <a:spcPts val="1297"/>
              </a:lnSpc>
              <a:buNone/>
            </a:pPr>
            <a:r>
              <a:rPr lang="en-US" sz="998" dirty="0">
                <a:solidFill>
                  <a:srgbClr val="6B7583"/>
                </a:solidFill>
                <a:latin typeface="IBM Plex Sans" pitchFamily="34" charset="0"/>
                <a:ea typeface="IBM Plex Sans" pitchFamily="34" charset="-122"/>
                <a:cs typeface="IBM Plex Sans" pitchFamily="34" charset="-120"/>
              </a:rPr>
              <a:t>Exists: pendants, check-in apps that need a tap daily. New: no device, no app on her phone, no daily tap.</a:t>
            </a:r>
            <a:endParaRPr lang="en-US" sz="998" dirty="0"/>
          </a:p>
        </p:txBody>
      </p:sp>
      <p:sp>
        <p:nvSpPr>
          <p:cNvPr id="18" name="Shape 14"/>
          <p:cNvSpPr/>
          <p:nvPr/>
        </p:nvSpPr>
        <p:spPr>
          <a:xfrm>
            <a:off x="7958248" y="1958206"/>
            <a:ext cx="3417790" cy="2604028"/>
          </a:xfrm>
          <a:prstGeom prst="roundRect">
            <a:avLst>
              <a:gd name="adj" fmla="val 3780"/>
            </a:avLst>
          </a:prstGeom>
          <a:solidFill>
            <a:srgbClr val="FFFFFF"/>
          </a:solidFill>
          <a:ln w="6350">
            <a:solidFill>
              <a:srgbClr val="DDE1E6"/>
            </a:solidFill>
            <a:prstDash val="solid"/>
          </a:ln>
        </p:spPr>
        <p:txBody>
          <a:bodyPr/>
          <a:lstStyle/>
          <a:p>
            <a:endParaRPr lang="en-US"/>
          </a:p>
        </p:txBody>
      </p:sp>
      <p:pic>
        <p:nvPicPr>
          <p:cNvPr id="19" name="Image 2" descr="Activity"/>
          <p:cNvPicPr>
            <a:picLocks noChangeAspect="1"/>
          </p:cNvPicPr>
          <p:nvPr/>
        </p:nvPicPr>
        <p:blipFill>
          <a:blip r:embed="rId5"/>
          <a:srcRect t="-590" b="-590"/>
          <a:stretch/>
        </p:blipFill>
        <p:spPr>
          <a:xfrm>
            <a:off x="8163601" y="2163558"/>
            <a:ext cx="228539" cy="147735"/>
          </a:xfrm>
          <a:prstGeom prst="rect">
            <a:avLst/>
          </a:prstGeom>
        </p:spPr>
      </p:pic>
      <p:sp>
        <p:nvSpPr>
          <p:cNvPr id="20" name="Text 15"/>
          <p:cNvSpPr/>
          <p:nvPr/>
        </p:nvSpPr>
        <p:spPr>
          <a:xfrm>
            <a:off x="8163601" y="2400170"/>
            <a:ext cx="3097297" cy="163381"/>
          </a:xfrm>
          <a:prstGeom prst="rect">
            <a:avLst/>
          </a:prstGeom>
          <a:noFill/>
          <a:ln/>
        </p:spPr>
        <p:txBody>
          <a:bodyPr wrap="square" lIns="0" tIns="0" rIns="0" bIns="0" rtlCol="0" anchor="t">
            <a:normAutofit/>
          </a:bodyPr>
          <a:lstStyle/>
          <a:p>
            <a:pPr marL="0" indent="0" algn="l">
              <a:lnSpc>
                <a:spcPts val="1123"/>
              </a:lnSpc>
              <a:buNone/>
            </a:pPr>
            <a:r>
              <a:rPr lang="en-US" sz="936" b="1" dirty="0">
                <a:solidFill>
                  <a:srgbClr val="0E1726"/>
                </a:solidFill>
                <a:latin typeface="IBM Plex Sans" pitchFamily="34" charset="0"/>
                <a:ea typeface="IBM Plex Sans" pitchFamily="34" charset="-122"/>
                <a:cs typeface="IBM Plex Sans" pitchFamily="34" charset="-120"/>
              </a:rPr>
              <a:t>Transplant-list readiness</a:t>
            </a:r>
            <a:endParaRPr lang="en-US" sz="936" dirty="0"/>
          </a:p>
        </p:txBody>
      </p:sp>
      <p:sp>
        <p:nvSpPr>
          <p:cNvPr id="21" name="Text 16"/>
          <p:cNvSpPr/>
          <p:nvPr/>
        </p:nvSpPr>
        <p:spPr>
          <a:xfrm>
            <a:off x="8163601" y="2627027"/>
            <a:ext cx="3097297" cy="714718"/>
          </a:xfrm>
          <a:prstGeom prst="rect">
            <a:avLst/>
          </a:prstGeom>
          <a:noFill/>
          <a:ln/>
        </p:spPr>
        <p:txBody>
          <a:bodyPr wrap="square" lIns="0" tIns="0" rIns="0" bIns="0" rtlCol="0" anchor="t">
            <a:normAutofit/>
          </a:bodyPr>
          <a:lstStyle/>
          <a:p>
            <a:pPr marL="0" indent="0" algn="l">
              <a:lnSpc>
                <a:spcPts val="1365"/>
              </a:lnSpc>
              <a:buNone/>
            </a:pPr>
            <a:r>
              <a:rPr lang="en-US" sz="975" dirty="0">
                <a:solidFill>
                  <a:srgbClr val="46505E"/>
                </a:solidFill>
                <a:latin typeface="IBM Plex Sans" pitchFamily="34" charset="0"/>
                <a:ea typeface="IBM Plex Sans" pitchFamily="34" charset="-122"/>
                <a:cs typeface="IBM Plex Sans" pitchFamily="34" charset="-120"/>
              </a:rPr>
              <a:t>On a waiting list you must be reachable around the clock; a missed call can be a missed organ. Tower watches your own line continuously and, if it goes dark for 20 minutes, texts your backup contact.</a:t>
            </a:r>
            <a:endParaRPr lang="en-US" sz="975" dirty="0"/>
          </a:p>
        </p:txBody>
      </p:sp>
      <p:sp>
        <p:nvSpPr>
          <p:cNvPr id="22" name="Text 17"/>
          <p:cNvSpPr/>
          <p:nvPr/>
        </p:nvSpPr>
        <p:spPr>
          <a:xfrm>
            <a:off x="8163601" y="3405219"/>
            <a:ext cx="3007085" cy="478773"/>
          </a:xfrm>
          <a:prstGeom prst="roundRect">
            <a:avLst>
              <a:gd name="adj" fmla="val 13263"/>
            </a:avLst>
          </a:prstGeom>
          <a:solidFill>
            <a:srgbClr val="F6F5F0"/>
          </a:solidFill>
          <a:ln/>
        </p:spPr>
        <p:txBody>
          <a:bodyPr wrap="none" lIns="0" tIns="83001" rIns="83001" bIns="57601" rtlCol="0" anchor="t">
            <a:normAutofit/>
          </a:bodyPr>
          <a:lstStyle/>
          <a:p>
            <a:pPr marL="0" indent="0" algn="r">
              <a:lnSpc>
                <a:spcPts val="1323"/>
              </a:lnSpc>
              <a:buNone/>
            </a:pPr>
            <a:r>
              <a:rPr lang="en-US" sz="945" dirty="0">
                <a:solidFill>
                  <a:srgbClr val="0E1726"/>
                </a:solidFill>
                <a:latin typeface="IBM Plex Sans" pitchFamily="34" charset="0"/>
                <a:ea typeface="IBM Plex Sans" pitchFamily="34" charset="-122"/>
                <a:cs typeface="IBM Plex Sans" pitchFamily="34" charset="-120"/>
              </a:rPr>
              <a:t>"Your line is reachable. Nothing changed overnight."</a:t>
            </a:r>
            <a:endParaRPr lang="en-US" sz="945" dirty="0"/>
          </a:p>
        </p:txBody>
      </p:sp>
      <p:sp>
        <p:nvSpPr>
          <p:cNvPr id="23" name="Shape 18"/>
          <p:cNvSpPr/>
          <p:nvPr/>
        </p:nvSpPr>
        <p:spPr>
          <a:xfrm>
            <a:off x="8163601" y="3405219"/>
            <a:ext cx="3007085" cy="478773"/>
          </a:xfrm>
          <a:custGeom>
            <a:avLst/>
            <a:gdLst/>
            <a:ahLst/>
            <a:cxnLst/>
            <a:rect l="l" t="t" r="r" b="b"/>
            <a:pathLst>
              <a:path w="3007085" h="478773">
                <a:moveTo>
                  <a:pt x="63500" y="478773"/>
                </a:moveTo>
                <a:lnTo>
                  <a:pt x="63500" y="478773"/>
                </a:lnTo>
                <a:arcTo wR="63500" hR="63500" stAng="5400000" swAng="5400000"/>
                <a:lnTo>
                  <a:pt x="0" y="63500"/>
                </a:lnTo>
                <a:arcTo wR="63500" hR="63500" stAng="10800000" swAng="5400000"/>
                <a:lnTo>
                  <a:pt x="63500" y="0"/>
                </a:lnTo>
                <a:arcTo wR="38100" hR="63500" stAng="16200000" swAng="-5400000"/>
                <a:lnTo>
                  <a:pt x="25400" y="415273"/>
                </a:lnTo>
                <a:arcTo wR="38100" hR="63500" stAng="10800000" swAng="-5400000"/>
                <a:close/>
              </a:path>
            </a:pathLst>
          </a:custGeom>
          <a:solidFill>
            <a:srgbClr val="2BB3A0"/>
          </a:solidFill>
          <a:ln/>
        </p:spPr>
        <p:txBody>
          <a:bodyPr/>
          <a:lstStyle/>
          <a:p>
            <a:endParaRPr lang="en-US"/>
          </a:p>
        </p:txBody>
      </p:sp>
      <p:sp>
        <p:nvSpPr>
          <p:cNvPr id="24" name="Text 19"/>
          <p:cNvSpPr/>
          <p:nvPr/>
        </p:nvSpPr>
        <p:spPr>
          <a:xfrm>
            <a:off x="8163601" y="3972868"/>
            <a:ext cx="3097297" cy="409410"/>
          </a:xfrm>
          <a:prstGeom prst="rect">
            <a:avLst/>
          </a:prstGeom>
          <a:noFill/>
          <a:ln/>
        </p:spPr>
        <p:txBody>
          <a:bodyPr wrap="square" lIns="0" tIns="0" rIns="0" bIns="0" rtlCol="0" anchor="t">
            <a:normAutofit/>
          </a:bodyPr>
          <a:lstStyle/>
          <a:p>
            <a:pPr marL="0" indent="0" algn="l">
              <a:lnSpc>
                <a:spcPts val="1272"/>
              </a:lnSpc>
              <a:buNone/>
            </a:pPr>
            <a:r>
              <a:rPr lang="en-US" sz="979" dirty="0">
                <a:solidFill>
                  <a:srgbClr val="6B7583"/>
                </a:solidFill>
                <a:latin typeface="IBM Plex Sans" pitchFamily="34" charset="0"/>
                <a:ea typeface="IBM Plex Sans" pitchFamily="34" charset="-122"/>
                <a:cs typeface="IBM Plex Sans" pitchFamily="34" charset="-120"/>
              </a:rPr>
              <a:t>Exists: a pager and hope. New: the network confirming it. The centre's own call path is untouched.</a:t>
            </a:r>
            <a:endParaRPr lang="en-US" sz="979" dirty="0"/>
          </a:p>
        </p:txBody>
      </p:sp>
      <p:sp>
        <p:nvSpPr>
          <p:cNvPr id="25" name="Shape 20"/>
          <p:cNvSpPr/>
          <p:nvPr/>
        </p:nvSpPr>
        <p:spPr>
          <a:xfrm>
            <a:off x="815928" y="4797121"/>
            <a:ext cx="6007484" cy="1041669"/>
          </a:xfrm>
          <a:prstGeom prst="roundRect">
            <a:avLst>
              <a:gd name="adj" fmla="val 7010"/>
            </a:avLst>
          </a:prstGeom>
          <a:solidFill>
            <a:srgbClr val="FFFFFF"/>
          </a:solidFill>
          <a:ln w="6350">
            <a:solidFill>
              <a:srgbClr val="DDE1E6"/>
            </a:solidFill>
            <a:prstDash val="solid"/>
          </a:ln>
        </p:spPr>
        <p:txBody>
          <a:bodyPr/>
          <a:lstStyle/>
          <a:p>
            <a:endParaRPr lang="en-US"/>
          </a:p>
        </p:txBody>
      </p:sp>
      <p:sp>
        <p:nvSpPr>
          <p:cNvPr id="26" name="Text 21"/>
          <p:cNvSpPr/>
          <p:nvPr/>
        </p:nvSpPr>
        <p:spPr>
          <a:xfrm>
            <a:off x="995887" y="4938992"/>
            <a:ext cx="5816992" cy="202144"/>
          </a:xfrm>
          <a:prstGeom prst="rect">
            <a:avLst/>
          </a:prstGeom>
          <a:noFill/>
          <a:ln/>
        </p:spPr>
        <p:txBody>
          <a:bodyPr wrap="square" lIns="0" tIns="0" rIns="0" bIns="0" rtlCol="0" anchor="t">
            <a:normAutofit/>
          </a:bodyPr>
          <a:lstStyle/>
          <a:p>
            <a:pPr marL="0" indent="0" algn="l">
              <a:lnSpc>
                <a:spcPts val="1423"/>
              </a:lnSpc>
              <a:buNone/>
            </a:pPr>
            <a:r>
              <a:rPr lang="en-US" sz="1016" b="1" kern="0" spc="50" dirty="0">
                <a:solidFill>
                  <a:srgbClr val="6B7583"/>
                </a:solidFill>
                <a:latin typeface="IBM Plex Sans" pitchFamily="34" charset="0"/>
                <a:ea typeface="IBM Plex Sans" pitchFamily="34" charset="-122"/>
                <a:cs typeface="IBM Plex Sans" pitchFamily="34" charset="-120"/>
              </a:rPr>
              <a:t>ALSO ON THE TABLE, MORE CAREFULLY</a:t>
            </a:r>
            <a:endParaRPr lang="en-US" sz="1016" dirty="0"/>
          </a:p>
        </p:txBody>
      </p:sp>
      <p:sp>
        <p:nvSpPr>
          <p:cNvPr id="27" name="Text 22"/>
          <p:cNvSpPr/>
          <p:nvPr/>
        </p:nvSpPr>
        <p:spPr>
          <a:xfrm>
            <a:off x="995887" y="5166519"/>
            <a:ext cx="5816992" cy="555800"/>
          </a:xfrm>
          <a:prstGeom prst="rect">
            <a:avLst/>
          </a:prstGeom>
          <a:noFill/>
          <a:ln/>
        </p:spPr>
        <p:txBody>
          <a:bodyPr wrap="square" lIns="0" tIns="0" rIns="0" bIns="0" rtlCol="0" anchor="t">
            <a:normAutofit/>
          </a:bodyPr>
          <a:lstStyle/>
          <a:p>
            <a:pPr marL="0" indent="0" algn="l">
              <a:lnSpc>
                <a:spcPts val="1470"/>
              </a:lnSpc>
              <a:buNone/>
            </a:pPr>
            <a:r>
              <a:rPr lang="en-US" sz="1050" b="1" dirty="0">
                <a:solidFill>
                  <a:srgbClr val="46505E"/>
                </a:solidFill>
                <a:latin typeface="IBM Plex Sans" pitchFamily="34" charset="0"/>
                <a:ea typeface="IBM Plex Sans" pitchFamily="34" charset="-122"/>
                <a:cs typeface="IBM Plex Sans" pitchFamily="34" charset="-120"/>
              </a:rPr>
              <a:t>"When will my video visit hold?"</a:t>
            </a:r>
            <a:r>
              <a:rPr lang="en-US" sz="1050" dirty="0">
                <a:solidFill>
                  <a:srgbClr val="46505E"/>
                </a:solidFill>
                <a:latin typeface="IBM Plex Sans" pitchFamily="34" charset="0"/>
                <a:ea typeface="IBM Plex Sans" pitchFamily="34" charset="-122"/>
                <a:cs typeface="IBM Plex Sans" pitchFamily="34" charset="-120"/>
              </a:rPr>
              <a:t> — Congestion Insights timing a rural telehealth slot. </a:t>
            </a:r>
            <a:r>
              <a:rPr lang="en-US" sz="1050" b="1" dirty="0">
                <a:solidFill>
                  <a:srgbClr val="46505E"/>
                </a:solidFill>
                <a:latin typeface="IBM Plex Sans" pitchFamily="34" charset="0"/>
                <a:ea typeface="IBM Plex Sans" pitchFamily="34" charset="-122"/>
                <a:cs typeface="IBM Plex Sans" pitchFamily="34" charset="-120"/>
              </a:rPr>
              <a:t>The pharmacy code</a:t>
            </a:r>
            <a:r>
              <a:rPr lang="en-US" sz="1050" dirty="0">
                <a:solidFill>
                  <a:srgbClr val="46505E"/>
                </a:solidFill>
                <a:latin typeface="IBM Plex Sans" pitchFamily="34" charset="0"/>
                <a:ea typeface="IBM Plex Sans" pitchFamily="34" charset="-122"/>
                <a:cs typeface="IBM Plex Sans" pitchFamily="34" charset="-120"/>
              </a:rPr>
              <a:t> — the demo's OTP guard, where a swapped SIM comes with a prescription list.</a:t>
            </a:r>
            <a:endParaRPr lang="en-US" sz="1050" dirty="0"/>
          </a:p>
        </p:txBody>
      </p:sp>
      <p:sp>
        <p:nvSpPr>
          <p:cNvPr id="28" name="Shape 23"/>
          <p:cNvSpPr/>
          <p:nvPr/>
        </p:nvSpPr>
        <p:spPr>
          <a:xfrm>
            <a:off x="6982121" y="4797121"/>
            <a:ext cx="4393917" cy="1041669"/>
          </a:xfrm>
          <a:prstGeom prst="roundRect">
            <a:avLst>
              <a:gd name="adj" fmla="val 7010"/>
            </a:avLst>
          </a:prstGeom>
          <a:solidFill>
            <a:srgbClr val="FBEAEA"/>
          </a:solidFill>
          <a:ln w="6350">
            <a:solidFill>
              <a:srgbClr val="E5B4B4"/>
            </a:solidFill>
            <a:prstDash val="solid"/>
          </a:ln>
        </p:spPr>
        <p:txBody>
          <a:bodyPr/>
          <a:lstStyle/>
          <a:p>
            <a:endParaRPr lang="en-US"/>
          </a:p>
        </p:txBody>
      </p:sp>
      <p:sp>
        <p:nvSpPr>
          <p:cNvPr id="29" name="Text 24"/>
          <p:cNvSpPr/>
          <p:nvPr/>
        </p:nvSpPr>
        <p:spPr>
          <a:xfrm>
            <a:off x="7162081" y="4938992"/>
            <a:ext cx="4155019" cy="166829"/>
          </a:xfrm>
          <a:prstGeom prst="rect">
            <a:avLst/>
          </a:prstGeom>
          <a:noFill/>
          <a:ln/>
        </p:spPr>
        <p:txBody>
          <a:bodyPr wrap="square" lIns="0" tIns="0" rIns="0" bIns="0" rtlCol="0" anchor="t">
            <a:normAutofit/>
          </a:bodyPr>
          <a:lstStyle/>
          <a:p>
            <a:pPr marL="0" indent="0" algn="l">
              <a:lnSpc>
                <a:spcPts val="1123"/>
              </a:lnSpc>
              <a:buNone/>
            </a:pPr>
            <a:r>
              <a:rPr lang="en-US" sz="802" b="1" kern="0" spc="50" dirty="0">
                <a:solidFill>
                  <a:srgbClr val="9B3B3B"/>
                </a:solidFill>
                <a:latin typeface="IBM Plex Sans" pitchFamily="34" charset="0"/>
                <a:ea typeface="IBM Plex Sans" pitchFamily="34" charset="-122"/>
                <a:cs typeface="IBM Plex Sans" pitchFamily="34" charset="-120"/>
              </a:rPr>
              <a:t>WHAT THIS IS NOT</a:t>
            </a:r>
            <a:endParaRPr lang="en-US" sz="802" dirty="0"/>
          </a:p>
        </p:txBody>
      </p:sp>
      <p:sp>
        <p:nvSpPr>
          <p:cNvPr id="30" name="Text 25"/>
          <p:cNvSpPr/>
          <p:nvPr/>
        </p:nvSpPr>
        <p:spPr>
          <a:xfrm>
            <a:off x="7162081" y="5131209"/>
            <a:ext cx="4155019" cy="591115"/>
          </a:xfrm>
          <a:prstGeom prst="rect">
            <a:avLst/>
          </a:prstGeom>
          <a:noFill/>
          <a:ln/>
        </p:spPr>
        <p:txBody>
          <a:bodyPr wrap="square" lIns="0" tIns="0" rIns="0" bIns="0" rtlCol="0" anchor="t">
            <a:normAutofit/>
          </a:bodyPr>
          <a:lstStyle/>
          <a:p>
            <a:pPr marL="0" indent="0" algn="l">
              <a:lnSpc>
                <a:spcPts val="1491"/>
              </a:lnSpc>
              <a:buNone/>
            </a:pPr>
            <a:r>
              <a:rPr lang="en-US" sz="1065" dirty="0">
                <a:solidFill>
                  <a:srgbClr val="46505E"/>
                </a:solidFill>
                <a:latin typeface="IBM Plex Sans" pitchFamily="34" charset="0"/>
                <a:ea typeface="IBM Plex Sans" pitchFamily="34" charset="-122"/>
                <a:cs typeface="IBM Plex Sans" pitchFamily="34" charset="-120"/>
              </a:rPr>
              <a:t>Not fall detection, not a medical device, not monitoring without the line-holder's own revocable consent. "Unreachable" is a network fact about a handset; it is never spoken as a health claim.</a:t>
            </a:r>
            <a:endParaRPr lang="en-US" sz="106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726"/>
        </a:solidFill>
        <a:effectLst/>
      </p:bgPr>
    </p:bg>
    <p:spTree>
      <p:nvGrpSpPr>
        <p:cNvPr id="1" name=""/>
        <p:cNvGrpSpPr/>
        <p:nvPr/>
      </p:nvGrpSpPr>
      <p:grpSpPr>
        <a:xfrm>
          <a:off x="0" y="0"/>
          <a:ext cx="0" cy="0"/>
          <a:chOff x="0" y="0"/>
          <a:chExt cx="0" cy="0"/>
        </a:xfrm>
      </p:grpSpPr>
      <p:sp>
        <p:nvSpPr>
          <p:cNvPr id="2" name="Text 0"/>
          <p:cNvSpPr/>
          <p:nvPr/>
        </p:nvSpPr>
        <p:spPr>
          <a:xfrm>
            <a:off x="812753" y="812750"/>
            <a:ext cx="10883454" cy="256546"/>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B3A0"/>
                </a:solidFill>
                <a:latin typeface="IBM Plex Sans" pitchFamily="34" charset="0"/>
                <a:ea typeface="IBM Plex Sans" pitchFamily="34" charset="-122"/>
                <a:cs typeface="IBM Plex Sans" pitchFamily="34" charset="-120"/>
              </a:rPr>
              <a:t>HOW TOWER DOES IT · 1 OF 3</a:t>
            </a:r>
            <a:endParaRPr lang="en-US" sz="1300" dirty="0"/>
          </a:p>
        </p:txBody>
      </p:sp>
      <p:sp>
        <p:nvSpPr>
          <p:cNvPr id="3" name="Text 1"/>
          <p:cNvSpPr>
            <a:spLocks noGrp="1"/>
          </p:cNvSpPr>
          <p:nvPr>
            <p:ph type="title"/>
          </p:nvPr>
        </p:nvSpPr>
        <p:spPr>
          <a:xfrm>
            <a:off x="812753" y="1094687"/>
            <a:ext cx="10883454" cy="416473"/>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F6F5F0"/>
                </a:solidFill>
                <a:latin typeface="IBM Plex Sans" pitchFamily="34" charset="0"/>
                <a:ea typeface="IBM Plex Sans" pitchFamily="34" charset="-122"/>
                <a:cs typeface="IBM Plex Sans" pitchFamily="34" charset="-120"/>
              </a:rPr>
              <a:t>Elder fraud shield — Mom's line, watched for her and for you</a:t>
            </a:r>
            <a:endParaRPr lang="en-US" sz="2800" dirty="0"/>
          </a:p>
        </p:txBody>
      </p:sp>
      <p:sp>
        <p:nvSpPr>
          <p:cNvPr id="4" name="Shape 2"/>
          <p:cNvSpPr/>
          <p:nvPr/>
        </p:nvSpPr>
        <p:spPr>
          <a:xfrm>
            <a:off x="815928" y="1666683"/>
            <a:ext cx="1898566" cy="1517583"/>
          </a:xfrm>
          <a:prstGeom prst="roundRect">
            <a:avLst>
              <a:gd name="adj" fmla="val 4812"/>
            </a:avLst>
          </a:prstGeom>
          <a:solidFill>
            <a:srgbClr val="17233A"/>
          </a:solidFill>
          <a:ln w="6350">
            <a:solidFill>
              <a:srgbClr val="2E3B4E"/>
            </a:solidFill>
            <a:prstDash val="solid"/>
          </a:ln>
        </p:spPr>
        <p:txBody>
          <a:bodyPr/>
          <a:lstStyle/>
          <a:p>
            <a:endParaRPr lang="en-US"/>
          </a:p>
        </p:txBody>
      </p:sp>
      <p:sp>
        <p:nvSpPr>
          <p:cNvPr id="5" name="Text 3"/>
          <p:cNvSpPr/>
          <p:nvPr/>
        </p:nvSpPr>
        <p:spPr>
          <a:xfrm>
            <a:off x="932404" y="1783159"/>
            <a:ext cx="1716414" cy="237207"/>
          </a:xfrm>
          <a:prstGeom prst="rect">
            <a:avLst/>
          </a:prstGeom>
          <a:noFill/>
          <a:ln/>
        </p:spPr>
        <p:txBody>
          <a:bodyPr wrap="square" lIns="0" tIns="0" rIns="0" bIns="0" rtlCol="0" anchor="t">
            <a:normAutofit/>
          </a:bodyPr>
          <a:lstStyle/>
          <a:p>
            <a:pPr marL="0" indent="0" algn="l">
              <a:lnSpc>
                <a:spcPts val="1675"/>
              </a:lnSpc>
              <a:buNone/>
            </a:pPr>
            <a:r>
              <a:rPr lang="en-US" sz="1196" b="1" kern="0" spc="50" dirty="0">
                <a:solidFill>
                  <a:srgbClr val="E8A33D"/>
                </a:solidFill>
                <a:latin typeface="IBM Plex Sans" pitchFamily="34" charset="0"/>
                <a:ea typeface="IBM Plex Sans" pitchFamily="34" charset="-122"/>
                <a:cs typeface="IBM Plex Sans" pitchFamily="34" charset="-120"/>
              </a:rPr>
              <a:t>TRIGGER</a:t>
            </a:r>
            <a:endParaRPr lang="en-US" sz="1196" dirty="0"/>
          </a:p>
        </p:txBody>
      </p:sp>
      <p:sp>
        <p:nvSpPr>
          <p:cNvPr id="6" name="Text 4"/>
          <p:cNvSpPr/>
          <p:nvPr/>
        </p:nvSpPr>
        <p:spPr>
          <a:xfrm>
            <a:off x="932404" y="2045754"/>
            <a:ext cx="1716414" cy="1047437"/>
          </a:xfrm>
          <a:prstGeom prst="rect">
            <a:avLst/>
          </a:prstGeom>
          <a:noFill/>
          <a:ln/>
        </p:spPr>
        <p:txBody>
          <a:bodyPr wrap="square" lIns="0" tIns="0" rIns="0" bIns="0" rtlCol="0" anchor="t">
            <a:normAutofit/>
          </a:bodyPr>
          <a:lstStyle/>
          <a:p>
            <a:pPr marL="0" indent="0" algn="l">
              <a:lnSpc>
                <a:spcPts val="1615"/>
              </a:lnSpc>
              <a:buNone/>
            </a:pPr>
            <a:r>
              <a:rPr lang="en-US" sz="1196" dirty="0">
                <a:solidFill>
                  <a:srgbClr val="F6F5F0"/>
                </a:solidFill>
                <a:latin typeface="IBM Plex Sans" pitchFamily="34" charset="0"/>
                <a:ea typeface="IBM Plex Sans" pitchFamily="34" charset="-122"/>
                <a:cs typeface="IBM Plex Sans" pitchFamily="34" charset="-120"/>
              </a:rPr>
              <a:t>The carrier's SIM-swap event subscription, a daily 8am check, and whenever Mom asks her Alexa "Is my line OK?"</a:t>
            </a:r>
            <a:endParaRPr lang="en-US" sz="1196" dirty="0"/>
          </a:p>
        </p:txBody>
      </p:sp>
      <p:sp>
        <p:nvSpPr>
          <p:cNvPr id="7" name="Shape 5"/>
          <p:cNvSpPr/>
          <p:nvPr/>
        </p:nvSpPr>
        <p:spPr>
          <a:xfrm>
            <a:off x="2978036" y="1669858"/>
            <a:ext cx="1892216" cy="1511233"/>
          </a:xfrm>
          <a:prstGeom prst="roundRect">
            <a:avLst>
              <a:gd name="adj" fmla="val 4622"/>
            </a:avLst>
          </a:prstGeom>
          <a:solidFill>
            <a:srgbClr val="17233A"/>
          </a:solidFill>
          <a:ln w="12700">
            <a:solidFill>
              <a:srgbClr val="E8A33D"/>
            </a:solidFill>
            <a:prstDash val="solid"/>
          </a:ln>
        </p:spPr>
        <p:txBody>
          <a:bodyPr/>
          <a:lstStyle/>
          <a:p>
            <a:endParaRPr lang="en-US"/>
          </a:p>
        </p:txBody>
      </p:sp>
      <p:sp>
        <p:nvSpPr>
          <p:cNvPr id="8" name="Text 6"/>
          <p:cNvSpPr/>
          <p:nvPr/>
        </p:nvSpPr>
        <p:spPr>
          <a:xfrm>
            <a:off x="3096718" y="1788542"/>
            <a:ext cx="1705651" cy="205507"/>
          </a:xfrm>
          <a:prstGeom prst="rect">
            <a:avLst/>
          </a:prstGeom>
          <a:noFill/>
          <a:ln/>
        </p:spPr>
        <p:txBody>
          <a:bodyPr wrap="square" lIns="0" tIns="0" rIns="0" bIns="0" rtlCol="0" anchor="t">
            <a:normAutofit/>
          </a:bodyPr>
          <a:lstStyle/>
          <a:p>
            <a:pPr marL="0" indent="0" algn="l">
              <a:lnSpc>
                <a:spcPts val="1423"/>
              </a:lnSpc>
              <a:buNone/>
            </a:pPr>
            <a:r>
              <a:rPr lang="en-US" sz="1016" b="1" kern="0" spc="50" dirty="0">
                <a:solidFill>
                  <a:srgbClr val="E8A33D"/>
                </a:solidFill>
                <a:latin typeface="IBM Plex Sans" pitchFamily="34" charset="0"/>
                <a:ea typeface="IBM Plex Sans" pitchFamily="34" charset="-122"/>
                <a:cs typeface="IBM Plex Sans" pitchFamily="34" charset="-120"/>
              </a:rPr>
              <a:t>CONSENT GATE</a:t>
            </a:r>
            <a:endParaRPr lang="en-US" sz="1016" dirty="0"/>
          </a:p>
        </p:txBody>
      </p:sp>
      <p:sp>
        <p:nvSpPr>
          <p:cNvPr id="9" name="Text 7"/>
          <p:cNvSpPr/>
          <p:nvPr/>
        </p:nvSpPr>
        <p:spPr>
          <a:xfrm>
            <a:off x="3096718" y="2019436"/>
            <a:ext cx="1705651" cy="1068374"/>
          </a:xfrm>
          <a:prstGeom prst="rect">
            <a:avLst/>
          </a:prstGeom>
          <a:noFill/>
          <a:ln/>
        </p:spPr>
        <p:txBody>
          <a:bodyPr wrap="square" lIns="0" tIns="0" rIns="0" bIns="0" rtlCol="0" anchor="t">
            <a:normAutofit/>
          </a:bodyPr>
          <a:lstStyle/>
          <a:p>
            <a:pPr marL="0" indent="0" algn="l">
              <a:lnSpc>
                <a:spcPts val="1574"/>
              </a:lnSpc>
              <a:buNone/>
            </a:pPr>
            <a:r>
              <a:rPr lang="en-US" sz="1166" dirty="0">
                <a:solidFill>
                  <a:srgbClr val="F6F5F0"/>
                </a:solidFill>
                <a:latin typeface="IBM Plex Sans" pitchFamily="34" charset="0"/>
                <a:ea typeface="IBM Plex Sans" pitchFamily="34" charset="-122"/>
                <a:cs typeface="IBM Plex Sans" pitchFamily="34" charset="-120"/>
              </a:rPr>
              <a:t>Mom bound her line with one tap on her phone and granted </a:t>
            </a:r>
            <a:r>
              <a:rPr lang="en-US" sz="1166" b="1" dirty="0">
                <a:solidFill>
                  <a:srgbClr val="F6F5F0"/>
                </a:solidFill>
                <a:latin typeface="IBM Plex Sans" pitchFamily="34" charset="0"/>
                <a:ea typeface="IBM Plex Sans" pitchFamily="34" charset="-122"/>
                <a:cs typeface="IBM Plex Sans" pitchFamily="34" charset="-120"/>
              </a:rPr>
              <a:t>watch_line</a:t>
            </a:r>
            <a:r>
              <a:rPr lang="en-US" sz="1166" dirty="0">
                <a:solidFill>
                  <a:srgbClr val="F6F5F0"/>
                </a:solidFill>
                <a:latin typeface="IBM Plex Sans" pitchFamily="34" charset="0"/>
                <a:ea typeface="IBM Plex Sans" pitchFamily="34" charset="-122"/>
                <a:cs typeface="IBM Plex Sans" pitchFamily="34" charset="-120"/>
              </a:rPr>
              <a:t> to you. Revocable any time. No grant, no check.</a:t>
            </a:r>
            <a:endParaRPr lang="en-US" sz="1166" dirty="0"/>
          </a:p>
        </p:txBody>
      </p:sp>
      <p:sp>
        <p:nvSpPr>
          <p:cNvPr id="10" name="Shape 8"/>
          <p:cNvSpPr/>
          <p:nvPr/>
        </p:nvSpPr>
        <p:spPr>
          <a:xfrm>
            <a:off x="5130703" y="1663508"/>
            <a:ext cx="2158933" cy="1523933"/>
          </a:xfrm>
          <a:prstGeom prst="roundRect">
            <a:avLst>
              <a:gd name="adj" fmla="val 5000"/>
            </a:avLst>
          </a:prstGeom>
          <a:solidFill>
            <a:srgbClr val="2BB3A0"/>
          </a:solidFill>
          <a:ln/>
        </p:spPr>
        <p:txBody>
          <a:bodyPr/>
          <a:lstStyle/>
          <a:p>
            <a:endParaRPr lang="en-US"/>
          </a:p>
        </p:txBody>
      </p:sp>
      <p:sp>
        <p:nvSpPr>
          <p:cNvPr id="11" name="Text 9"/>
          <p:cNvSpPr/>
          <p:nvPr/>
        </p:nvSpPr>
        <p:spPr>
          <a:xfrm>
            <a:off x="5244972" y="1777783"/>
            <a:ext cx="1988305" cy="238636"/>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0E1726"/>
                </a:solidFill>
                <a:latin typeface="IBM Plex Sans" pitchFamily="34" charset="0"/>
                <a:ea typeface="IBM Plex Sans" pitchFamily="34" charset="-122"/>
                <a:cs typeface="IBM Plex Sans" pitchFamily="34" charset="-120"/>
              </a:rPr>
              <a:t>TOWER</a:t>
            </a:r>
            <a:endParaRPr lang="en-US" sz="1200" dirty="0"/>
          </a:p>
        </p:txBody>
      </p:sp>
      <p:sp>
        <p:nvSpPr>
          <p:cNvPr id="12" name="Text 10"/>
          <p:cNvSpPr/>
          <p:nvPr/>
        </p:nvSpPr>
        <p:spPr>
          <a:xfrm>
            <a:off x="5244972" y="2041804"/>
            <a:ext cx="1988305" cy="848075"/>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0E1726"/>
                </a:solidFill>
                <a:latin typeface="IBM Plex Sans" pitchFamily="34" charset="0"/>
                <a:ea typeface="IBM Plex Sans" pitchFamily="34" charset="-122"/>
                <a:cs typeface="IBM Plex Sans" pitchFamily="34" charset="-120"/>
              </a:rPr>
              <a:t>Two carrier questions, a 72-hour recency window, and a record of what the line looked like yesterday.</a:t>
            </a:r>
            <a:endParaRPr lang="en-US" sz="1200" dirty="0"/>
          </a:p>
        </p:txBody>
      </p:sp>
      <p:sp>
        <p:nvSpPr>
          <p:cNvPr id="13" name="Shape 11"/>
          <p:cNvSpPr/>
          <p:nvPr/>
        </p:nvSpPr>
        <p:spPr>
          <a:xfrm>
            <a:off x="5133878" y="3571602"/>
            <a:ext cx="2152583" cy="1009633"/>
          </a:xfrm>
          <a:prstGeom prst="roundRect">
            <a:avLst>
              <a:gd name="adj" fmla="val 7233"/>
            </a:avLst>
          </a:prstGeom>
          <a:solidFill>
            <a:srgbClr val="0E1726"/>
          </a:solidFill>
          <a:ln w="6350">
            <a:solidFill>
              <a:srgbClr val="2E3B4E"/>
            </a:solidFill>
            <a:prstDash val="solid"/>
          </a:ln>
        </p:spPr>
        <p:txBody>
          <a:bodyPr/>
          <a:lstStyle/>
          <a:p>
            <a:endParaRPr lang="en-US"/>
          </a:p>
        </p:txBody>
      </p:sp>
      <p:sp>
        <p:nvSpPr>
          <p:cNvPr id="14" name="Text 12"/>
          <p:cNvSpPr/>
          <p:nvPr/>
        </p:nvSpPr>
        <p:spPr>
          <a:xfrm>
            <a:off x="5237657" y="3675379"/>
            <a:ext cx="2003375" cy="187429"/>
          </a:xfrm>
          <a:prstGeom prst="rect">
            <a:avLst/>
          </a:prstGeom>
          <a:noFill/>
          <a:ln/>
        </p:spPr>
        <p:txBody>
          <a:bodyPr wrap="square" lIns="0" tIns="0" rIns="0" bIns="0" rtlCol="0" anchor="t">
            <a:normAutofit/>
          </a:bodyPr>
          <a:lstStyle/>
          <a:p>
            <a:pPr marL="0" indent="0" algn="l">
              <a:lnSpc>
                <a:spcPts val="1323"/>
              </a:lnSpc>
              <a:buNone/>
            </a:pPr>
            <a:r>
              <a:rPr lang="en-US" sz="945" b="1" dirty="0">
                <a:solidFill>
                  <a:srgbClr val="B9C4D0"/>
                </a:solidFill>
                <a:latin typeface="IBM Plex Sans" pitchFamily="34" charset="0"/>
                <a:ea typeface="IBM Plex Sans" pitchFamily="34" charset="-122"/>
                <a:cs typeface="IBM Plex Sans" pitchFamily="34" charset="-120"/>
              </a:rPr>
              <a:t>Carrier · CAMARA</a:t>
            </a:r>
            <a:endParaRPr lang="en-US" sz="945" dirty="0"/>
          </a:p>
        </p:txBody>
      </p:sp>
      <p:sp>
        <p:nvSpPr>
          <p:cNvPr id="15" name="Text 13"/>
          <p:cNvSpPr/>
          <p:nvPr/>
        </p:nvSpPr>
        <p:spPr>
          <a:xfrm>
            <a:off x="5237657" y="3875503"/>
            <a:ext cx="2003375" cy="627355"/>
          </a:xfrm>
          <a:prstGeom prst="rect">
            <a:avLst/>
          </a:prstGeom>
          <a:noFill/>
          <a:ln/>
        </p:spPr>
        <p:txBody>
          <a:bodyPr wrap="square" lIns="0" tIns="0" rIns="0" bIns="0" rtlCol="0" anchor="t">
            <a:normAutofit/>
          </a:bodyPr>
          <a:lstStyle/>
          <a:p>
            <a:pPr marL="0" indent="0" algn="l">
              <a:lnSpc>
                <a:spcPts val="1189"/>
              </a:lnSpc>
              <a:buNone/>
            </a:pPr>
            <a:r>
              <a:rPr lang="en-US" sz="915" b="1" dirty="0">
                <a:solidFill>
                  <a:srgbClr val="B9C4D0"/>
                </a:solidFill>
                <a:latin typeface="IBM Plex Sans" pitchFamily="34" charset="0"/>
                <a:ea typeface="IBM Plex Sans" pitchFamily="34" charset="-122"/>
                <a:cs typeface="IBM Plex Sans" pitchFamily="34" charset="-120"/>
              </a:rPr>
              <a:t>SIM Swap</a:t>
            </a:r>
            <a:r>
              <a:rPr lang="en-US" sz="915" dirty="0">
                <a:solidFill>
                  <a:srgbClr val="B9C4D0"/>
                </a:solidFill>
                <a:latin typeface="IBM Plex Sans" pitchFamily="34" charset="0"/>
                <a:ea typeface="IBM Plex Sans" pitchFamily="34" charset="-122"/>
                <a:cs typeface="IBM Plex Sans" pitchFamily="34" charset="-120"/>
              </a:rPr>
              <a:t> — changed in 72 h? (+ subscription)</a:t>
            </a:r>
            <a:endParaRPr lang="en-US" sz="915" dirty="0"/>
          </a:p>
          <a:p>
            <a:pPr marL="0" indent="0" algn="l">
              <a:lnSpc>
                <a:spcPts val="1189"/>
              </a:lnSpc>
              <a:buNone/>
            </a:pPr>
            <a:r>
              <a:rPr lang="en-US" sz="915" b="1" dirty="0">
                <a:solidFill>
                  <a:srgbClr val="B9C4D0"/>
                </a:solidFill>
                <a:latin typeface="IBM Plex Sans" pitchFamily="34" charset="0"/>
                <a:ea typeface="IBM Plex Sans" pitchFamily="34" charset="-122"/>
                <a:cs typeface="IBM Plex Sans" pitchFamily="34" charset="-120"/>
              </a:rPr>
              <a:t>Call Forwarding Signal</a:t>
            </a:r>
            <a:r>
              <a:rPr lang="en-US" sz="915" dirty="0">
                <a:solidFill>
                  <a:srgbClr val="B9C4D0"/>
                </a:solidFill>
                <a:latin typeface="IBM Plex Sans" pitchFamily="34" charset="0"/>
                <a:ea typeface="IBM Plex Sans" pitchFamily="34" charset="-122"/>
                <a:cs typeface="IBM Plex Sans" pitchFamily="34" charset="-120"/>
              </a:rPr>
              <a:t> — forwarded?</a:t>
            </a:r>
            <a:endParaRPr lang="en-US" sz="915" dirty="0"/>
          </a:p>
        </p:txBody>
      </p:sp>
      <p:sp>
        <p:nvSpPr>
          <p:cNvPr id="16" name="Shape 14"/>
          <p:cNvSpPr/>
          <p:nvPr/>
        </p:nvSpPr>
        <p:spPr>
          <a:xfrm>
            <a:off x="7550086" y="1669858"/>
            <a:ext cx="1384266" cy="3543283"/>
          </a:xfrm>
          <a:prstGeom prst="roundRect">
            <a:avLst>
              <a:gd name="adj" fmla="val 5046"/>
            </a:avLst>
          </a:prstGeom>
          <a:solidFill>
            <a:srgbClr val="132A2A"/>
          </a:solidFill>
          <a:ln w="12700">
            <a:solidFill>
              <a:srgbClr val="2BB3A0"/>
            </a:solidFill>
            <a:prstDash val="solid"/>
          </a:ln>
        </p:spPr>
        <p:txBody>
          <a:bodyPr/>
          <a:lstStyle/>
          <a:p>
            <a:endParaRPr lang="en-US"/>
          </a:p>
        </p:txBody>
      </p:sp>
      <p:sp>
        <p:nvSpPr>
          <p:cNvPr id="17" name="Text 15"/>
          <p:cNvSpPr/>
          <p:nvPr/>
        </p:nvSpPr>
        <p:spPr>
          <a:xfrm>
            <a:off x="7668768" y="1788542"/>
            <a:ext cx="1197702" cy="238636"/>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2BB3A0"/>
                </a:solidFill>
                <a:latin typeface="IBM Plex Sans" pitchFamily="34" charset="0"/>
                <a:ea typeface="IBM Plex Sans" pitchFamily="34" charset="-122"/>
                <a:cs typeface="IBM Plex Sans" pitchFamily="34" charset="-120"/>
              </a:rPr>
              <a:t>POLICY</a:t>
            </a:r>
            <a:endParaRPr lang="en-US" sz="1200" dirty="0"/>
          </a:p>
        </p:txBody>
      </p:sp>
      <p:sp>
        <p:nvSpPr>
          <p:cNvPr id="18" name="Text 16"/>
          <p:cNvSpPr/>
          <p:nvPr/>
        </p:nvSpPr>
        <p:spPr>
          <a:xfrm>
            <a:off x="7668768" y="2065263"/>
            <a:ext cx="1197702" cy="1259412"/>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F6F5F0"/>
                </a:solidFill>
                <a:latin typeface="IBM Plex Sans" pitchFamily="34" charset="0"/>
                <a:ea typeface="IBM Plex Sans" pitchFamily="34" charset="-122"/>
                <a:cs typeface="IBM Plex Sans" pitchFamily="34" charset="-120"/>
              </a:rPr>
              <a:t>Deterministic. Two booleans in, one of two outcomes out. The model never decides.</a:t>
            </a:r>
            <a:endParaRPr lang="en-US" sz="1200" dirty="0"/>
          </a:p>
        </p:txBody>
      </p:sp>
      <p:sp>
        <p:nvSpPr>
          <p:cNvPr id="19" name="Shape 17"/>
          <p:cNvSpPr/>
          <p:nvPr/>
        </p:nvSpPr>
        <p:spPr>
          <a:xfrm>
            <a:off x="9201069" y="1669858"/>
            <a:ext cx="2171626" cy="1511233"/>
          </a:xfrm>
          <a:prstGeom prst="roundRect">
            <a:avLst>
              <a:gd name="adj" fmla="val 4622"/>
            </a:avLst>
          </a:prstGeom>
          <a:solidFill>
            <a:srgbClr val="0E1726"/>
          </a:solidFill>
          <a:ln w="12700">
            <a:solidFill>
              <a:srgbClr val="2BB3A0"/>
            </a:solidFill>
            <a:prstDash val="solid"/>
          </a:ln>
        </p:spPr>
        <p:txBody>
          <a:bodyPr/>
          <a:lstStyle/>
          <a:p>
            <a:endParaRPr lang="en-US"/>
          </a:p>
        </p:txBody>
      </p:sp>
      <p:sp>
        <p:nvSpPr>
          <p:cNvPr id="20" name="Text 18"/>
          <p:cNvSpPr/>
          <p:nvPr/>
        </p:nvSpPr>
        <p:spPr>
          <a:xfrm>
            <a:off x="9319752" y="1788542"/>
            <a:ext cx="1992289" cy="238636"/>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2BB3A0"/>
                </a:solidFill>
                <a:latin typeface="IBM Plex Sans" pitchFamily="34" charset="0"/>
                <a:ea typeface="IBM Plex Sans" pitchFamily="34" charset="-122"/>
                <a:cs typeface="IBM Plex Sans" pitchFamily="34" charset="-120"/>
              </a:rPr>
              <a:t>NO CHANGE</a:t>
            </a:r>
            <a:endParaRPr lang="en-US" sz="1200" dirty="0"/>
          </a:p>
        </p:txBody>
      </p:sp>
      <p:sp>
        <p:nvSpPr>
          <p:cNvPr id="21" name="Text 19"/>
          <p:cNvSpPr/>
          <p:nvPr/>
        </p:nvSpPr>
        <p:spPr>
          <a:xfrm>
            <a:off x="9319752" y="2052563"/>
            <a:ext cx="1992289" cy="848075"/>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F6F5F0"/>
                </a:solidFill>
                <a:latin typeface="IBM Plex Sans" pitchFamily="34" charset="0"/>
                <a:ea typeface="IBM Plex Sans" pitchFamily="34" charset="-122"/>
                <a:cs typeface="IBM Plex Sans" pitchFamily="34" charset="-120"/>
              </a:rPr>
              <a:t>Nobody is texted. If Mom asks: "Your line is as it was." Silence is the good outcome.</a:t>
            </a:r>
            <a:endParaRPr lang="en-US" sz="1200" dirty="0"/>
          </a:p>
        </p:txBody>
      </p:sp>
      <p:sp>
        <p:nvSpPr>
          <p:cNvPr id="22" name="Shape 20"/>
          <p:cNvSpPr/>
          <p:nvPr/>
        </p:nvSpPr>
        <p:spPr>
          <a:xfrm>
            <a:off x="9201069" y="3574777"/>
            <a:ext cx="2171626" cy="1638283"/>
          </a:xfrm>
          <a:prstGeom prst="roundRect">
            <a:avLst>
              <a:gd name="adj" fmla="val 4264"/>
            </a:avLst>
          </a:prstGeom>
          <a:solidFill>
            <a:srgbClr val="0E1726"/>
          </a:solidFill>
          <a:ln w="12700">
            <a:solidFill>
              <a:srgbClr val="E8A33D"/>
            </a:solidFill>
            <a:prstDash val="solid"/>
          </a:ln>
        </p:spPr>
        <p:txBody>
          <a:bodyPr/>
          <a:lstStyle/>
          <a:p>
            <a:endParaRPr lang="en-US"/>
          </a:p>
        </p:txBody>
      </p:sp>
      <p:sp>
        <p:nvSpPr>
          <p:cNvPr id="23" name="Text 21"/>
          <p:cNvSpPr/>
          <p:nvPr/>
        </p:nvSpPr>
        <p:spPr>
          <a:xfrm>
            <a:off x="9319752" y="3693461"/>
            <a:ext cx="1992289" cy="224258"/>
          </a:xfrm>
          <a:prstGeom prst="rect">
            <a:avLst/>
          </a:prstGeom>
          <a:noFill/>
          <a:ln/>
        </p:spPr>
        <p:txBody>
          <a:bodyPr wrap="square" lIns="0" tIns="0" rIns="0" bIns="0" rtlCol="0" anchor="t">
            <a:normAutofit/>
          </a:bodyPr>
          <a:lstStyle/>
          <a:p>
            <a:pPr marL="0" indent="0" algn="l">
              <a:lnSpc>
                <a:spcPts val="1575"/>
              </a:lnSpc>
              <a:buNone/>
            </a:pPr>
            <a:r>
              <a:rPr lang="en-US" sz="1125" b="1" kern="0" spc="50" dirty="0">
                <a:solidFill>
                  <a:srgbClr val="E8A33D"/>
                </a:solidFill>
                <a:latin typeface="IBM Plex Sans" pitchFamily="34" charset="0"/>
                <a:ea typeface="IBM Plex Sans" pitchFamily="34" charset="-122"/>
                <a:cs typeface="IBM Plex Sans" pitchFamily="34" charset="-120"/>
              </a:rPr>
              <a:t>CHANGED</a:t>
            </a:r>
            <a:endParaRPr lang="en-US" sz="1125" dirty="0"/>
          </a:p>
        </p:txBody>
      </p:sp>
      <p:sp>
        <p:nvSpPr>
          <p:cNvPr id="24" name="Text 22"/>
          <p:cNvSpPr/>
          <p:nvPr/>
        </p:nvSpPr>
        <p:spPr>
          <a:xfrm>
            <a:off x="9319752" y="3943102"/>
            <a:ext cx="1992289" cy="1176674"/>
          </a:xfrm>
          <a:prstGeom prst="rect">
            <a:avLst/>
          </a:prstGeom>
          <a:noFill/>
          <a:ln/>
        </p:spPr>
        <p:txBody>
          <a:bodyPr wrap="square" lIns="0" tIns="0" rIns="0" bIns="0" rtlCol="0" anchor="t">
            <a:normAutofit/>
          </a:bodyPr>
          <a:lstStyle/>
          <a:p>
            <a:pPr marL="0" indent="0" algn="l">
              <a:lnSpc>
                <a:spcPts val="1509"/>
              </a:lnSpc>
              <a:buNone/>
            </a:pPr>
            <a:r>
              <a:rPr lang="en-US" sz="1118" dirty="0">
                <a:solidFill>
                  <a:srgbClr val="F6F5F0"/>
                </a:solidFill>
                <a:latin typeface="IBM Plex Sans" pitchFamily="34" charset="0"/>
                <a:ea typeface="IBM Plex Sans" pitchFamily="34" charset="-122"/>
                <a:cs typeface="IBM Plex Sans" pitchFamily="34" charset="-120"/>
              </a:rPr>
              <a:t>SMS to you and to Mom: "Mom's SIM moved at 7:40 — if that wasn't her, call the carrier." If she asks Alexa, it says the same. Nothing waits for her to ask.</a:t>
            </a:r>
            <a:endParaRPr lang="en-US" sz="1118" dirty="0"/>
          </a:p>
        </p:txBody>
      </p:sp>
      <p:sp>
        <p:nvSpPr>
          <p:cNvPr id="25" name="Text 23"/>
          <p:cNvSpPr/>
          <p:nvPr/>
        </p:nvSpPr>
        <p:spPr>
          <a:xfrm>
            <a:off x="815928" y="4778121"/>
            <a:ext cx="6470617" cy="438116"/>
          </a:xfrm>
          <a:prstGeom prst="roundRect">
            <a:avLst>
              <a:gd name="adj" fmla="val 16668"/>
            </a:avLst>
          </a:prstGeom>
          <a:solidFill>
            <a:srgbClr val="17233A"/>
          </a:solidFill>
          <a:ln w="6350">
            <a:solidFill>
              <a:srgbClr val="2E3B4E"/>
            </a:solidFill>
            <a:prstDash val="solid"/>
          </a:ln>
        </p:spPr>
        <p:txBody>
          <a:bodyPr wrap="square" lIns="95088" tIns="0" rIns="0" bIns="0" rtlCol="0" anchor="ctr">
            <a:normAutofit/>
          </a:bodyPr>
          <a:lstStyle/>
          <a:p>
            <a:pPr marL="0" indent="0" algn="l">
              <a:lnSpc>
                <a:spcPts val="1560"/>
              </a:lnSpc>
              <a:buNone/>
            </a:pPr>
            <a:r>
              <a:rPr lang="en-US" sz="1200" dirty="0">
                <a:solidFill>
                  <a:srgbClr val="B9C4D0"/>
                </a:solidFill>
                <a:latin typeface="IBM Plex Sans" pitchFamily="34" charset="0"/>
                <a:ea typeface="IBM Plex Sans" pitchFamily="34" charset="-122"/>
                <a:cs typeface="IBM Plex Sans" pitchFamily="34" charset="-120"/>
              </a:rPr>
              <a:t>Every check is audited on her line. Mom can ask: "Who checked my line this week?" A carrier SIM lock, where offered, is the complement — this is the alarm.</a:t>
            </a:r>
            <a:endParaRPr lang="en-US" sz="1200" dirty="0"/>
          </a:p>
        </p:txBody>
      </p:sp>
      <p:pic>
        <p:nvPicPr>
          <p:cNvPr id="26" name="Image 0" descr="connector"/>
          <p:cNvPicPr>
            <a:picLocks noChangeAspect="1"/>
          </p:cNvPicPr>
          <p:nvPr/>
        </p:nvPicPr>
        <p:blipFill>
          <a:blip r:embed="rId3"/>
          <a:srcRect l="-12" r="-12"/>
          <a:stretch/>
        </p:blipFill>
        <p:spPr>
          <a:xfrm>
            <a:off x="2666882" y="2374689"/>
            <a:ext cx="355590" cy="101573"/>
          </a:xfrm>
          <a:prstGeom prst="rect">
            <a:avLst/>
          </a:prstGeom>
        </p:spPr>
      </p:pic>
      <p:pic>
        <p:nvPicPr>
          <p:cNvPr id="27" name="Image 1" descr="connector"/>
          <p:cNvPicPr>
            <a:picLocks noChangeAspect="1"/>
          </p:cNvPicPr>
          <p:nvPr/>
        </p:nvPicPr>
        <p:blipFill>
          <a:blip r:embed="rId3"/>
          <a:srcRect l="-12" r="-12"/>
          <a:stretch/>
        </p:blipFill>
        <p:spPr>
          <a:xfrm>
            <a:off x="4825899" y="2374689"/>
            <a:ext cx="355590" cy="101573"/>
          </a:xfrm>
          <a:prstGeom prst="rect">
            <a:avLst/>
          </a:prstGeom>
        </p:spPr>
      </p:pic>
      <p:pic>
        <p:nvPicPr>
          <p:cNvPr id="28" name="Image 2" descr="connector"/>
          <p:cNvPicPr>
            <a:picLocks noChangeAspect="1"/>
          </p:cNvPicPr>
          <p:nvPr/>
        </p:nvPicPr>
        <p:blipFill>
          <a:blip r:embed="rId3"/>
          <a:srcRect l="-12" r="-12"/>
          <a:stretch/>
        </p:blipFill>
        <p:spPr>
          <a:xfrm>
            <a:off x="7238933" y="2374689"/>
            <a:ext cx="355590" cy="101573"/>
          </a:xfrm>
          <a:prstGeom prst="rect">
            <a:avLst/>
          </a:prstGeom>
        </p:spPr>
      </p:pic>
      <p:pic>
        <p:nvPicPr>
          <p:cNvPr id="29" name="Image 3" descr="connector"/>
          <p:cNvPicPr>
            <a:picLocks noChangeAspect="1"/>
          </p:cNvPicPr>
          <p:nvPr/>
        </p:nvPicPr>
        <p:blipFill>
          <a:blip r:embed="rId4"/>
          <a:srcRect t="-9" b="-9"/>
          <a:stretch/>
        </p:blipFill>
        <p:spPr>
          <a:xfrm>
            <a:off x="6159383" y="3136658"/>
            <a:ext cx="101573" cy="482556"/>
          </a:xfrm>
          <a:prstGeom prst="rect">
            <a:avLst/>
          </a:prstGeom>
        </p:spPr>
      </p:pic>
      <p:pic>
        <p:nvPicPr>
          <p:cNvPr id="30" name="Image 4" descr="connector"/>
          <p:cNvPicPr>
            <a:picLocks noChangeAspect="1"/>
          </p:cNvPicPr>
          <p:nvPr/>
        </p:nvPicPr>
        <p:blipFill>
          <a:blip r:embed="rId3"/>
          <a:srcRect l="-12" r="-12"/>
          <a:stretch/>
        </p:blipFill>
        <p:spPr>
          <a:xfrm>
            <a:off x="8889916" y="2374689"/>
            <a:ext cx="355590" cy="101573"/>
          </a:xfrm>
          <a:prstGeom prst="rect">
            <a:avLst/>
          </a:prstGeom>
        </p:spPr>
      </p:pic>
      <p:pic>
        <p:nvPicPr>
          <p:cNvPr id="31" name="Image 5" descr="connector"/>
          <p:cNvPicPr>
            <a:picLocks noChangeAspect="1"/>
          </p:cNvPicPr>
          <p:nvPr/>
        </p:nvPicPr>
        <p:blipFill>
          <a:blip r:embed="rId5"/>
          <a:srcRect l="-12" r="-12"/>
          <a:stretch/>
        </p:blipFill>
        <p:spPr>
          <a:xfrm>
            <a:off x="8889916" y="4343171"/>
            <a:ext cx="355590" cy="101573"/>
          </a:xfrm>
          <a:prstGeom prst="rect">
            <a:avLst/>
          </a:prstGeom>
        </p:spPr>
      </p:pic>
      <p:sp>
        <p:nvSpPr>
          <p:cNvPr id="32" name="Text 24"/>
          <p:cNvSpPr/>
          <p:nvPr/>
        </p:nvSpPr>
        <p:spPr>
          <a:xfrm>
            <a:off x="812753" y="6025102"/>
            <a:ext cx="11720590" cy="45187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583"/>
                </a:solidFill>
                <a:latin typeface="IBM Plex Sans" pitchFamily="34" charset="0"/>
                <a:ea typeface="IBM Plex Sans" pitchFamily="34" charset="-122"/>
                <a:cs typeface="IBM Plex Sans" pitchFamily="34" charset="-120"/>
              </a:rPr>
              <a:t>The second person is the whole idea: elder fraud works because the victim is the only one who would notice. Alerts go by SMS because Alexa+ answers questions; it doesn't start conversations.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726"/>
        </a:solidFill>
        <a:effectLst/>
      </p:bgPr>
    </p:bg>
    <p:spTree>
      <p:nvGrpSpPr>
        <p:cNvPr id="1" name=""/>
        <p:cNvGrpSpPr/>
        <p:nvPr/>
      </p:nvGrpSpPr>
      <p:grpSpPr>
        <a:xfrm>
          <a:off x="0" y="0"/>
          <a:ext cx="0" cy="0"/>
          <a:chOff x="0" y="0"/>
          <a:chExt cx="0" cy="0"/>
        </a:xfrm>
      </p:grpSpPr>
      <p:sp>
        <p:nvSpPr>
          <p:cNvPr id="2" name="Text 0"/>
          <p:cNvSpPr/>
          <p:nvPr/>
        </p:nvSpPr>
        <p:spPr>
          <a:xfrm>
            <a:off x="812753" y="812750"/>
            <a:ext cx="10883454" cy="256546"/>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B3A0"/>
                </a:solidFill>
                <a:latin typeface="IBM Plex Sans" pitchFamily="34" charset="0"/>
                <a:ea typeface="IBM Plex Sans" pitchFamily="34" charset="-122"/>
                <a:cs typeface="IBM Plex Sans" pitchFamily="34" charset="-120"/>
              </a:rPr>
              <a:t>HOW TOWER DOES IT · 2 OF 3 — ROADMAP, NOT DEMO</a:t>
            </a:r>
            <a:endParaRPr lang="en-US" sz="1300" dirty="0"/>
          </a:p>
        </p:txBody>
      </p:sp>
      <p:sp>
        <p:nvSpPr>
          <p:cNvPr id="3" name="Text 1"/>
          <p:cNvSpPr>
            <a:spLocks noGrp="1"/>
          </p:cNvSpPr>
          <p:nvPr>
            <p:ph type="title"/>
          </p:nvPr>
        </p:nvSpPr>
        <p:spPr>
          <a:xfrm>
            <a:off x="812753" y="1094687"/>
            <a:ext cx="10883454" cy="807546"/>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F6F5F0"/>
                </a:solidFill>
                <a:latin typeface="IBM Plex Sans" pitchFamily="34" charset="0"/>
                <a:ea typeface="IBM Plex Sans" pitchFamily="34" charset="-122"/>
                <a:cs typeface="IBM Plex Sans" pitchFamily="34" charset="-120"/>
              </a:rPr>
              <a:t>Post-discharge silence alarm — a network fact, an escalation chain, and an honest caveat</a:t>
            </a:r>
            <a:endParaRPr lang="en-US" sz="2800" dirty="0"/>
          </a:p>
        </p:txBody>
      </p:sp>
      <p:sp>
        <p:nvSpPr>
          <p:cNvPr id="4" name="Shape 2"/>
          <p:cNvSpPr/>
          <p:nvPr/>
        </p:nvSpPr>
        <p:spPr>
          <a:xfrm>
            <a:off x="815928" y="2057760"/>
            <a:ext cx="1898566" cy="1517583"/>
          </a:xfrm>
          <a:prstGeom prst="roundRect">
            <a:avLst>
              <a:gd name="adj" fmla="val 4812"/>
            </a:avLst>
          </a:prstGeom>
          <a:solidFill>
            <a:srgbClr val="17233A"/>
          </a:solidFill>
          <a:ln w="6350">
            <a:solidFill>
              <a:srgbClr val="2E3B4E"/>
            </a:solidFill>
            <a:prstDash val="solid"/>
          </a:ln>
        </p:spPr>
        <p:txBody>
          <a:bodyPr/>
          <a:lstStyle/>
          <a:p>
            <a:endParaRPr lang="en-US"/>
          </a:p>
        </p:txBody>
      </p:sp>
      <p:sp>
        <p:nvSpPr>
          <p:cNvPr id="5" name="Text 3"/>
          <p:cNvSpPr/>
          <p:nvPr/>
        </p:nvSpPr>
        <p:spPr>
          <a:xfrm>
            <a:off x="932404" y="2174236"/>
            <a:ext cx="1716414" cy="207105"/>
          </a:xfrm>
          <a:prstGeom prst="rect">
            <a:avLst/>
          </a:prstGeom>
          <a:noFill/>
          <a:ln/>
        </p:spPr>
        <p:txBody>
          <a:bodyPr wrap="square" lIns="0" tIns="0" rIns="0" bIns="0" rtlCol="0" anchor="t">
            <a:normAutofit/>
          </a:bodyPr>
          <a:lstStyle/>
          <a:p>
            <a:pPr marL="0" indent="0" algn="l">
              <a:lnSpc>
                <a:spcPts val="1470"/>
              </a:lnSpc>
              <a:buNone/>
            </a:pPr>
            <a:r>
              <a:rPr lang="en-US" sz="1050" b="1" kern="0" spc="50" dirty="0">
                <a:solidFill>
                  <a:srgbClr val="E8A33D"/>
                </a:solidFill>
                <a:latin typeface="IBM Plex Sans" pitchFamily="34" charset="0"/>
                <a:ea typeface="IBM Plex Sans" pitchFamily="34" charset="-122"/>
                <a:cs typeface="IBM Plex Sans" pitchFamily="34" charset="-120"/>
              </a:rPr>
              <a:t>TRIGGER</a:t>
            </a:r>
            <a:endParaRPr lang="en-US" sz="1050" dirty="0"/>
          </a:p>
        </p:txBody>
      </p:sp>
      <p:sp>
        <p:nvSpPr>
          <p:cNvPr id="6" name="Text 4"/>
          <p:cNvSpPr/>
          <p:nvPr/>
        </p:nvSpPr>
        <p:spPr>
          <a:xfrm>
            <a:off x="932404" y="2406724"/>
            <a:ext cx="1716414" cy="1077539"/>
          </a:xfrm>
          <a:prstGeom prst="rect">
            <a:avLst/>
          </a:prstGeom>
          <a:noFill/>
          <a:ln/>
        </p:spPr>
        <p:txBody>
          <a:bodyPr wrap="square" lIns="0" tIns="0" rIns="0" bIns="0" rtlCol="0" anchor="t">
            <a:normAutofit/>
          </a:bodyPr>
          <a:lstStyle/>
          <a:p>
            <a:pPr marL="0" indent="0" algn="l">
              <a:lnSpc>
                <a:spcPts val="1590"/>
              </a:lnSpc>
              <a:buNone/>
            </a:pPr>
            <a:r>
              <a:rPr lang="en-US" sz="1177" dirty="0">
                <a:solidFill>
                  <a:srgbClr val="F6F5F0"/>
                </a:solidFill>
                <a:latin typeface="IBM Plex Sans" pitchFamily="34" charset="0"/>
                <a:ea typeface="IBM Plex Sans" pitchFamily="34" charset="-122"/>
                <a:cs typeface="IBM Plex Sans" pitchFamily="34" charset="-120"/>
              </a:rPr>
              <a:t>The carrier's reachability subscription, or a 30-minute poll, 8am to 10pm, for the 14 days after discharge.</a:t>
            </a:r>
            <a:endParaRPr lang="en-US" sz="1177" dirty="0"/>
          </a:p>
        </p:txBody>
      </p:sp>
      <p:sp>
        <p:nvSpPr>
          <p:cNvPr id="7" name="Shape 5"/>
          <p:cNvSpPr/>
          <p:nvPr/>
        </p:nvSpPr>
        <p:spPr>
          <a:xfrm>
            <a:off x="2978036" y="2060935"/>
            <a:ext cx="1892216" cy="1511233"/>
          </a:xfrm>
          <a:prstGeom prst="roundRect">
            <a:avLst>
              <a:gd name="adj" fmla="val 4622"/>
            </a:avLst>
          </a:prstGeom>
          <a:solidFill>
            <a:srgbClr val="17233A"/>
          </a:solidFill>
          <a:ln w="12700">
            <a:solidFill>
              <a:srgbClr val="E8A33D"/>
            </a:solidFill>
            <a:prstDash val="solid"/>
          </a:ln>
        </p:spPr>
        <p:txBody>
          <a:bodyPr/>
          <a:lstStyle/>
          <a:p>
            <a:endParaRPr lang="en-US"/>
          </a:p>
        </p:txBody>
      </p:sp>
      <p:sp>
        <p:nvSpPr>
          <p:cNvPr id="8" name="Text 6"/>
          <p:cNvSpPr/>
          <p:nvPr/>
        </p:nvSpPr>
        <p:spPr>
          <a:xfrm>
            <a:off x="3096718" y="2179613"/>
            <a:ext cx="1705651" cy="235357"/>
          </a:xfrm>
          <a:prstGeom prst="rect">
            <a:avLst/>
          </a:prstGeom>
          <a:noFill/>
          <a:ln/>
        </p:spPr>
        <p:txBody>
          <a:bodyPr wrap="square" lIns="0" tIns="0" rIns="0" bIns="0" rtlCol="0" anchor="t">
            <a:normAutofit/>
          </a:bodyPr>
          <a:lstStyle/>
          <a:p>
            <a:pPr marL="0" indent="0" algn="l">
              <a:lnSpc>
                <a:spcPts val="1675"/>
              </a:lnSpc>
              <a:buNone/>
            </a:pPr>
            <a:r>
              <a:rPr lang="en-US" sz="1196" b="1" kern="0" spc="50" dirty="0">
                <a:solidFill>
                  <a:srgbClr val="E8A33D"/>
                </a:solidFill>
                <a:latin typeface="IBM Plex Sans" pitchFamily="34" charset="0"/>
                <a:ea typeface="IBM Plex Sans" pitchFamily="34" charset="-122"/>
                <a:cs typeface="IBM Plex Sans" pitchFamily="34" charset="-120"/>
              </a:rPr>
              <a:t>CONSENT GATE</a:t>
            </a:r>
            <a:endParaRPr lang="en-US" sz="1196" dirty="0"/>
          </a:p>
        </p:txBody>
      </p:sp>
      <p:sp>
        <p:nvSpPr>
          <p:cNvPr id="9" name="Text 7"/>
          <p:cNvSpPr/>
          <p:nvPr/>
        </p:nvSpPr>
        <p:spPr>
          <a:xfrm>
            <a:off x="3096718" y="2440360"/>
            <a:ext cx="1705651" cy="1038524"/>
          </a:xfrm>
          <a:prstGeom prst="rect">
            <a:avLst/>
          </a:prstGeom>
          <a:noFill/>
          <a:ln/>
        </p:spPr>
        <p:txBody>
          <a:bodyPr wrap="square" lIns="0" tIns="0" rIns="0" bIns="0" rtlCol="0" anchor="t">
            <a:normAutofit/>
          </a:bodyPr>
          <a:lstStyle/>
          <a:p>
            <a:pPr marL="0" indent="0" algn="l">
              <a:lnSpc>
                <a:spcPts val="1605"/>
              </a:lnSpc>
              <a:buNone/>
            </a:pPr>
            <a:r>
              <a:rPr lang="en-US" sz="1189" dirty="0">
                <a:solidFill>
                  <a:srgbClr val="F6F5F0"/>
                </a:solidFill>
                <a:latin typeface="IBM Plex Sans" pitchFamily="34" charset="0"/>
                <a:ea typeface="IBM Plex Sans" pitchFamily="34" charset="-122"/>
                <a:cs typeface="IBM Plex Sans" pitchFamily="34" charset="-120"/>
              </a:rPr>
              <a:t>Mom bound her line once and named the chain: you, then Priya next door. She can end it with one sentence.</a:t>
            </a:r>
            <a:endParaRPr lang="en-US" sz="1189" dirty="0"/>
          </a:p>
        </p:txBody>
      </p:sp>
      <p:sp>
        <p:nvSpPr>
          <p:cNvPr id="10" name="Shape 8"/>
          <p:cNvSpPr/>
          <p:nvPr/>
        </p:nvSpPr>
        <p:spPr>
          <a:xfrm>
            <a:off x="5130703" y="2054585"/>
            <a:ext cx="2158933" cy="1523933"/>
          </a:xfrm>
          <a:prstGeom prst="roundRect">
            <a:avLst>
              <a:gd name="adj" fmla="val 5000"/>
            </a:avLst>
          </a:prstGeom>
          <a:solidFill>
            <a:srgbClr val="2BB3A0"/>
          </a:solidFill>
          <a:ln/>
        </p:spPr>
        <p:txBody>
          <a:bodyPr/>
          <a:lstStyle/>
          <a:p>
            <a:endParaRPr lang="en-US"/>
          </a:p>
        </p:txBody>
      </p:sp>
      <p:sp>
        <p:nvSpPr>
          <p:cNvPr id="11" name="Text 9"/>
          <p:cNvSpPr/>
          <p:nvPr/>
        </p:nvSpPr>
        <p:spPr>
          <a:xfrm>
            <a:off x="5244972" y="2168854"/>
            <a:ext cx="1988305" cy="238636"/>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0E1726"/>
                </a:solidFill>
                <a:latin typeface="IBM Plex Sans" pitchFamily="34" charset="0"/>
                <a:ea typeface="IBM Plex Sans" pitchFamily="34" charset="-122"/>
                <a:cs typeface="IBM Plex Sans" pitchFamily="34" charset="-120"/>
              </a:rPr>
              <a:t>TOWER</a:t>
            </a:r>
            <a:endParaRPr lang="en-US" sz="1200" dirty="0"/>
          </a:p>
        </p:txBody>
      </p:sp>
      <p:sp>
        <p:nvSpPr>
          <p:cNvPr id="12" name="Text 10"/>
          <p:cNvSpPr/>
          <p:nvPr/>
        </p:nvSpPr>
        <p:spPr>
          <a:xfrm>
            <a:off x="5244972" y="2432875"/>
            <a:ext cx="1988305" cy="105374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0E1726"/>
                </a:solidFill>
                <a:latin typeface="IBM Plex Sans" pitchFamily="34" charset="0"/>
                <a:ea typeface="IBM Plex Sans" pitchFamily="34" charset="-122"/>
                <a:cs typeface="IBM Plex Sans" pitchFamily="34" charset="-120"/>
              </a:rPr>
              <a:t>One yes/no and a last-seen clock. Four hours of continuous "no" in the daytime window is the threshold.</a:t>
            </a:r>
            <a:endParaRPr lang="en-US" sz="1200" dirty="0"/>
          </a:p>
        </p:txBody>
      </p:sp>
      <p:sp>
        <p:nvSpPr>
          <p:cNvPr id="13" name="Shape 11"/>
          <p:cNvSpPr/>
          <p:nvPr/>
        </p:nvSpPr>
        <p:spPr>
          <a:xfrm>
            <a:off x="5133878" y="3962673"/>
            <a:ext cx="2152583" cy="1009633"/>
          </a:xfrm>
          <a:prstGeom prst="roundRect">
            <a:avLst>
              <a:gd name="adj" fmla="val 7233"/>
            </a:avLst>
          </a:prstGeom>
          <a:solidFill>
            <a:srgbClr val="0E1726"/>
          </a:solidFill>
          <a:ln w="6350">
            <a:solidFill>
              <a:srgbClr val="2E3B4E"/>
            </a:solidFill>
            <a:prstDash val="solid"/>
          </a:ln>
        </p:spPr>
        <p:txBody>
          <a:bodyPr/>
          <a:lstStyle/>
          <a:p>
            <a:endParaRPr lang="en-US"/>
          </a:p>
        </p:txBody>
      </p:sp>
      <p:sp>
        <p:nvSpPr>
          <p:cNvPr id="14" name="Text 12"/>
          <p:cNvSpPr/>
          <p:nvPr/>
        </p:nvSpPr>
        <p:spPr>
          <a:xfrm>
            <a:off x="5237657" y="4066456"/>
            <a:ext cx="2003375" cy="187429"/>
          </a:xfrm>
          <a:prstGeom prst="rect">
            <a:avLst/>
          </a:prstGeom>
          <a:noFill/>
          <a:ln/>
        </p:spPr>
        <p:txBody>
          <a:bodyPr wrap="square" lIns="0" tIns="0" rIns="0" bIns="0" rtlCol="0" anchor="t">
            <a:normAutofit/>
          </a:bodyPr>
          <a:lstStyle/>
          <a:p>
            <a:pPr marL="0" indent="0" algn="l">
              <a:lnSpc>
                <a:spcPts val="1323"/>
              </a:lnSpc>
              <a:buNone/>
            </a:pPr>
            <a:r>
              <a:rPr lang="en-US" sz="945" b="1" dirty="0">
                <a:solidFill>
                  <a:srgbClr val="B9C4D0"/>
                </a:solidFill>
                <a:latin typeface="IBM Plex Sans" pitchFamily="34" charset="0"/>
                <a:ea typeface="IBM Plex Sans" pitchFamily="34" charset="-122"/>
                <a:cs typeface="IBM Plex Sans" pitchFamily="34" charset="-120"/>
              </a:rPr>
              <a:t>Carrier · CAMARA</a:t>
            </a:r>
            <a:endParaRPr lang="en-US" sz="945" dirty="0"/>
          </a:p>
        </p:txBody>
      </p:sp>
      <p:sp>
        <p:nvSpPr>
          <p:cNvPr id="15" name="Text 13"/>
          <p:cNvSpPr/>
          <p:nvPr/>
        </p:nvSpPr>
        <p:spPr>
          <a:xfrm>
            <a:off x="5237657" y="4266574"/>
            <a:ext cx="2003375" cy="627355"/>
          </a:xfrm>
          <a:prstGeom prst="rect">
            <a:avLst/>
          </a:prstGeom>
          <a:noFill/>
          <a:ln/>
        </p:spPr>
        <p:txBody>
          <a:bodyPr wrap="square" lIns="0" tIns="0" rIns="0" bIns="0" rtlCol="0" anchor="t">
            <a:normAutofit/>
          </a:bodyPr>
          <a:lstStyle/>
          <a:p>
            <a:pPr marL="0" indent="0" algn="l">
              <a:lnSpc>
                <a:spcPts val="1472"/>
              </a:lnSpc>
              <a:buNone/>
            </a:pPr>
            <a:r>
              <a:rPr lang="en-US" sz="1133" b="1" dirty="0">
                <a:solidFill>
                  <a:srgbClr val="B9C4D0"/>
                </a:solidFill>
                <a:latin typeface="IBM Plex Sans" pitchFamily="34" charset="0"/>
                <a:ea typeface="IBM Plex Sans" pitchFamily="34" charset="-122"/>
                <a:cs typeface="IBM Plex Sans" pitchFamily="34" charset="-120"/>
              </a:rPr>
              <a:t>Device Reachability Status</a:t>
            </a:r>
            <a:r>
              <a:rPr lang="en-US" sz="1133" dirty="0">
                <a:solidFill>
                  <a:srgbClr val="B9C4D0"/>
                </a:solidFill>
                <a:latin typeface="IBM Plex Sans" pitchFamily="34" charset="0"/>
                <a:ea typeface="IBM Plex Sans" pitchFamily="34" charset="-122"/>
                <a:cs typeface="IBM Plex Sans" pitchFamily="34" charset="-120"/>
              </a:rPr>
              <a:t> — is her phone on the network right now? Nothing else.</a:t>
            </a:r>
            <a:endParaRPr lang="en-US" sz="1133" dirty="0"/>
          </a:p>
        </p:txBody>
      </p:sp>
      <p:sp>
        <p:nvSpPr>
          <p:cNvPr id="16" name="Shape 14"/>
          <p:cNvSpPr/>
          <p:nvPr/>
        </p:nvSpPr>
        <p:spPr>
          <a:xfrm>
            <a:off x="7550086" y="2060935"/>
            <a:ext cx="1384266" cy="3543283"/>
          </a:xfrm>
          <a:prstGeom prst="roundRect">
            <a:avLst>
              <a:gd name="adj" fmla="val 5046"/>
            </a:avLst>
          </a:prstGeom>
          <a:solidFill>
            <a:srgbClr val="132A2A"/>
          </a:solidFill>
          <a:ln w="12700">
            <a:solidFill>
              <a:srgbClr val="2BB3A0"/>
            </a:solidFill>
            <a:prstDash val="solid"/>
          </a:ln>
        </p:spPr>
        <p:txBody>
          <a:bodyPr/>
          <a:lstStyle/>
          <a:p>
            <a:endParaRPr lang="en-US"/>
          </a:p>
        </p:txBody>
      </p:sp>
      <p:sp>
        <p:nvSpPr>
          <p:cNvPr id="17" name="Text 15"/>
          <p:cNvSpPr/>
          <p:nvPr/>
        </p:nvSpPr>
        <p:spPr>
          <a:xfrm>
            <a:off x="7668768" y="2179613"/>
            <a:ext cx="1197702" cy="238636"/>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2BB3A0"/>
                </a:solidFill>
                <a:latin typeface="IBM Plex Sans" pitchFamily="34" charset="0"/>
                <a:ea typeface="IBM Plex Sans" pitchFamily="34" charset="-122"/>
                <a:cs typeface="IBM Plex Sans" pitchFamily="34" charset="-120"/>
              </a:rPr>
              <a:t>POLICY</a:t>
            </a:r>
            <a:endParaRPr lang="en-US" sz="1200" dirty="0"/>
          </a:p>
        </p:txBody>
      </p:sp>
      <p:sp>
        <p:nvSpPr>
          <p:cNvPr id="18" name="Text 16"/>
          <p:cNvSpPr/>
          <p:nvPr/>
        </p:nvSpPr>
        <p:spPr>
          <a:xfrm>
            <a:off x="7668768" y="2456334"/>
            <a:ext cx="1197702" cy="146508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F6F5F0"/>
                </a:solidFill>
                <a:latin typeface="IBM Plex Sans" pitchFamily="34" charset="0"/>
                <a:ea typeface="IBM Plex Sans" pitchFamily="34" charset="-122"/>
                <a:cs typeface="IBM Plex Sans" pitchFamily="34" charset="-120"/>
              </a:rPr>
              <a:t>Reachable → reset. Unreachable under 4 h → count. 4 h → escalate, one step at a time.</a:t>
            </a:r>
            <a:endParaRPr lang="en-US" sz="1200" dirty="0"/>
          </a:p>
        </p:txBody>
      </p:sp>
      <p:sp>
        <p:nvSpPr>
          <p:cNvPr id="19" name="Shape 17"/>
          <p:cNvSpPr/>
          <p:nvPr/>
        </p:nvSpPr>
        <p:spPr>
          <a:xfrm>
            <a:off x="9201069" y="2060935"/>
            <a:ext cx="2171626" cy="1511233"/>
          </a:xfrm>
          <a:prstGeom prst="roundRect">
            <a:avLst>
              <a:gd name="adj" fmla="val 4622"/>
            </a:avLst>
          </a:prstGeom>
          <a:solidFill>
            <a:srgbClr val="0E1726"/>
          </a:solidFill>
          <a:ln w="12700">
            <a:solidFill>
              <a:srgbClr val="2BB3A0"/>
            </a:solidFill>
            <a:prstDash val="solid"/>
          </a:ln>
        </p:spPr>
        <p:txBody>
          <a:bodyPr/>
          <a:lstStyle/>
          <a:p>
            <a:endParaRPr lang="en-US"/>
          </a:p>
        </p:txBody>
      </p:sp>
      <p:sp>
        <p:nvSpPr>
          <p:cNvPr id="20" name="Text 18"/>
          <p:cNvSpPr/>
          <p:nvPr/>
        </p:nvSpPr>
        <p:spPr>
          <a:xfrm>
            <a:off x="9319752" y="2179613"/>
            <a:ext cx="1992289" cy="238636"/>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2BB3A0"/>
                </a:solidFill>
                <a:latin typeface="IBM Plex Sans" pitchFamily="34" charset="0"/>
                <a:ea typeface="IBM Plex Sans" pitchFamily="34" charset="-122"/>
                <a:cs typeface="IBM Plex Sans" pitchFamily="34" charset="-120"/>
              </a:rPr>
              <a:t>REACHABLE</a:t>
            </a:r>
            <a:endParaRPr lang="en-US" sz="1200" dirty="0"/>
          </a:p>
        </p:txBody>
      </p:sp>
      <p:sp>
        <p:nvSpPr>
          <p:cNvPr id="21" name="Text 19"/>
          <p:cNvSpPr/>
          <p:nvPr/>
        </p:nvSpPr>
        <p:spPr>
          <a:xfrm>
            <a:off x="9319752" y="2443640"/>
            <a:ext cx="1992289" cy="848075"/>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F6F5F0"/>
                </a:solidFill>
                <a:latin typeface="IBM Plex Sans" pitchFamily="34" charset="0"/>
                <a:ea typeface="IBM Plex Sans" pitchFamily="34" charset="-122"/>
                <a:cs typeface="IBM Plex Sans" pitchFamily="34" charset="-120"/>
              </a:rPr>
              <a:t>Nothing happens. Nobody is told. If Mom asks her Alexa: "Your phone has been on the network all day."</a:t>
            </a:r>
            <a:endParaRPr lang="en-US" sz="1200" dirty="0"/>
          </a:p>
        </p:txBody>
      </p:sp>
      <p:sp>
        <p:nvSpPr>
          <p:cNvPr id="22" name="Shape 20"/>
          <p:cNvSpPr/>
          <p:nvPr/>
        </p:nvSpPr>
        <p:spPr>
          <a:xfrm>
            <a:off x="9201069" y="3965848"/>
            <a:ext cx="2171626" cy="1638283"/>
          </a:xfrm>
          <a:prstGeom prst="roundRect">
            <a:avLst>
              <a:gd name="adj" fmla="val 4264"/>
            </a:avLst>
          </a:prstGeom>
          <a:solidFill>
            <a:srgbClr val="0E1726"/>
          </a:solidFill>
          <a:ln w="12700">
            <a:solidFill>
              <a:srgbClr val="E8A33D"/>
            </a:solidFill>
            <a:prstDash val="solid"/>
          </a:ln>
        </p:spPr>
        <p:txBody>
          <a:bodyPr/>
          <a:lstStyle/>
          <a:p>
            <a:endParaRPr lang="en-US"/>
          </a:p>
        </p:txBody>
      </p:sp>
      <p:sp>
        <p:nvSpPr>
          <p:cNvPr id="23" name="Text 21"/>
          <p:cNvSpPr/>
          <p:nvPr/>
        </p:nvSpPr>
        <p:spPr>
          <a:xfrm>
            <a:off x="9319752" y="4084532"/>
            <a:ext cx="1992289" cy="224258"/>
          </a:xfrm>
          <a:prstGeom prst="rect">
            <a:avLst/>
          </a:prstGeom>
          <a:noFill/>
          <a:ln/>
        </p:spPr>
        <p:txBody>
          <a:bodyPr wrap="square" lIns="0" tIns="0" rIns="0" bIns="0" rtlCol="0" anchor="t">
            <a:normAutofit/>
          </a:bodyPr>
          <a:lstStyle/>
          <a:p>
            <a:pPr marL="0" indent="0" algn="l">
              <a:lnSpc>
                <a:spcPts val="1575"/>
              </a:lnSpc>
              <a:buNone/>
            </a:pPr>
            <a:r>
              <a:rPr lang="en-US" sz="1125" b="1" kern="0" spc="50" dirty="0">
                <a:solidFill>
                  <a:srgbClr val="E8A33D"/>
                </a:solidFill>
                <a:latin typeface="IBM Plex Sans" pitchFamily="34" charset="0"/>
                <a:ea typeface="IBM Plex Sans" pitchFamily="34" charset="-122"/>
                <a:cs typeface="IBM Plex Sans" pitchFamily="34" charset="-120"/>
              </a:rPr>
              <a:t>4 HOURS DARK</a:t>
            </a:r>
            <a:endParaRPr lang="en-US" sz="1125" dirty="0"/>
          </a:p>
        </p:txBody>
      </p:sp>
      <p:sp>
        <p:nvSpPr>
          <p:cNvPr id="24" name="Text 22"/>
          <p:cNvSpPr/>
          <p:nvPr/>
        </p:nvSpPr>
        <p:spPr>
          <a:xfrm>
            <a:off x="9319752" y="4334179"/>
            <a:ext cx="1992289" cy="1176674"/>
          </a:xfrm>
          <a:prstGeom prst="rect">
            <a:avLst/>
          </a:prstGeom>
          <a:noFill/>
          <a:ln/>
        </p:spPr>
        <p:txBody>
          <a:bodyPr wrap="square" lIns="0" tIns="0" rIns="0" bIns="0" rtlCol="0" anchor="t">
            <a:normAutofit/>
          </a:bodyPr>
          <a:lstStyle/>
          <a:p>
            <a:pPr marL="0" indent="0" algn="l">
              <a:lnSpc>
                <a:spcPts val="1509"/>
              </a:lnSpc>
              <a:buNone/>
            </a:pPr>
            <a:r>
              <a:rPr lang="en-US" sz="1118" dirty="0">
                <a:solidFill>
                  <a:srgbClr val="F6F5F0"/>
                </a:solidFill>
                <a:latin typeface="IBM Plex Sans" pitchFamily="34" charset="0"/>
                <a:ea typeface="IBM Plex Sans" pitchFamily="34" charset="-122"/>
                <a:cs typeface="IBM Plex Sans" pitchFamily="34" charset="-120"/>
              </a:rPr>
              <a:t>SMS to you: "Mom's phone has been off the network since 11:10 — unreachable, not unwell." No reply in 15 min → Priya gets the same text.</a:t>
            </a:r>
            <a:endParaRPr lang="en-US" sz="1118" dirty="0"/>
          </a:p>
        </p:txBody>
      </p:sp>
      <p:sp>
        <p:nvSpPr>
          <p:cNvPr id="25" name="Text 23"/>
          <p:cNvSpPr/>
          <p:nvPr/>
        </p:nvSpPr>
        <p:spPr>
          <a:xfrm>
            <a:off x="815928" y="5169191"/>
            <a:ext cx="6470617" cy="438116"/>
          </a:xfrm>
          <a:prstGeom prst="roundRect">
            <a:avLst>
              <a:gd name="adj" fmla="val 16668"/>
            </a:avLst>
          </a:prstGeom>
          <a:solidFill>
            <a:srgbClr val="3A1F1F"/>
          </a:solidFill>
          <a:ln w="6350">
            <a:solidFill>
              <a:srgbClr val="C57B7B"/>
            </a:solidFill>
            <a:prstDash val="solid"/>
          </a:ln>
        </p:spPr>
        <p:txBody>
          <a:bodyPr wrap="square" lIns="95088" tIns="0" rIns="0" bIns="0" rtlCol="0" anchor="ctr">
            <a:normAutofit/>
          </a:bodyPr>
          <a:lstStyle/>
          <a:p>
            <a:pPr marL="0" indent="0" algn="l">
              <a:lnSpc>
                <a:spcPts val="1560"/>
              </a:lnSpc>
              <a:buNone/>
            </a:pPr>
            <a:r>
              <a:rPr lang="en-US" sz="1200" dirty="0">
                <a:solidFill>
                  <a:srgbClr val="F6F5F0"/>
                </a:solidFill>
                <a:latin typeface="IBM Plex Sans" pitchFamily="34" charset="0"/>
                <a:ea typeface="IBM Plex Sans" pitchFamily="34" charset="-122"/>
                <a:cs typeface="IBM Plex Sans" pitchFamily="34" charset="-120"/>
              </a:rPr>
              <a:t>This measures the phone, not the person. A flat battery looks the same. It ships only paired with an activity signal — never as fall detection.</a:t>
            </a:r>
            <a:endParaRPr lang="en-US" sz="1200" dirty="0"/>
          </a:p>
        </p:txBody>
      </p:sp>
      <p:pic>
        <p:nvPicPr>
          <p:cNvPr id="26" name="Image 0" descr="connector"/>
          <p:cNvPicPr>
            <a:picLocks noChangeAspect="1"/>
          </p:cNvPicPr>
          <p:nvPr/>
        </p:nvPicPr>
        <p:blipFill>
          <a:blip r:embed="rId3"/>
          <a:srcRect l="-12" r="-12"/>
          <a:stretch/>
        </p:blipFill>
        <p:spPr>
          <a:xfrm>
            <a:off x="2666882" y="2765760"/>
            <a:ext cx="355590" cy="101573"/>
          </a:xfrm>
          <a:prstGeom prst="rect">
            <a:avLst/>
          </a:prstGeom>
        </p:spPr>
      </p:pic>
      <p:pic>
        <p:nvPicPr>
          <p:cNvPr id="27" name="Image 1" descr="connector"/>
          <p:cNvPicPr>
            <a:picLocks noChangeAspect="1"/>
          </p:cNvPicPr>
          <p:nvPr/>
        </p:nvPicPr>
        <p:blipFill>
          <a:blip r:embed="rId3"/>
          <a:srcRect l="-12" r="-12"/>
          <a:stretch/>
        </p:blipFill>
        <p:spPr>
          <a:xfrm>
            <a:off x="4825899" y="2765760"/>
            <a:ext cx="355590" cy="101573"/>
          </a:xfrm>
          <a:prstGeom prst="rect">
            <a:avLst/>
          </a:prstGeom>
        </p:spPr>
      </p:pic>
      <p:pic>
        <p:nvPicPr>
          <p:cNvPr id="28" name="Image 2" descr="connector"/>
          <p:cNvPicPr>
            <a:picLocks noChangeAspect="1"/>
          </p:cNvPicPr>
          <p:nvPr/>
        </p:nvPicPr>
        <p:blipFill>
          <a:blip r:embed="rId3"/>
          <a:srcRect l="-12" r="-12"/>
          <a:stretch/>
        </p:blipFill>
        <p:spPr>
          <a:xfrm>
            <a:off x="7238933" y="2765760"/>
            <a:ext cx="355590" cy="101573"/>
          </a:xfrm>
          <a:prstGeom prst="rect">
            <a:avLst/>
          </a:prstGeom>
        </p:spPr>
      </p:pic>
      <p:pic>
        <p:nvPicPr>
          <p:cNvPr id="29" name="Image 3" descr="connector"/>
          <p:cNvPicPr>
            <a:picLocks noChangeAspect="1"/>
          </p:cNvPicPr>
          <p:nvPr/>
        </p:nvPicPr>
        <p:blipFill>
          <a:blip r:embed="rId4"/>
          <a:srcRect t="-9" b="-9"/>
          <a:stretch/>
        </p:blipFill>
        <p:spPr>
          <a:xfrm>
            <a:off x="6159383" y="3527729"/>
            <a:ext cx="101573" cy="482556"/>
          </a:xfrm>
          <a:prstGeom prst="rect">
            <a:avLst/>
          </a:prstGeom>
        </p:spPr>
      </p:pic>
      <p:pic>
        <p:nvPicPr>
          <p:cNvPr id="30" name="Image 4" descr="connector"/>
          <p:cNvPicPr>
            <a:picLocks noChangeAspect="1"/>
          </p:cNvPicPr>
          <p:nvPr/>
        </p:nvPicPr>
        <p:blipFill>
          <a:blip r:embed="rId3"/>
          <a:srcRect l="-12" r="-12"/>
          <a:stretch/>
        </p:blipFill>
        <p:spPr>
          <a:xfrm>
            <a:off x="8889916" y="2765760"/>
            <a:ext cx="355590" cy="101573"/>
          </a:xfrm>
          <a:prstGeom prst="rect">
            <a:avLst/>
          </a:prstGeom>
        </p:spPr>
      </p:pic>
      <p:pic>
        <p:nvPicPr>
          <p:cNvPr id="31" name="Image 5" descr="connector"/>
          <p:cNvPicPr>
            <a:picLocks noChangeAspect="1"/>
          </p:cNvPicPr>
          <p:nvPr/>
        </p:nvPicPr>
        <p:blipFill>
          <a:blip r:embed="rId5"/>
          <a:srcRect l="-12" r="-12"/>
          <a:stretch/>
        </p:blipFill>
        <p:spPr>
          <a:xfrm>
            <a:off x="8889916" y="4734247"/>
            <a:ext cx="355590" cy="101573"/>
          </a:xfrm>
          <a:prstGeom prst="rect">
            <a:avLst/>
          </a:prstGeom>
        </p:spPr>
      </p:pic>
      <p:sp>
        <p:nvSpPr>
          <p:cNvPr id="32" name="Text 24"/>
          <p:cNvSpPr/>
          <p:nvPr/>
        </p:nvSpPr>
        <p:spPr>
          <a:xfrm>
            <a:off x="812753" y="6238335"/>
            <a:ext cx="11379247" cy="23863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583"/>
                </a:solidFill>
                <a:latin typeface="IBM Plex Sans" pitchFamily="34" charset="0"/>
                <a:ea typeface="IBM Plex Sans" pitchFamily="34" charset="-122"/>
                <a:cs typeface="IBM Plex Sans" pitchFamily="34" charset="-120"/>
              </a:rPr>
              <a:t>Kept as a roadmap item because the mechanism is sound and the wording is honest; not in the video because a dead battery would make the neighbour knock.</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726"/>
        </a:solidFill>
        <a:effectLst/>
      </p:bgPr>
    </p:bg>
    <p:spTree>
      <p:nvGrpSpPr>
        <p:cNvPr id="1" name=""/>
        <p:cNvGrpSpPr/>
        <p:nvPr/>
      </p:nvGrpSpPr>
      <p:grpSpPr>
        <a:xfrm>
          <a:off x="0" y="0"/>
          <a:ext cx="0" cy="0"/>
          <a:chOff x="0" y="0"/>
          <a:chExt cx="0" cy="0"/>
        </a:xfrm>
      </p:grpSpPr>
      <p:sp>
        <p:nvSpPr>
          <p:cNvPr id="2" name="Text 0"/>
          <p:cNvSpPr/>
          <p:nvPr/>
        </p:nvSpPr>
        <p:spPr>
          <a:xfrm>
            <a:off x="812753" y="812750"/>
            <a:ext cx="10883454" cy="256546"/>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B3A0"/>
                </a:solidFill>
                <a:latin typeface="IBM Plex Sans" pitchFamily="34" charset="0"/>
                <a:ea typeface="IBM Plex Sans" pitchFamily="34" charset="-122"/>
                <a:cs typeface="IBM Plex Sans" pitchFamily="34" charset="-120"/>
              </a:rPr>
              <a:t>HOW TOWER DOES IT · 3 OF 3 — THE CLOSING STORY</a:t>
            </a:r>
            <a:endParaRPr lang="en-US" sz="1300" dirty="0"/>
          </a:p>
        </p:txBody>
      </p:sp>
      <p:sp>
        <p:nvSpPr>
          <p:cNvPr id="3" name="Text 1"/>
          <p:cNvSpPr>
            <a:spLocks noGrp="1"/>
          </p:cNvSpPr>
          <p:nvPr>
            <p:ph type="title"/>
          </p:nvPr>
        </p:nvSpPr>
        <p:spPr>
          <a:xfrm>
            <a:off x="812753" y="1094680"/>
            <a:ext cx="10883454" cy="807546"/>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F6F5F0"/>
                </a:solidFill>
                <a:latin typeface="IBM Plex Sans" pitchFamily="34" charset="0"/>
                <a:ea typeface="IBM Plex Sans" pitchFamily="34" charset="-122"/>
                <a:cs typeface="IBM Plex Sans" pitchFamily="34" charset="-120"/>
              </a:rPr>
              <a:t>Transplant-list readiness — your own line, confirmed instead of hoped</a:t>
            </a:r>
            <a:endParaRPr lang="en-US" sz="2800" dirty="0"/>
          </a:p>
        </p:txBody>
      </p:sp>
      <p:sp>
        <p:nvSpPr>
          <p:cNvPr id="4" name="Shape 2"/>
          <p:cNvSpPr/>
          <p:nvPr/>
        </p:nvSpPr>
        <p:spPr>
          <a:xfrm>
            <a:off x="815928" y="2057760"/>
            <a:ext cx="1898566" cy="1517583"/>
          </a:xfrm>
          <a:prstGeom prst="roundRect">
            <a:avLst>
              <a:gd name="adj" fmla="val 4812"/>
            </a:avLst>
          </a:prstGeom>
          <a:solidFill>
            <a:srgbClr val="17233A"/>
          </a:solidFill>
          <a:ln w="6350">
            <a:solidFill>
              <a:srgbClr val="2E3B4E"/>
            </a:solidFill>
            <a:prstDash val="solid"/>
          </a:ln>
        </p:spPr>
        <p:txBody>
          <a:bodyPr/>
          <a:lstStyle/>
          <a:p>
            <a:endParaRPr lang="en-US"/>
          </a:p>
        </p:txBody>
      </p:sp>
      <p:sp>
        <p:nvSpPr>
          <p:cNvPr id="5" name="Text 3"/>
          <p:cNvSpPr/>
          <p:nvPr/>
        </p:nvSpPr>
        <p:spPr>
          <a:xfrm>
            <a:off x="932404" y="2174236"/>
            <a:ext cx="1716414" cy="184486"/>
          </a:xfrm>
          <a:prstGeom prst="rect">
            <a:avLst/>
          </a:prstGeom>
          <a:noFill/>
          <a:ln/>
        </p:spPr>
        <p:txBody>
          <a:bodyPr wrap="square" lIns="0" tIns="0" rIns="0" bIns="0" rtlCol="0" anchor="t">
            <a:normAutofit/>
          </a:bodyPr>
          <a:lstStyle/>
          <a:p>
            <a:pPr marL="0" indent="0" algn="l">
              <a:lnSpc>
                <a:spcPts val="1270"/>
              </a:lnSpc>
              <a:buNone/>
            </a:pPr>
            <a:r>
              <a:rPr lang="en-US" sz="907" b="1" kern="0" spc="50" dirty="0">
                <a:solidFill>
                  <a:srgbClr val="E8A33D"/>
                </a:solidFill>
                <a:latin typeface="IBM Plex Sans" pitchFamily="34" charset="0"/>
                <a:ea typeface="IBM Plex Sans" pitchFamily="34" charset="-122"/>
                <a:cs typeface="IBM Plex Sans" pitchFamily="34" charset="-120"/>
              </a:rPr>
              <a:t>TRIGGER</a:t>
            </a:r>
            <a:endParaRPr lang="en-US" sz="907" dirty="0"/>
          </a:p>
        </p:txBody>
      </p:sp>
      <p:sp>
        <p:nvSpPr>
          <p:cNvPr id="6" name="Text 4"/>
          <p:cNvSpPr/>
          <p:nvPr/>
        </p:nvSpPr>
        <p:spPr>
          <a:xfrm>
            <a:off x="932404" y="2384109"/>
            <a:ext cx="1716414" cy="1100158"/>
          </a:xfrm>
          <a:prstGeom prst="rect">
            <a:avLst/>
          </a:prstGeom>
          <a:noFill/>
          <a:ln/>
        </p:spPr>
        <p:txBody>
          <a:bodyPr wrap="square" lIns="0" tIns="0" rIns="0" bIns="0" rtlCol="0" anchor="t">
            <a:normAutofit/>
          </a:bodyPr>
          <a:lstStyle/>
          <a:p>
            <a:pPr marL="0" indent="0" algn="l">
              <a:lnSpc>
                <a:spcPts val="1418"/>
              </a:lnSpc>
              <a:buNone/>
            </a:pPr>
            <a:r>
              <a:rPr lang="en-US" sz="1050" dirty="0">
                <a:solidFill>
                  <a:srgbClr val="F6F5F0"/>
                </a:solidFill>
                <a:latin typeface="IBM Plex Sans" pitchFamily="34" charset="0"/>
                <a:ea typeface="IBM Plex Sans" pitchFamily="34" charset="-122"/>
                <a:cs typeface="IBM Plex Sans" pitchFamily="34" charset="-120"/>
              </a:rPr>
              <a:t>The carrier's reachability subscription — event-driven — with a 5-minute poll as fallback. Plus on demand: "Alexa, am I reachable?"</a:t>
            </a:r>
            <a:endParaRPr lang="en-US" sz="1050" dirty="0"/>
          </a:p>
        </p:txBody>
      </p:sp>
      <p:sp>
        <p:nvSpPr>
          <p:cNvPr id="7" name="Shape 5"/>
          <p:cNvSpPr/>
          <p:nvPr/>
        </p:nvSpPr>
        <p:spPr>
          <a:xfrm>
            <a:off x="2978036" y="2060935"/>
            <a:ext cx="1892216" cy="1511233"/>
          </a:xfrm>
          <a:prstGeom prst="roundRect">
            <a:avLst>
              <a:gd name="adj" fmla="val 4622"/>
            </a:avLst>
          </a:prstGeom>
          <a:solidFill>
            <a:srgbClr val="17233A"/>
          </a:solidFill>
          <a:ln w="12700">
            <a:solidFill>
              <a:srgbClr val="E8A33D"/>
            </a:solidFill>
            <a:prstDash val="solid"/>
          </a:ln>
        </p:spPr>
        <p:txBody>
          <a:bodyPr/>
          <a:lstStyle/>
          <a:p>
            <a:endParaRPr lang="en-US"/>
          </a:p>
        </p:txBody>
      </p:sp>
      <p:sp>
        <p:nvSpPr>
          <p:cNvPr id="8" name="Text 6"/>
          <p:cNvSpPr/>
          <p:nvPr/>
        </p:nvSpPr>
        <p:spPr>
          <a:xfrm>
            <a:off x="3096718" y="2179613"/>
            <a:ext cx="1705651" cy="205507"/>
          </a:xfrm>
          <a:prstGeom prst="rect">
            <a:avLst/>
          </a:prstGeom>
          <a:noFill/>
          <a:ln/>
        </p:spPr>
        <p:txBody>
          <a:bodyPr wrap="square" lIns="0" tIns="0" rIns="0" bIns="0" rtlCol="0" anchor="t">
            <a:normAutofit/>
          </a:bodyPr>
          <a:lstStyle/>
          <a:p>
            <a:pPr marL="0" indent="0" algn="l">
              <a:lnSpc>
                <a:spcPts val="1423"/>
              </a:lnSpc>
              <a:buNone/>
            </a:pPr>
            <a:r>
              <a:rPr lang="en-US" sz="1016" b="1" kern="0" spc="50" dirty="0">
                <a:solidFill>
                  <a:srgbClr val="E8A33D"/>
                </a:solidFill>
                <a:latin typeface="IBM Plex Sans" pitchFamily="34" charset="0"/>
                <a:ea typeface="IBM Plex Sans" pitchFamily="34" charset="-122"/>
                <a:cs typeface="IBM Plex Sans" pitchFamily="34" charset="-120"/>
              </a:rPr>
              <a:t>CONSENT GATE</a:t>
            </a:r>
            <a:endParaRPr lang="en-US" sz="1016" dirty="0"/>
          </a:p>
        </p:txBody>
      </p:sp>
      <p:sp>
        <p:nvSpPr>
          <p:cNvPr id="9" name="Text 7"/>
          <p:cNvSpPr/>
          <p:nvPr/>
        </p:nvSpPr>
        <p:spPr>
          <a:xfrm>
            <a:off x="3096718" y="2410507"/>
            <a:ext cx="1705651" cy="1068374"/>
          </a:xfrm>
          <a:prstGeom prst="rect">
            <a:avLst/>
          </a:prstGeom>
          <a:noFill/>
          <a:ln/>
        </p:spPr>
        <p:txBody>
          <a:bodyPr wrap="square" lIns="0" tIns="0" rIns="0" bIns="0" rtlCol="0" anchor="t">
            <a:normAutofit/>
          </a:bodyPr>
          <a:lstStyle/>
          <a:p>
            <a:pPr marL="0" indent="0" algn="l">
              <a:lnSpc>
                <a:spcPts val="1478"/>
              </a:lnSpc>
              <a:buNone/>
            </a:pPr>
            <a:r>
              <a:rPr lang="en-US" sz="1095" dirty="0">
                <a:solidFill>
                  <a:srgbClr val="F6F5F0"/>
                </a:solidFill>
                <a:latin typeface="IBM Plex Sans" pitchFamily="34" charset="0"/>
                <a:ea typeface="IBM Plex Sans" pitchFamily="34" charset="-122"/>
                <a:cs typeface="IBM Plex Sans" pitchFamily="34" charset="-120"/>
              </a:rPr>
              <a:t>Your own line, bound once on your phone. One backup named — your partner, who is already the centre's alternate contact.</a:t>
            </a:r>
            <a:endParaRPr lang="en-US" sz="1095" dirty="0"/>
          </a:p>
        </p:txBody>
      </p:sp>
      <p:sp>
        <p:nvSpPr>
          <p:cNvPr id="10" name="Shape 8"/>
          <p:cNvSpPr/>
          <p:nvPr/>
        </p:nvSpPr>
        <p:spPr>
          <a:xfrm>
            <a:off x="5130703" y="2054585"/>
            <a:ext cx="2158933" cy="1523933"/>
          </a:xfrm>
          <a:prstGeom prst="roundRect">
            <a:avLst>
              <a:gd name="adj" fmla="val 5000"/>
            </a:avLst>
          </a:prstGeom>
          <a:solidFill>
            <a:srgbClr val="2BB3A0"/>
          </a:solidFill>
          <a:ln/>
        </p:spPr>
        <p:txBody>
          <a:bodyPr/>
          <a:lstStyle/>
          <a:p>
            <a:endParaRPr lang="en-US"/>
          </a:p>
        </p:txBody>
      </p:sp>
      <p:sp>
        <p:nvSpPr>
          <p:cNvPr id="11" name="Text 9"/>
          <p:cNvSpPr/>
          <p:nvPr/>
        </p:nvSpPr>
        <p:spPr>
          <a:xfrm>
            <a:off x="5244972" y="2168854"/>
            <a:ext cx="1988305" cy="208702"/>
          </a:xfrm>
          <a:prstGeom prst="rect">
            <a:avLst/>
          </a:prstGeom>
          <a:noFill/>
          <a:ln/>
        </p:spPr>
        <p:txBody>
          <a:bodyPr wrap="square" lIns="0" tIns="0" rIns="0" bIns="0" rtlCol="0" anchor="t">
            <a:normAutofit/>
          </a:bodyPr>
          <a:lstStyle/>
          <a:p>
            <a:pPr marL="0" indent="0" algn="l">
              <a:lnSpc>
                <a:spcPts val="1470"/>
              </a:lnSpc>
              <a:buNone/>
            </a:pPr>
            <a:r>
              <a:rPr lang="en-US" sz="1050" b="1" kern="0" spc="50" dirty="0">
                <a:solidFill>
                  <a:srgbClr val="0E1726"/>
                </a:solidFill>
                <a:latin typeface="IBM Plex Sans" pitchFamily="34" charset="0"/>
                <a:ea typeface="IBM Plex Sans" pitchFamily="34" charset="-122"/>
                <a:cs typeface="IBM Plex Sans" pitchFamily="34" charset="-120"/>
              </a:rPr>
              <a:t>TOWER</a:t>
            </a:r>
            <a:endParaRPr lang="en-US" sz="1050" dirty="0"/>
          </a:p>
        </p:txBody>
      </p:sp>
      <p:sp>
        <p:nvSpPr>
          <p:cNvPr id="12" name="Text 10"/>
          <p:cNvSpPr/>
          <p:nvPr/>
        </p:nvSpPr>
        <p:spPr>
          <a:xfrm>
            <a:off x="5244972" y="2402942"/>
            <a:ext cx="1988305" cy="1086704"/>
          </a:xfrm>
          <a:prstGeom prst="rect">
            <a:avLst/>
          </a:prstGeom>
          <a:noFill/>
          <a:ln/>
        </p:spPr>
        <p:txBody>
          <a:bodyPr wrap="square" lIns="0" tIns="0" rIns="0" bIns="0" rtlCol="0" anchor="t">
            <a:normAutofit/>
          </a:bodyPr>
          <a:lstStyle/>
          <a:p>
            <a:pPr marL="0" indent="0" algn="l">
              <a:lnSpc>
                <a:spcPts val="1590"/>
              </a:lnSpc>
              <a:buNone/>
            </a:pPr>
            <a:r>
              <a:rPr lang="en-US" sz="1177" dirty="0">
                <a:solidFill>
                  <a:srgbClr val="0E1726"/>
                </a:solidFill>
                <a:latin typeface="IBM Plex Sans" pitchFamily="34" charset="0"/>
                <a:ea typeface="IBM Plex Sans" pitchFamily="34" charset="-122"/>
                <a:cs typeface="IBM Plex Sans" pitchFamily="34" charset="-120"/>
              </a:rPr>
              <a:t>Watches the same yes/no continuously. Twenty minutes of "no" is the threshold — short, because the call it protects can't wait.</a:t>
            </a:r>
            <a:endParaRPr lang="en-US" sz="1177" dirty="0"/>
          </a:p>
        </p:txBody>
      </p:sp>
      <p:sp>
        <p:nvSpPr>
          <p:cNvPr id="13" name="Shape 11"/>
          <p:cNvSpPr/>
          <p:nvPr/>
        </p:nvSpPr>
        <p:spPr>
          <a:xfrm>
            <a:off x="5133878" y="3962673"/>
            <a:ext cx="2152583" cy="1009633"/>
          </a:xfrm>
          <a:prstGeom prst="roundRect">
            <a:avLst>
              <a:gd name="adj" fmla="val 7233"/>
            </a:avLst>
          </a:prstGeom>
          <a:solidFill>
            <a:srgbClr val="0E1726"/>
          </a:solidFill>
          <a:ln w="6350">
            <a:solidFill>
              <a:srgbClr val="2E3B4E"/>
            </a:solidFill>
            <a:prstDash val="solid"/>
          </a:ln>
        </p:spPr>
        <p:txBody>
          <a:bodyPr/>
          <a:lstStyle/>
          <a:p>
            <a:endParaRPr lang="en-US"/>
          </a:p>
        </p:txBody>
      </p:sp>
      <p:sp>
        <p:nvSpPr>
          <p:cNvPr id="14" name="Text 12"/>
          <p:cNvSpPr/>
          <p:nvPr/>
        </p:nvSpPr>
        <p:spPr>
          <a:xfrm>
            <a:off x="5237657" y="4066456"/>
            <a:ext cx="2003375" cy="187429"/>
          </a:xfrm>
          <a:prstGeom prst="rect">
            <a:avLst/>
          </a:prstGeom>
          <a:noFill/>
          <a:ln/>
        </p:spPr>
        <p:txBody>
          <a:bodyPr wrap="square" lIns="0" tIns="0" rIns="0" bIns="0" rtlCol="0" anchor="t">
            <a:normAutofit/>
          </a:bodyPr>
          <a:lstStyle/>
          <a:p>
            <a:pPr marL="0" indent="0" algn="l">
              <a:lnSpc>
                <a:spcPts val="1323"/>
              </a:lnSpc>
              <a:buNone/>
            </a:pPr>
            <a:r>
              <a:rPr lang="en-US" sz="945" b="1" dirty="0">
                <a:solidFill>
                  <a:srgbClr val="B9C4D0"/>
                </a:solidFill>
                <a:latin typeface="IBM Plex Sans" pitchFamily="34" charset="0"/>
                <a:ea typeface="IBM Plex Sans" pitchFamily="34" charset="-122"/>
                <a:cs typeface="IBM Plex Sans" pitchFamily="34" charset="-120"/>
              </a:rPr>
              <a:t>Carrier · CAMARA</a:t>
            </a:r>
            <a:endParaRPr lang="en-US" sz="945" dirty="0"/>
          </a:p>
        </p:txBody>
      </p:sp>
      <p:sp>
        <p:nvSpPr>
          <p:cNvPr id="15" name="Text 13"/>
          <p:cNvSpPr/>
          <p:nvPr/>
        </p:nvSpPr>
        <p:spPr>
          <a:xfrm>
            <a:off x="5237657" y="4266574"/>
            <a:ext cx="2003375" cy="627355"/>
          </a:xfrm>
          <a:prstGeom prst="rect">
            <a:avLst/>
          </a:prstGeom>
          <a:noFill/>
          <a:ln/>
        </p:spPr>
        <p:txBody>
          <a:bodyPr wrap="square" lIns="0" tIns="0" rIns="0" bIns="0" rtlCol="0" anchor="t">
            <a:normAutofit/>
          </a:bodyPr>
          <a:lstStyle/>
          <a:p>
            <a:pPr marL="0" indent="0" algn="l">
              <a:lnSpc>
                <a:spcPts val="1238"/>
              </a:lnSpc>
              <a:buNone/>
            </a:pPr>
            <a:r>
              <a:rPr lang="en-US" sz="953" b="1" dirty="0">
                <a:solidFill>
                  <a:srgbClr val="B9C4D0"/>
                </a:solidFill>
                <a:latin typeface="IBM Plex Sans" pitchFamily="34" charset="0"/>
                <a:ea typeface="IBM Plex Sans" pitchFamily="34" charset="-122"/>
                <a:cs typeface="IBM Plex Sans" pitchFamily="34" charset="-120"/>
              </a:rPr>
              <a:t>Device Reachability Status</a:t>
            </a:r>
            <a:r>
              <a:rPr lang="en-US" sz="953" dirty="0">
                <a:solidFill>
                  <a:srgbClr val="B9C4D0"/>
                </a:solidFill>
                <a:latin typeface="IBM Plex Sans" pitchFamily="34" charset="0"/>
                <a:ea typeface="IBM Plex Sans" pitchFamily="34" charset="-122"/>
                <a:cs typeface="IBM Plex Sans" pitchFamily="34" charset="-120"/>
              </a:rPr>
              <a:t> + its subscription. The transplant centre is never called, queried, or involved.</a:t>
            </a:r>
            <a:endParaRPr lang="en-US" sz="953" dirty="0"/>
          </a:p>
        </p:txBody>
      </p:sp>
      <p:sp>
        <p:nvSpPr>
          <p:cNvPr id="16" name="Shape 14"/>
          <p:cNvSpPr/>
          <p:nvPr/>
        </p:nvSpPr>
        <p:spPr>
          <a:xfrm>
            <a:off x="7550086" y="2060935"/>
            <a:ext cx="1384266" cy="3543283"/>
          </a:xfrm>
          <a:prstGeom prst="roundRect">
            <a:avLst>
              <a:gd name="adj" fmla="val 5046"/>
            </a:avLst>
          </a:prstGeom>
          <a:solidFill>
            <a:srgbClr val="132A2A"/>
          </a:solidFill>
          <a:ln w="12700">
            <a:solidFill>
              <a:srgbClr val="2BB3A0"/>
            </a:solidFill>
            <a:prstDash val="solid"/>
          </a:ln>
        </p:spPr>
        <p:txBody>
          <a:bodyPr/>
          <a:lstStyle/>
          <a:p>
            <a:endParaRPr lang="en-US"/>
          </a:p>
        </p:txBody>
      </p:sp>
      <p:sp>
        <p:nvSpPr>
          <p:cNvPr id="17" name="Text 15"/>
          <p:cNvSpPr/>
          <p:nvPr/>
        </p:nvSpPr>
        <p:spPr>
          <a:xfrm>
            <a:off x="7668768" y="2179613"/>
            <a:ext cx="1197702" cy="238636"/>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2BB3A0"/>
                </a:solidFill>
                <a:latin typeface="IBM Plex Sans" pitchFamily="34" charset="0"/>
                <a:ea typeface="IBM Plex Sans" pitchFamily="34" charset="-122"/>
                <a:cs typeface="IBM Plex Sans" pitchFamily="34" charset="-120"/>
              </a:rPr>
              <a:t>POLICY</a:t>
            </a:r>
            <a:endParaRPr lang="en-US" sz="1200" dirty="0"/>
          </a:p>
        </p:txBody>
      </p:sp>
      <p:sp>
        <p:nvSpPr>
          <p:cNvPr id="18" name="Text 16"/>
          <p:cNvSpPr/>
          <p:nvPr/>
        </p:nvSpPr>
        <p:spPr>
          <a:xfrm>
            <a:off x="7668768" y="2456334"/>
            <a:ext cx="1197702" cy="167075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F6F5F0"/>
                </a:solidFill>
                <a:latin typeface="IBM Plex Sans" pitchFamily="34" charset="0"/>
                <a:ea typeface="IBM Plex Sans" pitchFamily="34" charset="-122"/>
                <a:cs typeface="IBM Plex Sans" pitchFamily="34" charset="-120"/>
              </a:rPr>
              <a:t>Reachable → note it. Dark 20 min → text the backup. Back on network → text you what happened while you were dark.</a:t>
            </a:r>
            <a:endParaRPr lang="en-US" sz="1200" dirty="0"/>
          </a:p>
        </p:txBody>
      </p:sp>
      <p:sp>
        <p:nvSpPr>
          <p:cNvPr id="19" name="Shape 17"/>
          <p:cNvSpPr/>
          <p:nvPr/>
        </p:nvSpPr>
        <p:spPr>
          <a:xfrm>
            <a:off x="9201069" y="2060935"/>
            <a:ext cx="2171626" cy="1511233"/>
          </a:xfrm>
          <a:prstGeom prst="roundRect">
            <a:avLst>
              <a:gd name="adj" fmla="val 4622"/>
            </a:avLst>
          </a:prstGeom>
          <a:solidFill>
            <a:srgbClr val="0E1726"/>
          </a:solidFill>
          <a:ln w="12700">
            <a:solidFill>
              <a:srgbClr val="2BB3A0"/>
            </a:solidFill>
            <a:prstDash val="solid"/>
          </a:ln>
        </p:spPr>
        <p:txBody>
          <a:bodyPr/>
          <a:lstStyle/>
          <a:p>
            <a:endParaRPr lang="en-US"/>
          </a:p>
        </p:txBody>
      </p:sp>
      <p:sp>
        <p:nvSpPr>
          <p:cNvPr id="20" name="Text 18"/>
          <p:cNvSpPr/>
          <p:nvPr/>
        </p:nvSpPr>
        <p:spPr>
          <a:xfrm>
            <a:off x="9319752" y="2179613"/>
            <a:ext cx="1992289" cy="235357"/>
          </a:xfrm>
          <a:prstGeom prst="rect">
            <a:avLst/>
          </a:prstGeom>
          <a:noFill/>
          <a:ln/>
        </p:spPr>
        <p:txBody>
          <a:bodyPr wrap="square" lIns="0" tIns="0" rIns="0" bIns="0" rtlCol="0" anchor="t">
            <a:normAutofit/>
          </a:bodyPr>
          <a:lstStyle/>
          <a:p>
            <a:pPr marL="0" indent="0" algn="l">
              <a:lnSpc>
                <a:spcPts val="1675"/>
              </a:lnSpc>
              <a:buNone/>
            </a:pPr>
            <a:r>
              <a:rPr lang="en-US" sz="1196" b="1" kern="0" spc="50" dirty="0">
                <a:solidFill>
                  <a:srgbClr val="2BB3A0"/>
                </a:solidFill>
                <a:latin typeface="IBM Plex Sans" pitchFamily="34" charset="0"/>
                <a:ea typeface="IBM Plex Sans" pitchFamily="34" charset="-122"/>
                <a:cs typeface="IBM Plex Sans" pitchFamily="34" charset="-120"/>
              </a:rPr>
              <a:t>REACHABLE</a:t>
            </a:r>
            <a:endParaRPr lang="en-US" sz="1196" dirty="0"/>
          </a:p>
        </p:txBody>
      </p:sp>
      <p:sp>
        <p:nvSpPr>
          <p:cNvPr id="21" name="Text 19"/>
          <p:cNvSpPr/>
          <p:nvPr/>
        </p:nvSpPr>
        <p:spPr>
          <a:xfrm>
            <a:off x="9319752" y="2440360"/>
            <a:ext cx="1992289" cy="1038524"/>
          </a:xfrm>
          <a:prstGeom prst="rect">
            <a:avLst/>
          </a:prstGeom>
          <a:noFill/>
          <a:ln/>
        </p:spPr>
        <p:txBody>
          <a:bodyPr wrap="square" lIns="0" tIns="0" rIns="0" bIns="0" rtlCol="0" anchor="t">
            <a:normAutofit/>
          </a:bodyPr>
          <a:lstStyle/>
          <a:p>
            <a:pPr marL="0" indent="0" algn="l">
              <a:lnSpc>
                <a:spcPts val="1605"/>
              </a:lnSpc>
              <a:buNone/>
            </a:pPr>
            <a:r>
              <a:rPr lang="en-US" sz="1189" dirty="0">
                <a:solidFill>
                  <a:srgbClr val="F6F5F0"/>
                </a:solidFill>
                <a:latin typeface="IBM Plex Sans" pitchFamily="34" charset="0"/>
                <a:ea typeface="IBM Plex Sans" pitchFamily="34" charset="-122"/>
                <a:cs typeface="IBM Plex Sans" pitchFamily="34" charset="-120"/>
              </a:rPr>
              <a:t>7am, when you ask: "Your line is reachable. Nothing changed overnight." The one sentence a listed patient wants to hear.</a:t>
            </a:r>
            <a:endParaRPr lang="en-US" sz="1189" dirty="0"/>
          </a:p>
        </p:txBody>
      </p:sp>
      <p:sp>
        <p:nvSpPr>
          <p:cNvPr id="22" name="Shape 20"/>
          <p:cNvSpPr/>
          <p:nvPr/>
        </p:nvSpPr>
        <p:spPr>
          <a:xfrm>
            <a:off x="9201069" y="3965848"/>
            <a:ext cx="2171626" cy="1638283"/>
          </a:xfrm>
          <a:prstGeom prst="roundRect">
            <a:avLst>
              <a:gd name="adj" fmla="val 4264"/>
            </a:avLst>
          </a:prstGeom>
          <a:solidFill>
            <a:srgbClr val="0E1726"/>
          </a:solidFill>
          <a:ln w="12700">
            <a:solidFill>
              <a:srgbClr val="E8A33D"/>
            </a:solidFill>
            <a:prstDash val="solid"/>
          </a:ln>
        </p:spPr>
        <p:txBody>
          <a:bodyPr/>
          <a:lstStyle/>
          <a:p>
            <a:endParaRPr lang="en-US"/>
          </a:p>
        </p:txBody>
      </p:sp>
      <p:sp>
        <p:nvSpPr>
          <p:cNvPr id="23" name="Text 21"/>
          <p:cNvSpPr/>
          <p:nvPr/>
        </p:nvSpPr>
        <p:spPr>
          <a:xfrm>
            <a:off x="9319752" y="4084532"/>
            <a:ext cx="1992289" cy="199537"/>
          </a:xfrm>
          <a:prstGeom prst="rect">
            <a:avLst/>
          </a:prstGeom>
          <a:noFill/>
          <a:ln/>
        </p:spPr>
        <p:txBody>
          <a:bodyPr wrap="square" lIns="0" tIns="0" rIns="0" bIns="0" rtlCol="0" anchor="t">
            <a:normAutofit/>
          </a:bodyPr>
          <a:lstStyle/>
          <a:p>
            <a:pPr marL="0" indent="0" algn="l">
              <a:lnSpc>
                <a:spcPts val="1370"/>
              </a:lnSpc>
              <a:buNone/>
            </a:pPr>
            <a:r>
              <a:rPr lang="en-US" sz="979" b="1" kern="0" spc="50" dirty="0">
                <a:solidFill>
                  <a:srgbClr val="E8A33D"/>
                </a:solidFill>
                <a:latin typeface="IBM Plex Sans" pitchFamily="34" charset="0"/>
                <a:ea typeface="IBM Plex Sans" pitchFamily="34" charset="-122"/>
                <a:cs typeface="IBM Plex Sans" pitchFamily="34" charset="-120"/>
              </a:rPr>
              <a:t>DARK 20 MIN</a:t>
            </a:r>
            <a:endParaRPr lang="en-US" sz="979" dirty="0"/>
          </a:p>
        </p:txBody>
      </p:sp>
      <p:sp>
        <p:nvSpPr>
          <p:cNvPr id="24" name="Text 22"/>
          <p:cNvSpPr/>
          <p:nvPr/>
        </p:nvSpPr>
        <p:spPr>
          <a:xfrm>
            <a:off x="9319752" y="4309455"/>
            <a:ext cx="1992289" cy="1201394"/>
          </a:xfrm>
          <a:prstGeom prst="rect">
            <a:avLst/>
          </a:prstGeom>
          <a:noFill/>
          <a:ln/>
        </p:spPr>
        <p:txBody>
          <a:bodyPr wrap="square" lIns="0" tIns="0" rIns="0" bIns="0" rtlCol="0" anchor="t">
            <a:normAutofit/>
          </a:bodyPr>
          <a:lstStyle/>
          <a:p>
            <a:pPr marL="0" indent="0" algn="l">
              <a:lnSpc>
                <a:spcPts val="1448"/>
              </a:lnSpc>
              <a:buNone/>
            </a:pPr>
            <a:r>
              <a:rPr lang="en-US" sz="1073" dirty="0">
                <a:solidFill>
                  <a:srgbClr val="F6F5F0"/>
                </a:solidFill>
                <a:latin typeface="IBM Plex Sans" pitchFamily="34" charset="0"/>
                <a:ea typeface="IBM Plex Sans" pitchFamily="34" charset="-122"/>
                <a:cs typeface="IBM Plex Sans" pitchFamily="34" charset="-120"/>
              </a:rPr>
              <a:t>SMS to your partner: "Asish's phone has been off the network since 2:14 — if the centre calls, answer for him." Later, to you: "You were unreachable 2:14 to 3:05; Maya was told."</a:t>
            </a:r>
            <a:endParaRPr lang="en-US" sz="1073" dirty="0"/>
          </a:p>
        </p:txBody>
      </p:sp>
      <p:sp>
        <p:nvSpPr>
          <p:cNvPr id="25" name="Text 23"/>
          <p:cNvSpPr/>
          <p:nvPr/>
        </p:nvSpPr>
        <p:spPr>
          <a:xfrm>
            <a:off x="815928" y="5169191"/>
            <a:ext cx="6470617" cy="438116"/>
          </a:xfrm>
          <a:prstGeom prst="roundRect">
            <a:avLst>
              <a:gd name="adj" fmla="val 16668"/>
            </a:avLst>
          </a:prstGeom>
          <a:solidFill>
            <a:srgbClr val="17233A"/>
          </a:solidFill>
          <a:ln w="6350">
            <a:solidFill>
              <a:srgbClr val="2E3B4E"/>
            </a:solidFill>
            <a:prstDash val="solid"/>
          </a:ln>
        </p:spPr>
        <p:txBody>
          <a:bodyPr wrap="square" lIns="95088" tIns="0" rIns="0" bIns="0" rtlCol="0" anchor="ctr">
            <a:normAutofit/>
          </a:bodyPr>
          <a:lstStyle/>
          <a:p>
            <a:pPr marL="0" indent="0" algn="l">
              <a:lnSpc>
                <a:spcPts val="1560"/>
              </a:lnSpc>
              <a:buNone/>
            </a:pPr>
            <a:r>
              <a:rPr lang="en-US" sz="1200" dirty="0">
                <a:solidFill>
                  <a:srgbClr val="B9C4D0"/>
                </a:solidFill>
                <a:latin typeface="IBM Plex Sans" pitchFamily="34" charset="0"/>
                <a:ea typeface="IBM Plex Sans" pitchFamily="34" charset="-122"/>
                <a:cs typeface="IBM Plex Sans" pitchFamily="34" charset="-120"/>
              </a:rPr>
              <a:t>Reachable means on the network, not that the phone will ring. Tower can't see Do Not Disturb — the setup flow says so, in those words.</a:t>
            </a:r>
            <a:endParaRPr lang="en-US" sz="1200" dirty="0"/>
          </a:p>
        </p:txBody>
      </p:sp>
      <p:pic>
        <p:nvPicPr>
          <p:cNvPr id="26" name="Image 0" descr="connector"/>
          <p:cNvPicPr>
            <a:picLocks noChangeAspect="1"/>
          </p:cNvPicPr>
          <p:nvPr/>
        </p:nvPicPr>
        <p:blipFill>
          <a:blip r:embed="rId3"/>
          <a:srcRect l="-12" r="-12"/>
          <a:stretch/>
        </p:blipFill>
        <p:spPr>
          <a:xfrm>
            <a:off x="2666882" y="2765760"/>
            <a:ext cx="355590" cy="101573"/>
          </a:xfrm>
          <a:prstGeom prst="rect">
            <a:avLst/>
          </a:prstGeom>
        </p:spPr>
      </p:pic>
      <p:pic>
        <p:nvPicPr>
          <p:cNvPr id="27" name="Image 1" descr="connector"/>
          <p:cNvPicPr>
            <a:picLocks noChangeAspect="1"/>
          </p:cNvPicPr>
          <p:nvPr/>
        </p:nvPicPr>
        <p:blipFill>
          <a:blip r:embed="rId3"/>
          <a:srcRect l="-12" r="-12"/>
          <a:stretch/>
        </p:blipFill>
        <p:spPr>
          <a:xfrm>
            <a:off x="4825899" y="2765760"/>
            <a:ext cx="355590" cy="101573"/>
          </a:xfrm>
          <a:prstGeom prst="rect">
            <a:avLst/>
          </a:prstGeom>
        </p:spPr>
      </p:pic>
      <p:pic>
        <p:nvPicPr>
          <p:cNvPr id="28" name="Image 2" descr="connector"/>
          <p:cNvPicPr>
            <a:picLocks noChangeAspect="1"/>
          </p:cNvPicPr>
          <p:nvPr/>
        </p:nvPicPr>
        <p:blipFill>
          <a:blip r:embed="rId3"/>
          <a:srcRect l="-12" r="-12"/>
          <a:stretch/>
        </p:blipFill>
        <p:spPr>
          <a:xfrm>
            <a:off x="7238933" y="2765760"/>
            <a:ext cx="355590" cy="101573"/>
          </a:xfrm>
          <a:prstGeom prst="rect">
            <a:avLst/>
          </a:prstGeom>
        </p:spPr>
      </p:pic>
      <p:pic>
        <p:nvPicPr>
          <p:cNvPr id="29" name="Image 3" descr="connector"/>
          <p:cNvPicPr>
            <a:picLocks noChangeAspect="1"/>
          </p:cNvPicPr>
          <p:nvPr/>
        </p:nvPicPr>
        <p:blipFill>
          <a:blip r:embed="rId4"/>
          <a:srcRect t="-9" b="-9"/>
          <a:stretch/>
        </p:blipFill>
        <p:spPr>
          <a:xfrm>
            <a:off x="6159383" y="3527729"/>
            <a:ext cx="101573" cy="482556"/>
          </a:xfrm>
          <a:prstGeom prst="rect">
            <a:avLst/>
          </a:prstGeom>
        </p:spPr>
      </p:pic>
      <p:pic>
        <p:nvPicPr>
          <p:cNvPr id="30" name="Image 4" descr="connector"/>
          <p:cNvPicPr>
            <a:picLocks noChangeAspect="1"/>
          </p:cNvPicPr>
          <p:nvPr/>
        </p:nvPicPr>
        <p:blipFill>
          <a:blip r:embed="rId3"/>
          <a:srcRect l="-12" r="-12"/>
          <a:stretch/>
        </p:blipFill>
        <p:spPr>
          <a:xfrm>
            <a:off x="8889916" y="2765760"/>
            <a:ext cx="355590" cy="101573"/>
          </a:xfrm>
          <a:prstGeom prst="rect">
            <a:avLst/>
          </a:prstGeom>
        </p:spPr>
      </p:pic>
      <p:pic>
        <p:nvPicPr>
          <p:cNvPr id="31" name="Image 5" descr="connector"/>
          <p:cNvPicPr>
            <a:picLocks noChangeAspect="1"/>
          </p:cNvPicPr>
          <p:nvPr/>
        </p:nvPicPr>
        <p:blipFill>
          <a:blip r:embed="rId5"/>
          <a:srcRect l="-12" r="-12"/>
          <a:stretch/>
        </p:blipFill>
        <p:spPr>
          <a:xfrm>
            <a:off x="8889916" y="4734247"/>
            <a:ext cx="355590" cy="101573"/>
          </a:xfrm>
          <a:prstGeom prst="rect">
            <a:avLst/>
          </a:prstGeom>
        </p:spPr>
      </p:pic>
      <p:sp>
        <p:nvSpPr>
          <p:cNvPr id="32" name="Text 24"/>
          <p:cNvSpPr/>
          <p:nvPr/>
        </p:nvSpPr>
        <p:spPr>
          <a:xfrm>
            <a:off x="812753" y="6238335"/>
            <a:ext cx="11527718" cy="23863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583"/>
                </a:solidFill>
                <a:latin typeface="IBM Plex Sans" pitchFamily="34" charset="0"/>
                <a:ea typeface="IBM Plex Sans" pitchFamily="34" charset="-122"/>
                <a:cs typeface="IBM Plex Sans" pitchFamily="34" charset="-120"/>
              </a:rPr>
              <a:t>Today this is a pager and hope. Tower adds one thing: the network confirming, continuously, that the call could get through — and a person who will pick up if it can't.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753" y="812757"/>
            <a:ext cx="10883454" cy="218624"/>
          </a:xfrm>
          <a:prstGeom prst="rect">
            <a:avLst/>
          </a:prstGeom>
          <a:noFill/>
          <a:ln/>
        </p:spPr>
        <p:txBody>
          <a:bodyPr wrap="square" lIns="0" tIns="0" rIns="0" bIns="0" rtlCol="0" anchor="t">
            <a:normAutofit/>
          </a:bodyPr>
          <a:lstStyle/>
          <a:p>
            <a:pPr marL="0" indent="0" algn="l">
              <a:lnSpc>
                <a:spcPts val="1524"/>
              </a:lnSpc>
              <a:buNone/>
            </a:pPr>
            <a:r>
              <a:rPr lang="en-US" sz="1089" b="1" kern="0" spc="100" dirty="0">
                <a:solidFill>
                  <a:srgbClr val="2BB3A0"/>
                </a:solidFill>
                <a:latin typeface="IBM Plex Sans" pitchFamily="34" charset="0"/>
                <a:ea typeface="IBM Plex Sans" pitchFamily="34" charset="-122"/>
                <a:cs typeface="IBM Plex Sans" pitchFamily="34" charset="-120"/>
              </a:rPr>
              <a:t>TRACKS, RUBRIC, COST</a:t>
            </a:r>
            <a:endParaRPr lang="en-US" sz="1089" dirty="0"/>
          </a:p>
        </p:txBody>
      </p:sp>
      <p:sp>
        <p:nvSpPr>
          <p:cNvPr id="3" name="Text 1"/>
          <p:cNvSpPr>
            <a:spLocks noGrp="1"/>
          </p:cNvSpPr>
          <p:nvPr>
            <p:ph type="title"/>
          </p:nvPr>
        </p:nvSpPr>
        <p:spPr>
          <a:xfrm>
            <a:off x="812753" y="1107554"/>
            <a:ext cx="10883454" cy="772736"/>
          </a:xfrm>
          <a:prstGeom prst="rect">
            <a:avLst/>
          </a:prstGeom>
          <a:noFill/>
          <a:ln/>
        </p:spPr>
        <p:txBody>
          <a:bodyPr wrap="square" lIns="0" tIns="0" rIns="0" bIns="0" rtlCol="0" anchor="t">
            <a:normAutofit/>
          </a:bodyPr>
          <a:lstStyle/>
          <a:p>
            <a:pPr marL="0" indent="0" algn="l">
              <a:lnSpc>
                <a:spcPts val="2959"/>
              </a:lnSpc>
              <a:buNone/>
            </a:pPr>
            <a:r>
              <a:rPr lang="en-US" sz="2690" b="1" i="0" dirty="0">
                <a:solidFill>
                  <a:srgbClr val="0E1726"/>
                </a:solidFill>
                <a:latin typeface="IBM Plex Sans" pitchFamily="34" charset="0"/>
                <a:ea typeface="IBM Plex Sans" pitchFamily="34" charset="-122"/>
                <a:cs typeface="IBM Plex Sans" pitchFamily="34" charset="-120"/>
              </a:rPr>
              <a:t>One primary track, two minis it earns naturally, and almost nothing to run</a:t>
            </a:r>
            <a:endParaRPr lang="en-US" sz="2690" dirty="0"/>
          </a:p>
        </p:txBody>
      </p:sp>
      <p:sp>
        <p:nvSpPr>
          <p:cNvPr id="4" name="Shape 2"/>
          <p:cNvSpPr/>
          <p:nvPr/>
        </p:nvSpPr>
        <p:spPr>
          <a:xfrm>
            <a:off x="812753" y="2134214"/>
            <a:ext cx="6422565" cy="2221575"/>
          </a:xfrm>
          <a:custGeom>
            <a:avLst/>
            <a:gdLst/>
            <a:ahLst/>
            <a:cxnLst/>
            <a:rect l="l" t="t" r="r" b="b"/>
            <a:pathLst>
              <a:path w="6422565" h="2221575">
                <a:moveTo>
                  <a:pt x="6346365" y="0"/>
                </a:moveTo>
                <a:lnTo>
                  <a:pt x="6346365" y="0"/>
                </a:lnTo>
                <a:arcTo wR="76200" hR="76200" stAng="16200000" swAng="5400000"/>
                <a:lnTo>
                  <a:pt x="6422565" y="2145375"/>
                </a:lnTo>
                <a:arcTo wR="76200" hR="76200" stAng="0" swAng="5400000"/>
                <a:lnTo>
                  <a:pt x="76200" y="2221575"/>
                </a:lnTo>
                <a:arcTo wR="76200" hR="76200" stAng="5400000" swAng="5400000"/>
                <a:lnTo>
                  <a:pt x="0" y="2145375"/>
                </a:lnTo>
                <a:arcTo wR="76200" hR="69850" stAng="10800000" swAng="-5400000"/>
                <a:lnTo>
                  <a:pt x="6346365" y="2215225"/>
                </a:lnTo>
                <a:arcTo wR="69850" hR="69850" stAng="5400000" swAng="-5400000"/>
                <a:lnTo>
                  <a:pt x="6416215" y="76200"/>
                </a:lnTo>
                <a:arcTo wR="69850" hR="76200" stAng="0" swAng="-5400000"/>
                <a:close/>
              </a:path>
            </a:pathLst>
          </a:custGeom>
          <a:solidFill>
            <a:srgbClr val="DDE1E6"/>
          </a:solidFill>
          <a:ln/>
        </p:spPr>
        <p:txBody>
          <a:bodyPr/>
          <a:lstStyle/>
          <a:p>
            <a:endParaRPr lang="en-US"/>
          </a:p>
        </p:txBody>
      </p:sp>
      <p:sp>
        <p:nvSpPr>
          <p:cNvPr id="5" name="Shape 3"/>
          <p:cNvSpPr/>
          <p:nvPr/>
        </p:nvSpPr>
        <p:spPr>
          <a:xfrm>
            <a:off x="812753" y="2134214"/>
            <a:ext cx="6422565" cy="2221575"/>
          </a:xfrm>
          <a:custGeom>
            <a:avLst/>
            <a:gdLst/>
            <a:ahLst/>
            <a:cxnLst/>
            <a:rect l="l" t="t" r="r" b="b"/>
            <a:pathLst>
              <a:path w="6422565" h="2221575">
                <a:moveTo>
                  <a:pt x="76200" y="2221575"/>
                </a:moveTo>
                <a:lnTo>
                  <a:pt x="76200" y="2221575"/>
                </a:lnTo>
                <a:arcTo wR="76200" hR="76200" stAng="5400000" swAng="5400000"/>
                <a:lnTo>
                  <a:pt x="0" y="76200"/>
                </a:lnTo>
                <a:arcTo wR="76200" hR="76200" stAng="10800000" swAng="5400000"/>
                <a:lnTo>
                  <a:pt x="6346365" y="0"/>
                </a:lnTo>
                <a:arcTo wR="76200" hR="76200" stAng="16200000" swAng="5400000"/>
                <a:lnTo>
                  <a:pt x="6422565" y="76200"/>
                </a:lnTo>
                <a:arcTo wR="76200" hR="65437" stAng="0" swAng="-5400000"/>
                <a:lnTo>
                  <a:pt x="76200" y="10763"/>
                </a:lnTo>
                <a:arcTo wR="65437" hR="65437" stAng="16200000" swAng="-5400000"/>
                <a:lnTo>
                  <a:pt x="10763" y="2145375"/>
                </a:lnTo>
                <a:arcTo wR="65437" hR="76200" stAng="10800000" swAng="-5400000"/>
                <a:close/>
              </a:path>
            </a:pathLst>
          </a:custGeom>
          <a:solidFill>
            <a:srgbClr val="141413">
              <a:alpha val="22000"/>
            </a:srgbClr>
          </a:solidFill>
          <a:ln/>
        </p:spPr>
        <p:txBody>
          <a:bodyPr/>
          <a:lstStyle/>
          <a:p>
            <a:endParaRPr lang="en-US"/>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3516" y="2144977"/>
          <a:ext cx="6406421" cy="2205431"/>
        </p:xfrm>
        <a:graphic>
          <a:graphicData uri="http://schemas.openxmlformats.org/drawingml/2006/table">
            <a:tbl>
              <a:tblPr/>
              <a:tblGrid>
                <a:gridCol w="2050055">
                  <a:extLst>
                    <a:ext uri="{9D8B030D-6E8A-4147-A177-3AD203B41FA5}">
                      <a16:colId xmlns:a16="http://schemas.microsoft.com/office/drawing/2014/main" val="20000"/>
                    </a:ext>
                  </a:extLst>
                </a:gridCol>
                <a:gridCol w="4356366">
                  <a:extLst>
                    <a:ext uri="{9D8B030D-6E8A-4147-A177-3AD203B41FA5}">
                      <a16:colId xmlns:a16="http://schemas.microsoft.com/office/drawing/2014/main" val="20001"/>
                    </a:ext>
                  </a:extLst>
                </a:gridCol>
              </a:tblGrid>
              <a:tr h="323134">
                <a:tc>
                  <a:txBody>
                    <a:bodyPr/>
                    <a:lstStyle/>
                    <a:p>
                      <a:pPr marL="0" indent="0">
                        <a:lnSpc>
                          <a:spcPts val="1548"/>
                        </a:lnSpc>
                        <a:buNone/>
                      </a:pPr>
                      <a:r>
                        <a:rPr lang="en-US" sz="1105" b="1" dirty="0">
                          <a:solidFill>
                            <a:srgbClr val="0E1726"/>
                          </a:solidFill>
                          <a:latin typeface="IBM Plex Sans" pitchFamily="34" charset="0"/>
                          <a:ea typeface="IBM Plex Sans" pitchFamily="34" charset="-122"/>
                          <a:cs typeface="IBM Plex Sans" pitchFamily="34" charset="-120"/>
                        </a:rPr>
                        <a:t>Track</a:t>
                      </a:r>
                      <a:endParaRPr lang="en-US" sz="1105" dirty="0">
                        <a:latin typeface="IBM Plex Sans" charset="0"/>
                        <a:ea typeface="IBM Plex Sans" charset="0"/>
                        <a:cs typeface="IBM Plex Sans" charset="0"/>
                      </a:endParaRPr>
                    </a:p>
                  </a:txBody>
                  <a:tcPr marL="49138" marR="49138" marT="49138" marB="49138">
                    <a:lnL w="0" cap="flat" cmpd="sng" algn="ctr">
                      <a:noFill/>
                    </a:lnL>
                    <a:lnR w="12700" cap="flat" cmpd="sng" algn="ctr">
                      <a:solidFill>
                        <a:srgbClr val="0F1622"/>
                      </a:solidFill>
                      <a:prstDash val="solid"/>
                      <a:round/>
                      <a:headEnd type="none" w="med" len="med"/>
                      <a:tailEnd type="none" w="med" len="med"/>
                    </a:lnR>
                    <a:lnT w="0" cap="flat" cmpd="sng" algn="ctr">
                      <a:noFill/>
                    </a:lnT>
                    <a:lnB w="12700" cap="flat" cmpd="sng" algn="ctr">
                      <a:solidFill>
                        <a:srgbClr val="0F1622"/>
                      </a:solidFill>
                      <a:prstDash val="solid"/>
                      <a:round/>
                      <a:headEnd type="none" w="med" len="med"/>
                      <a:tailEnd type="none" w="med" len="med"/>
                    </a:lnB>
                    <a:solidFill>
                      <a:srgbClr val="0E1726"/>
                    </a:solidFill>
                  </a:tcPr>
                </a:tc>
                <a:tc>
                  <a:txBody>
                    <a:bodyPr/>
                    <a:lstStyle/>
                    <a:p>
                      <a:pPr marL="0" indent="0">
                        <a:lnSpc>
                          <a:spcPts val="1548"/>
                        </a:lnSpc>
                        <a:buNone/>
                      </a:pPr>
                      <a:r>
                        <a:rPr lang="en-US" sz="1105" b="1" dirty="0">
                          <a:solidFill>
                            <a:srgbClr val="0E1726"/>
                          </a:solidFill>
                          <a:latin typeface="IBM Plex Sans" pitchFamily="34" charset="0"/>
                          <a:ea typeface="IBM Plex Sans" pitchFamily="34" charset="-122"/>
                          <a:cs typeface="IBM Plex Sans" pitchFamily="34" charset="-120"/>
                        </a:rPr>
                        <a:t>What qualifies</a:t>
                      </a:r>
                      <a:endParaRPr lang="en-US" sz="1105" dirty="0">
                        <a:latin typeface="IBM Plex Sans" charset="0"/>
                        <a:ea typeface="IBM Plex Sans" charset="0"/>
                        <a:cs typeface="IBM Plex Sans" charset="0"/>
                      </a:endParaRPr>
                    </a:p>
                  </a:txBody>
                  <a:tcPr marL="49138" marR="49138" marT="49138" marB="49138">
                    <a:lnL w="12700" cap="flat" cmpd="sng" algn="ctr">
                      <a:solidFill>
                        <a:srgbClr val="0F1622"/>
                      </a:solidFill>
                      <a:prstDash val="solid"/>
                      <a:round/>
                      <a:headEnd type="none" w="med" len="med"/>
                      <a:tailEnd type="none" w="med" len="med"/>
                    </a:lnL>
                    <a:lnR w="12700" cap="flat" cmpd="sng" algn="ctr">
                      <a:solidFill>
                        <a:srgbClr val="0F1622"/>
                      </a:solidFill>
                      <a:prstDash val="solid"/>
                      <a:round/>
                      <a:headEnd type="none" w="med" len="med"/>
                      <a:tailEnd type="none" w="med" len="med"/>
                    </a:lnR>
                    <a:lnT w="0" cap="flat" cmpd="sng" algn="ctr">
                      <a:noFill/>
                    </a:lnT>
                    <a:lnB w="12700" cap="flat" cmpd="sng" algn="ctr">
                      <a:solidFill>
                        <a:srgbClr val="0F1622"/>
                      </a:solidFill>
                      <a:prstDash val="solid"/>
                      <a:round/>
                      <a:headEnd type="none" w="med" len="med"/>
                      <a:tailEnd type="none" w="med" len="med"/>
                    </a:lnB>
                    <a:solidFill>
                      <a:srgbClr val="0E1726"/>
                    </a:solidFill>
                  </a:tcPr>
                </a:tc>
                <a:extLst>
                  <a:ext uri="{0D108BD9-81ED-4DB2-BD59-A6C34878D82A}">
                    <a16:rowId xmlns:a16="http://schemas.microsoft.com/office/drawing/2014/main" val="10000"/>
                  </a:ext>
                </a:extLst>
              </a:tr>
              <a:tr h="323134">
                <a:tc>
                  <a:txBody>
                    <a:bodyPr/>
                    <a:lstStyle/>
                    <a:p>
                      <a:pPr marL="0" indent="0">
                        <a:lnSpc>
                          <a:spcPts val="1548"/>
                        </a:lnSpc>
                        <a:buNone/>
                      </a:pPr>
                      <a:r>
                        <a:rPr lang="en-US" sz="1105" dirty="0">
                          <a:solidFill>
                            <a:srgbClr val="0E1726"/>
                          </a:solidFill>
                          <a:latin typeface="IBM Plex Sans" pitchFamily="34" charset="0"/>
                          <a:ea typeface="IBM Plex Sans" pitchFamily="34" charset="-122"/>
                          <a:cs typeface="IBM Plex Sans" pitchFamily="34" charset="-120"/>
                        </a:rPr>
                        <a:t>Alexa+ (primary)</a:t>
                      </a:r>
                      <a:endParaRPr lang="en-US" sz="1105" dirty="0">
                        <a:latin typeface="IBM Plex Sans" charset="0"/>
                        <a:ea typeface="IBM Plex Sans" charset="0"/>
                        <a:cs typeface="IBM Plex Sans" charset="0"/>
                      </a:endParaRPr>
                    </a:p>
                  </a:txBody>
                  <a:tcPr marL="49138" marR="49138" marT="49138" marB="49138">
                    <a:lnL w="0" cap="flat" cmpd="sng" algn="ctr">
                      <a:noFill/>
                    </a:lnL>
                    <a:lnR w="12700" cap="flat" cmpd="sng" algn="ctr">
                      <a:solidFill>
                        <a:srgbClr val="C4C4BF"/>
                      </a:solidFill>
                      <a:prstDash val="solid"/>
                      <a:round/>
                      <a:headEnd type="none" w="med" len="med"/>
                      <a:tailEnd type="none" w="med" len="med"/>
                    </a:lnR>
                    <a:lnT w="12700" cap="flat" cmpd="sng" algn="ctr">
                      <a:solidFill>
                        <a:srgbClr val="0F1622"/>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1548"/>
                        </a:lnSpc>
                        <a:buNone/>
                      </a:pPr>
                      <a:r>
                        <a:rPr lang="en-US" sz="1105" dirty="0">
                          <a:solidFill>
                            <a:srgbClr val="0E1726"/>
                          </a:solidFill>
                          <a:latin typeface="IBM Plex Sans" pitchFamily="34" charset="0"/>
                          <a:ea typeface="IBM Plex Sans" pitchFamily="34" charset="-122"/>
                          <a:cs typeface="IBM Plex Sans" pitchFamily="34" charset="-120"/>
                        </a:rPr>
                        <a:t>Tower is an MCP server Alexa+ connects to — the track's literal ask</a:t>
                      </a:r>
                      <a:endParaRPr lang="en-US" sz="1105" dirty="0">
                        <a:latin typeface="IBM Plex Sans" charset="0"/>
                        <a:ea typeface="IBM Plex Sans" charset="0"/>
                        <a:cs typeface="IBM Plex Sans" charset="0"/>
                      </a:endParaRPr>
                    </a:p>
                  </a:txBody>
                  <a:tcPr marL="49138" marR="49138" marT="49138" marB="49138">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0F1622"/>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extLst>
                  <a:ext uri="{0D108BD9-81ED-4DB2-BD59-A6C34878D82A}">
                    <a16:rowId xmlns:a16="http://schemas.microsoft.com/office/drawing/2014/main" val="10001"/>
                  </a:ext>
                </a:extLst>
              </a:tr>
              <a:tr h="519721">
                <a:tc>
                  <a:txBody>
                    <a:bodyPr/>
                    <a:lstStyle/>
                    <a:p>
                      <a:pPr marL="0" indent="0">
                        <a:lnSpc>
                          <a:spcPts val="1548"/>
                        </a:lnSpc>
                        <a:buNone/>
                      </a:pPr>
                      <a:r>
                        <a:rPr lang="en-US" sz="1105" dirty="0">
                          <a:solidFill>
                            <a:srgbClr val="0E1726"/>
                          </a:solidFill>
                          <a:latin typeface="IBM Plex Sans" pitchFamily="34" charset="0"/>
                          <a:ea typeface="IBM Plex Sans" pitchFamily="34" charset="-122"/>
                          <a:cs typeface="IBM Plex Sans" pitchFamily="34" charset="-120"/>
                        </a:rPr>
                        <a:t>AWS Builder mini</a:t>
                      </a:r>
                      <a:endParaRPr lang="en-US" sz="1105" dirty="0">
                        <a:latin typeface="IBM Plex Sans" charset="0"/>
                        <a:ea typeface="IBM Plex Sans" charset="0"/>
                        <a:cs typeface="IBM Plex Sans" charset="0"/>
                      </a:endParaRPr>
                    </a:p>
                  </a:txBody>
                  <a:tcPr marL="49138" marR="49138" marT="49138" marB="49138">
                    <a:lnL w="0" cap="flat" cmpd="sng" algn="ctr">
                      <a:noFill/>
                    </a:lnL>
                    <a:lnR w="12700" cap="flat" cmpd="sng" algn="ctr">
                      <a:solidFill>
                        <a:srgbClr val="CBCBCB"/>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548"/>
                        </a:lnSpc>
                        <a:buNone/>
                      </a:pPr>
                      <a:r>
                        <a:rPr lang="en-US" sz="1105" dirty="0">
                          <a:solidFill>
                            <a:srgbClr val="0E1726"/>
                          </a:solidFill>
                          <a:latin typeface="IBM Plex Sans" pitchFamily="34" charset="0"/>
                          <a:ea typeface="IBM Plex Sans" pitchFamily="34" charset="-122"/>
                          <a:cs typeface="IBM Plex Sans" pitchFamily="34" charset="-120"/>
                        </a:rPr>
                        <a:t>AgentCore Runtime, Gateway and Identity; DynamoDB; SNS; Bedrock only for the backup client</a:t>
                      </a:r>
                      <a:endParaRPr lang="en-US" sz="1105" dirty="0">
                        <a:latin typeface="IBM Plex Sans" charset="0"/>
                        <a:ea typeface="IBM Plex Sans" charset="0"/>
                        <a:cs typeface="IBM Plex Sans" charset="0"/>
                      </a:endParaRPr>
                    </a:p>
                  </a:txBody>
                  <a:tcPr marL="49138" marR="49138" marT="49138" marB="49138">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19721">
                <a:tc>
                  <a:txBody>
                    <a:bodyPr/>
                    <a:lstStyle/>
                    <a:p>
                      <a:pPr marL="0" indent="0">
                        <a:lnSpc>
                          <a:spcPts val="1548"/>
                        </a:lnSpc>
                        <a:buNone/>
                      </a:pPr>
                      <a:r>
                        <a:rPr lang="en-US" sz="1105" dirty="0">
                          <a:solidFill>
                            <a:srgbClr val="0E1726"/>
                          </a:solidFill>
                          <a:latin typeface="IBM Plex Sans" pitchFamily="34" charset="0"/>
                          <a:ea typeface="IBM Plex Sans" pitchFamily="34" charset="-122"/>
                          <a:cs typeface="IBM Plex Sans" pitchFamily="34" charset="-120"/>
                        </a:rPr>
                        <a:t>Open Source mini</a:t>
                      </a:r>
                      <a:endParaRPr lang="en-US" sz="1105" dirty="0">
                        <a:latin typeface="IBM Plex Sans" charset="0"/>
                        <a:ea typeface="IBM Plex Sans" charset="0"/>
                        <a:cs typeface="IBM Plex Sans" charset="0"/>
                      </a:endParaRPr>
                    </a:p>
                  </a:txBody>
                  <a:tcPr marL="49138" marR="49138" marT="49138" marB="49138">
                    <a:lnL w="0" cap="flat" cmpd="sng" algn="ctr">
                      <a:noFill/>
                    </a:lnL>
                    <a:lnR w="12700" cap="flat" cmpd="sng" algn="ctr">
                      <a:solidFill>
                        <a:srgbClr val="C4C4B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1548"/>
                        </a:lnSpc>
                        <a:buNone/>
                      </a:pPr>
                      <a:r>
                        <a:rPr lang="en-US" sz="1105" dirty="0">
                          <a:solidFill>
                            <a:srgbClr val="0E1726"/>
                          </a:solidFill>
                          <a:latin typeface="IBM Plex Sans" pitchFamily="34" charset="0"/>
                          <a:ea typeface="IBM Plex Sans" pitchFamily="34" charset="-122"/>
                          <a:cs typeface="IBM Plex Sans" pitchFamily="34" charset="-120"/>
                        </a:rPr>
                        <a:t>The consent-and-line-binding kit, published as a reusable library for any CAMARA client</a:t>
                      </a:r>
                      <a:endParaRPr lang="en-US" sz="1105" dirty="0">
                        <a:latin typeface="IBM Plex Sans" charset="0"/>
                        <a:ea typeface="IBM Plex Sans" charset="0"/>
                        <a:cs typeface="IBM Plex Sans" charset="0"/>
                      </a:endParaRPr>
                    </a:p>
                  </a:txBody>
                  <a:tcPr marL="49138" marR="49138" marT="49138" marB="49138">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extLst>
                  <a:ext uri="{0D108BD9-81ED-4DB2-BD59-A6C34878D82A}">
                    <a16:rowId xmlns:a16="http://schemas.microsoft.com/office/drawing/2014/main" val="10003"/>
                  </a:ext>
                </a:extLst>
              </a:tr>
              <a:tr h="519721">
                <a:tc>
                  <a:txBody>
                    <a:bodyPr/>
                    <a:lstStyle/>
                    <a:p>
                      <a:pPr marL="0" indent="0">
                        <a:lnSpc>
                          <a:spcPts val="1548"/>
                        </a:lnSpc>
                        <a:buNone/>
                      </a:pPr>
                      <a:r>
                        <a:rPr lang="en-US" sz="1105" dirty="0">
                          <a:solidFill>
                            <a:srgbClr val="0E1726"/>
                          </a:solidFill>
                          <a:latin typeface="IBM Plex Sans" pitchFamily="34" charset="0"/>
                          <a:ea typeface="IBM Plex Sans" pitchFamily="34" charset="-122"/>
                          <a:cs typeface="IBM Plex Sans" pitchFamily="34" charset="-120"/>
                        </a:rPr>
                        <a:t>Product feedback bonus</a:t>
                      </a:r>
                      <a:endParaRPr lang="en-US" sz="1105" dirty="0">
                        <a:latin typeface="IBM Plex Sans" charset="0"/>
                        <a:ea typeface="IBM Plex Sans" charset="0"/>
                        <a:cs typeface="IBM Plex Sans" charset="0"/>
                      </a:endParaRPr>
                    </a:p>
                  </a:txBody>
                  <a:tcPr marL="49138" marR="49138" marT="49138" marB="49138">
                    <a:lnL w="0" cap="flat" cmpd="sng" algn="ctr">
                      <a:noFill/>
                    </a:lnL>
                    <a:lnR w="12700" cap="flat" cmpd="sng" algn="ctr">
                      <a:solidFill>
                        <a:srgbClr val="CBCBCB"/>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548"/>
                        </a:lnSpc>
                        <a:buNone/>
                      </a:pPr>
                      <a:r>
                        <a:rPr lang="en-US" sz="1105" dirty="0">
                          <a:solidFill>
                            <a:srgbClr val="0E1726"/>
                          </a:solidFill>
                          <a:latin typeface="IBM Plex Sans" pitchFamily="34" charset="0"/>
                          <a:ea typeface="IBM Plex Sans" pitchFamily="34" charset="-122"/>
                          <a:cs typeface="IBM Plex Sans" pitchFamily="34" charset="-120"/>
                        </a:rPr>
                        <a:t>Friction log: MCP Toolkit is US-only, so the demo runs in the web simulator; no proactive path for MCP add-ons</a:t>
                      </a:r>
                      <a:endParaRPr lang="en-US" sz="1105" dirty="0">
                        <a:latin typeface="IBM Plex Sans" charset="0"/>
                        <a:ea typeface="IBM Plex Sans" charset="0"/>
                        <a:cs typeface="IBM Plex Sans" charset="0"/>
                      </a:endParaRPr>
                    </a:p>
                  </a:txBody>
                  <a:tcPr marL="49138" marR="49138" marT="49138" marB="49138">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Shape 4"/>
          <p:cNvSpPr/>
          <p:nvPr/>
        </p:nvSpPr>
        <p:spPr>
          <a:xfrm>
            <a:off x="815928" y="4460540"/>
            <a:ext cx="2049832" cy="1378256"/>
          </a:xfrm>
          <a:prstGeom prst="roundRect">
            <a:avLst>
              <a:gd name="adj" fmla="val 5298"/>
            </a:avLst>
          </a:prstGeom>
          <a:solidFill>
            <a:srgbClr val="FFFFFF"/>
          </a:solidFill>
          <a:ln w="6350">
            <a:solidFill>
              <a:srgbClr val="DDE1E6"/>
            </a:solidFill>
            <a:prstDash val="solid"/>
          </a:ln>
        </p:spPr>
        <p:txBody>
          <a:bodyPr/>
          <a:lstStyle/>
          <a:p>
            <a:endParaRPr lang="en-US"/>
          </a:p>
        </p:txBody>
      </p:sp>
      <p:sp>
        <p:nvSpPr>
          <p:cNvPr id="8" name="Text 5"/>
          <p:cNvSpPr/>
          <p:nvPr/>
        </p:nvSpPr>
        <p:spPr>
          <a:xfrm>
            <a:off x="970494" y="4615104"/>
            <a:ext cx="1792922" cy="196510"/>
          </a:xfrm>
          <a:prstGeom prst="rect">
            <a:avLst/>
          </a:prstGeom>
          <a:noFill/>
          <a:ln/>
        </p:spPr>
        <p:txBody>
          <a:bodyPr wrap="square" lIns="0" tIns="0" rIns="0" bIns="0" rtlCol="0" anchor="t">
            <a:normAutofit/>
          </a:bodyPr>
          <a:lstStyle/>
          <a:p>
            <a:pPr marL="0" indent="0" algn="l">
              <a:lnSpc>
                <a:spcPts val="1370"/>
              </a:lnSpc>
              <a:buNone/>
            </a:pPr>
            <a:r>
              <a:rPr lang="en-US" sz="979" dirty="0">
                <a:solidFill>
                  <a:srgbClr val="6B7583"/>
                </a:solidFill>
                <a:latin typeface="IBM Plex Sans" pitchFamily="34" charset="0"/>
                <a:ea typeface="IBM Plex Sans" pitchFamily="34" charset="-122"/>
                <a:cs typeface="IBM Plex Sans" pitchFamily="34" charset="-120"/>
              </a:rPr>
              <a:t>Innovation</a:t>
            </a:r>
            <a:endParaRPr lang="en-US" sz="979" dirty="0"/>
          </a:p>
        </p:txBody>
      </p:sp>
      <p:sp>
        <p:nvSpPr>
          <p:cNvPr id="9" name="Text 6"/>
          <p:cNvSpPr/>
          <p:nvPr/>
        </p:nvSpPr>
        <p:spPr>
          <a:xfrm>
            <a:off x="970494" y="4824307"/>
            <a:ext cx="1792922" cy="885324"/>
          </a:xfrm>
          <a:prstGeom prst="rect">
            <a:avLst/>
          </a:prstGeom>
          <a:noFill/>
          <a:ln/>
        </p:spPr>
        <p:txBody>
          <a:bodyPr wrap="square" lIns="0" tIns="0" rIns="0" bIns="0" rtlCol="0" anchor="t">
            <a:normAutofit/>
          </a:bodyPr>
          <a:lstStyle/>
          <a:p>
            <a:pPr marL="0" indent="0" algn="l">
              <a:lnSpc>
                <a:spcPts val="1535"/>
              </a:lnSpc>
              <a:buNone/>
            </a:pPr>
            <a:r>
              <a:rPr lang="en-US" sz="1137" dirty="0">
                <a:solidFill>
                  <a:srgbClr val="0E1726"/>
                </a:solidFill>
                <a:latin typeface="IBM Plex Sans" pitchFamily="34" charset="0"/>
                <a:ea typeface="IBM Plex Sans" pitchFamily="34" charset="-122"/>
                <a:cs typeface="IBM Plex Sans" pitchFamily="34" charset="-120"/>
              </a:rPr>
              <a:t>The consumer's own agent over carrier APIs, usable from the one device that survives a SIM swap</a:t>
            </a:r>
            <a:endParaRPr lang="en-US" sz="1137" dirty="0"/>
          </a:p>
        </p:txBody>
      </p:sp>
      <p:sp>
        <p:nvSpPr>
          <p:cNvPr id="10" name="Shape 7"/>
          <p:cNvSpPr/>
          <p:nvPr/>
        </p:nvSpPr>
        <p:spPr>
          <a:xfrm>
            <a:off x="2999077" y="4460540"/>
            <a:ext cx="2049917" cy="1378256"/>
          </a:xfrm>
          <a:prstGeom prst="roundRect">
            <a:avLst>
              <a:gd name="adj" fmla="val 5298"/>
            </a:avLst>
          </a:prstGeom>
          <a:solidFill>
            <a:srgbClr val="FFFFFF"/>
          </a:solidFill>
          <a:ln w="6350">
            <a:solidFill>
              <a:srgbClr val="DDE1E6"/>
            </a:solidFill>
            <a:prstDash val="solid"/>
          </a:ln>
        </p:spPr>
        <p:txBody>
          <a:bodyPr/>
          <a:lstStyle/>
          <a:p>
            <a:endParaRPr lang="en-US"/>
          </a:p>
        </p:txBody>
      </p:sp>
      <p:sp>
        <p:nvSpPr>
          <p:cNvPr id="11" name="Text 8"/>
          <p:cNvSpPr/>
          <p:nvPr/>
        </p:nvSpPr>
        <p:spPr>
          <a:xfrm>
            <a:off x="3153643" y="4615104"/>
            <a:ext cx="1793008" cy="23863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583"/>
                </a:solidFill>
                <a:latin typeface="IBM Plex Sans" pitchFamily="34" charset="0"/>
                <a:ea typeface="IBM Plex Sans" pitchFamily="34" charset="-122"/>
                <a:cs typeface="IBM Plex Sans" pitchFamily="34" charset="-120"/>
              </a:rPr>
              <a:t>Impact</a:t>
            </a:r>
            <a:endParaRPr lang="en-US" sz="1200" dirty="0"/>
          </a:p>
        </p:txBody>
      </p:sp>
      <p:sp>
        <p:nvSpPr>
          <p:cNvPr id="12" name="Text 9"/>
          <p:cNvSpPr/>
          <p:nvPr/>
        </p:nvSpPr>
        <p:spPr>
          <a:xfrm>
            <a:off x="3153643" y="4866432"/>
            <a:ext cx="1793008" cy="668136"/>
          </a:xfrm>
          <a:prstGeom prst="rect">
            <a:avLst/>
          </a:prstGeom>
          <a:noFill/>
          <a:ln/>
        </p:spPr>
        <p:txBody>
          <a:bodyPr wrap="square" lIns="0" tIns="0" rIns="0" bIns="0" rtlCol="0" anchor="t">
            <a:normAutofit/>
          </a:bodyPr>
          <a:lstStyle/>
          <a:p>
            <a:pPr marL="0" indent="0" algn="l">
              <a:lnSpc>
                <a:spcPts val="1688"/>
              </a:lnSpc>
              <a:buNone/>
            </a:pPr>
            <a:r>
              <a:rPr lang="en-US" sz="1250" dirty="0">
                <a:solidFill>
                  <a:srgbClr val="0E1726"/>
                </a:solidFill>
                <a:latin typeface="IBM Plex Sans" pitchFamily="34" charset="0"/>
                <a:ea typeface="IBM Plex Sans" pitchFamily="34" charset="-122"/>
                <a:cs typeface="IBM Plex Sans" pitchFamily="34" charset="-120"/>
              </a:rPr>
              <a:t>SIM-swap fraud is real and rising; the guard costs nothing to run</a:t>
            </a:r>
            <a:endParaRPr lang="en-US" sz="1250" dirty="0"/>
          </a:p>
        </p:txBody>
      </p:sp>
      <p:sp>
        <p:nvSpPr>
          <p:cNvPr id="13" name="Shape 10"/>
          <p:cNvSpPr/>
          <p:nvPr/>
        </p:nvSpPr>
        <p:spPr>
          <a:xfrm>
            <a:off x="5182310" y="4460540"/>
            <a:ext cx="2049832" cy="1378256"/>
          </a:xfrm>
          <a:prstGeom prst="roundRect">
            <a:avLst>
              <a:gd name="adj" fmla="val 5298"/>
            </a:avLst>
          </a:prstGeom>
          <a:solidFill>
            <a:srgbClr val="FFFFFF"/>
          </a:solidFill>
          <a:ln w="6350">
            <a:solidFill>
              <a:srgbClr val="DDE1E6"/>
            </a:solidFill>
            <a:prstDash val="solid"/>
          </a:ln>
        </p:spPr>
        <p:txBody>
          <a:bodyPr/>
          <a:lstStyle/>
          <a:p>
            <a:endParaRPr lang="en-US"/>
          </a:p>
        </p:txBody>
      </p:sp>
      <p:sp>
        <p:nvSpPr>
          <p:cNvPr id="14" name="Text 11"/>
          <p:cNvSpPr/>
          <p:nvPr/>
        </p:nvSpPr>
        <p:spPr>
          <a:xfrm>
            <a:off x="5336876" y="4615104"/>
            <a:ext cx="1792922" cy="23863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583"/>
                </a:solidFill>
                <a:latin typeface="IBM Plex Sans" pitchFamily="34" charset="0"/>
                <a:ea typeface="IBM Plex Sans" pitchFamily="34" charset="-122"/>
                <a:cs typeface="IBM Plex Sans" pitchFamily="34" charset="-120"/>
              </a:rPr>
              <a:t>Execution</a:t>
            </a:r>
            <a:endParaRPr lang="en-US" sz="1200" dirty="0"/>
          </a:p>
        </p:txBody>
      </p:sp>
      <p:sp>
        <p:nvSpPr>
          <p:cNvPr id="15" name="Text 12"/>
          <p:cNvSpPr/>
          <p:nvPr/>
        </p:nvSpPr>
        <p:spPr>
          <a:xfrm>
            <a:off x="5336876" y="4866432"/>
            <a:ext cx="1792922" cy="668136"/>
          </a:xfrm>
          <a:prstGeom prst="rect">
            <a:avLst/>
          </a:prstGeom>
          <a:noFill/>
          <a:ln/>
        </p:spPr>
        <p:txBody>
          <a:bodyPr wrap="square" lIns="0" tIns="0" rIns="0" bIns="0" rtlCol="0" anchor="t">
            <a:normAutofit/>
          </a:bodyPr>
          <a:lstStyle/>
          <a:p>
            <a:pPr marL="0" indent="0" algn="l">
              <a:lnSpc>
                <a:spcPts val="1688"/>
              </a:lnSpc>
              <a:buNone/>
            </a:pPr>
            <a:r>
              <a:rPr lang="en-US" sz="1250" dirty="0">
                <a:solidFill>
                  <a:srgbClr val="0E1726"/>
                </a:solidFill>
                <a:latin typeface="IBM Plex Sans" pitchFamily="34" charset="0"/>
                <a:ea typeface="IBM Plex Sans" pitchFamily="34" charset="-122"/>
                <a:cs typeface="IBM Plex Sans" pitchFamily="34" charset="-120"/>
              </a:rPr>
              <a:t>Small surface, deterministic policy, one-command run</a:t>
            </a:r>
            <a:endParaRPr lang="en-US" sz="1250" dirty="0"/>
          </a:p>
        </p:txBody>
      </p:sp>
      <p:sp>
        <p:nvSpPr>
          <p:cNvPr id="16" name="Shape 13"/>
          <p:cNvSpPr/>
          <p:nvPr/>
        </p:nvSpPr>
        <p:spPr>
          <a:xfrm>
            <a:off x="7413070" y="2134214"/>
            <a:ext cx="3966144" cy="3707754"/>
          </a:xfrm>
          <a:prstGeom prst="roundRect">
            <a:avLst>
              <a:gd name="adj" fmla="val 2740"/>
            </a:avLst>
          </a:prstGeom>
          <a:solidFill>
            <a:srgbClr val="0E1726"/>
          </a:solidFill>
          <a:ln/>
        </p:spPr>
        <p:txBody>
          <a:bodyPr/>
          <a:lstStyle/>
          <a:p>
            <a:endParaRPr lang="en-US"/>
          </a:p>
        </p:txBody>
      </p:sp>
      <p:sp>
        <p:nvSpPr>
          <p:cNvPr id="17" name="Text 14"/>
          <p:cNvSpPr/>
          <p:nvPr/>
        </p:nvSpPr>
        <p:spPr>
          <a:xfrm>
            <a:off x="7667003" y="2388146"/>
            <a:ext cx="3562026" cy="238636"/>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2BB3A0"/>
                </a:solidFill>
                <a:latin typeface="IBM Plex Sans" pitchFamily="34" charset="0"/>
                <a:ea typeface="IBM Plex Sans" pitchFamily="34" charset="-122"/>
                <a:cs typeface="IBM Plex Sans" pitchFamily="34" charset="-120"/>
              </a:rPr>
              <a:t>COST TO BUILD AND RUN</a:t>
            </a:r>
            <a:endParaRPr lang="en-US" sz="1200" dirty="0"/>
          </a:p>
        </p:txBody>
      </p:sp>
      <p:sp>
        <p:nvSpPr>
          <p:cNvPr id="18" name="Text 15"/>
          <p:cNvSpPr/>
          <p:nvPr/>
        </p:nvSpPr>
        <p:spPr>
          <a:xfrm>
            <a:off x="7667003" y="2728348"/>
            <a:ext cx="3562026" cy="38099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E8A33D"/>
                </a:solidFill>
                <a:latin typeface="IBM Plex Sans" pitchFamily="34" charset="0"/>
                <a:ea typeface="IBM Plex Sans" pitchFamily="34" charset="-122"/>
                <a:cs typeface="IBM Plex Sans" pitchFamily="34" charset="-120"/>
              </a:rPr>
              <a:t>about $12</a:t>
            </a:r>
            <a:endParaRPr lang="en-US" sz="2800" dirty="0"/>
          </a:p>
        </p:txBody>
      </p:sp>
      <p:sp>
        <p:nvSpPr>
          <p:cNvPr id="19" name="Text 16"/>
          <p:cNvSpPr/>
          <p:nvPr/>
        </p:nvSpPr>
        <p:spPr>
          <a:xfrm>
            <a:off x="7667003" y="3210905"/>
            <a:ext cx="3562026" cy="247633"/>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B9C4D0"/>
                </a:solidFill>
                <a:latin typeface="IBM Plex Sans" pitchFamily="34" charset="0"/>
                <a:ea typeface="IBM Plex Sans" pitchFamily="34" charset="-122"/>
                <a:cs typeface="IBM Plex Sans" pitchFamily="34" charset="-120"/>
              </a:rPr>
              <a:t>for the month, at on-demand pricing</a:t>
            </a:r>
            <a:endParaRPr lang="en-US" sz="1250" dirty="0"/>
          </a:p>
        </p:txBody>
      </p:sp>
      <p:sp>
        <p:nvSpPr>
          <p:cNvPr id="20" name="Text 17"/>
          <p:cNvSpPr/>
          <p:nvPr/>
        </p:nvSpPr>
        <p:spPr>
          <a:xfrm>
            <a:off x="7667003" y="3560105"/>
            <a:ext cx="3562026" cy="939558"/>
          </a:xfrm>
          <a:prstGeom prst="rect">
            <a:avLst/>
          </a:prstGeom>
          <a:noFill/>
          <a:ln/>
        </p:spPr>
        <p:txBody>
          <a:bodyPr wrap="square" lIns="0" tIns="0" rIns="0" bIns="0" rtlCol="0" anchor="t">
            <a:normAutofit/>
          </a:bodyPr>
          <a:lstStyle/>
          <a:p>
            <a:pPr marL="182880" indent="-155194" algn="l">
              <a:lnSpc>
                <a:spcPts val="1800"/>
              </a:lnSpc>
              <a:buSzPct val="100000"/>
              <a:buChar char="•"/>
            </a:pPr>
            <a:r>
              <a:rPr lang="en-US" sz="1200" dirty="0">
                <a:solidFill>
                  <a:srgbClr val="B9C4D0"/>
                </a:solidFill>
                <a:latin typeface="IBM Plex Sans" pitchFamily="34" charset="0"/>
                <a:ea typeface="IBM Plex Sans" pitchFamily="34" charset="-122"/>
                <a:cs typeface="IBM Plex Sans" pitchFamily="34" charset="-120"/>
              </a:rPr>
              <a:t>AgentCore + Lambda: pennies at demo volume</a:t>
            </a:r>
            <a:endParaRPr lang="en-US" sz="1200" dirty="0"/>
          </a:p>
          <a:p>
            <a:pPr marL="182880" indent="-155194" algn="l">
              <a:lnSpc>
                <a:spcPts val="1800"/>
              </a:lnSpc>
              <a:buSzPct val="100000"/>
              <a:buChar char="•"/>
            </a:pPr>
            <a:r>
              <a:rPr lang="en-US" sz="1200" dirty="0">
                <a:solidFill>
                  <a:srgbClr val="B9C4D0"/>
                </a:solidFill>
                <a:latin typeface="IBM Plex Sans" pitchFamily="34" charset="0"/>
                <a:ea typeface="IBM Plex Sans" pitchFamily="34" charset="-122"/>
                <a:cs typeface="IBM Plex Sans" pitchFamily="34" charset="-120"/>
              </a:rPr>
              <a:t>Bedrock: backup client only, dev-time tokens</a:t>
            </a:r>
            <a:endParaRPr lang="en-US" sz="1200" dirty="0"/>
          </a:p>
          <a:p>
            <a:pPr marL="182880" indent="-155194" algn="l">
              <a:lnSpc>
                <a:spcPts val="1800"/>
              </a:lnSpc>
              <a:buSzPct val="100000"/>
              <a:buChar char="•"/>
            </a:pPr>
            <a:r>
              <a:rPr lang="en-US" sz="1200" dirty="0">
                <a:solidFill>
                  <a:srgbClr val="B9C4D0"/>
                </a:solidFill>
                <a:latin typeface="IBM Plex Sans" pitchFamily="34" charset="0"/>
                <a:ea typeface="IBM Plex Sans" pitchFamily="34" charset="-122"/>
                <a:cs typeface="IBM Plex Sans" pitchFamily="34" charset="-120"/>
              </a:rPr>
              <a:t>DynamoDB and Secrets Manager: free tier</a:t>
            </a:r>
            <a:endParaRPr lang="en-US" sz="1200" dirty="0"/>
          </a:p>
          <a:p>
            <a:pPr marL="182880" indent="-155194" algn="l">
              <a:lnSpc>
                <a:spcPts val="1800"/>
              </a:lnSpc>
              <a:buSzPct val="100000"/>
              <a:buChar char="•"/>
            </a:pPr>
            <a:r>
              <a:rPr lang="en-US" sz="1200" dirty="0">
                <a:solidFill>
                  <a:srgbClr val="B9C4D0"/>
                </a:solidFill>
                <a:latin typeface="IBM Plex Sans" pitchFamily="34" charset="0"/>
                <a:ea typeface="IBM Plex Sans" pitchFamily="34" charset="-122"/>
                <a:cs typeface="IBM Plex Sans" pitchFamily="34" charset="-120"/>
              </a:rPr>
              <a:t>SNS SMS: cents per alert; mock backend is $0</a:t>
            </a:r>
            <a:endParaRPr lang="en-US" sz="1200" dirty="0"/>
          </a:p>
        </p:txBody>
      </p:sp>
      <p:sp>
        <p:nvSpPr>
          <p:cNvPr id="21" name="Text 18"/>
          <p:cNvSpPr/>
          <p:nvPr/>
        </p:nvSpPr>
        <p:spPr>
          <a:xfrm>
            <a:off x="7667003" y="4601232"/>
            <a:ext cx="3562026" cy="45187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4D0"/>
                </a:solidFill>
                <a:latin typeface="IBM Plex Sans" pitchFamily="34" charset="0"/>
                <a:ea typeface="IBM Plex Sans" pitchFamily="34" charset="-122"/>
                <a:cs typeface="IBM Plex Sans" pitchFamily="34" charset="-120"/>
              </a:rPr>
              <a:t>No hardware. No always-on instance. Teardown returns the account to zero.</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BB3A0"/>
        </a:solidFill>
        <a:effectLst/>
      </p:bgPr>
    </p:bg>
    <p:spTree>
      <p:nvGrpSpPr>
        <p:cNvPr id="1" name=""/>
        <p:cNvGrpSpPr/>
        <p:nvPr/>
      </p:nvGrpSpPr>
      <p:grpSpPr>
        <a:xfrm>
          <a:off x="0" y="0"/>
          <a:ext cx="0" cy="0"/>
          <a:chOff x="0" y="0"/>
          <a:chExt cx="0" cy="0"/>
        </a:xfrm>
      </p:grpSpPr>
      <p:pic>
        <p:nvPicPr>
          <p:cNvPr id="2" name="Image 0" descr="Activity"/>
          <p:cNvPicPr>
            <a:picLocks noChangeAspect="1"/>
          </p:cNvPicPr>
          <p:nvPr/>
        </p:nvPicPr>
        <p:blipFill>
          <a:blip r:embed="rId3"/>
          <a:srcRect/>
          <a:stretch/>
        </p:blipFill>
        <p:spPr>
          <a:xfrm>
            <a:off x="812753" y="812757"/>
            <a:ext cx="304719" cy="304719"/>
          </a:xfrm>
          <a:prstGeom prst="rect">
            <a:avLst/>
          </a:prstGeom>
        </p:spPr>
      </p:pic>
      <p:sp>
        <p:nvSpPr>
          <p:cNvPr id="3" name="Text 0"/>
          <p:cNvSpPr/>
          <p:nvPr/>
        </p:nvSpPr>
        <p:spPr>
          <a:xfrm>
            <a:off x="1244439" y="849499"/>
            <a:ext cx="670382" cy="256546"/>
          </a:xfrm>
          <a:prstGeom prst="rect">
            <a:avLst/>
          </a:prstGeom>
          <a:noFill/>
          <a:ln/>
        </p:spPr>
        <p:txBody>
          <a:bodyPr wrap="square" lIns="0" tIns="0" rIns="0" bIns="0" rtlCol="0" anchor="t">
            <a:normAutofit/>
          </a:bodyPr>
          <a:lstStyle/>
          <a:p>
            <a:pPr marL="0" indent="0" algn="l">
              <a:lnSpc>
                <a:spcPts val="1820"/>
              </a:lnSpc>
              <a:buNone/>
            </a:pPr>
            <a:r>
              <a:rPr lang="en-US" sz="1300" kern="0" spc="100" dirty="0">
                <a:solidFill>
                  <a:srgbClr val="0E1726"/>
                </a:solidFill>
                <a:latin typeface="JetBrains Mono" pitchFamily="49" charset="0"/>
                <a:ea typeface="JetBrains Mono" pitchFamily="49" charset="-122"/>
                <a:cs typeface="JetBrains Mono" pitchFamily="49" charset="-120"/>
              </a:rPr>
              <a:t>TOWER</a:t>
            </a:r>
            <a:endParaRPr lang="en-US" sz="1300" dirty="0"/>
          </a:p>
        </p:txBody>
      </p:sp>
      <p:sp>
        <p:nvSpPr>
          <p:cNvPr id="4" name="Text 1"/>
          <p:cNvSpPr>
            <a:spLocks noGrp="1"/>
          </p:cNvSpPr>
          <p:nvPr>
            <p:ph type="title"/>
          </p:nvPr>
        </p:nvSpPr>
        <p:spPr>
          <a:xfrm>
            <a:off x="812753" y="1848582"/>
            <a:ext cx="9810664" cy="1945535"/>
          </a:xfrm>
          <a:prstGeom prst="rect">
            <a:avLst/>
          </a:prstGeom>
          <a:noFill/>
          <a:ln/>
        </p:spPr>
        <p:txBody>
          <a:bodyPr wrap="square" lIns="0" tIns="0" rIns="0" bIns="0" rtlCol="0" anchor="t">
            <a:normAutofit/>
          </a:bodyPr>
          <a:lstStyle/>
          <a:p>
            <a:pPr marL="0" indent="0" algn="l">
              <a:lnSpc>
                <a:spcPts val="5040"/>
              </a:lnSpc>
              <a:buNone/>
            </a:pPr>
            <a:r>
              <a:rPr lang="en-US" sz="4800" b="1" i="0" kern="0" spc="-100" dirty="0">
                <a:solidFill>
                  <a:srgbClr val="0E1726"/>
                </a:solidFill>
                <a:latin typeface="IBM Plex Sans" pitchFamily="34" charset="0"/>
                <a:ea typeface="IBM Plex Sans" pitchFamily="34" charset="-122"/>
                <a:cs typeface="IBM Plex Sans" pitchFamily="34" charset="-120"/>
              </a:rPr>
              <a:t>The tower already knows. Now you can ask it — from the one device that still works.</a:t>
            </a:r>
            <a:endParaRPr lang="en-US" sz="4800" dirty="0"/>
          </a:p>
        </p:txBody>
      </p:sp>
      <p:sp>
        <p:nvSpPr>
          <p:cNvPr id="5" name="Text 2"/>
          <p:cNvSpPr/>
          <p:nvPr/>
        </p:nvSpPr>
        <p:spPr>
          <a:xfrm>
            <a:off x="812753" y="3971863"/>
            <a:ext cx="9156614" cy="608268"/>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0E1726"/>
                </a:solidFill>
                <a:latin typeface="IBM Plex Sans" pitchFamily="34" charset="0"/>
                <a:ea typeface="IBM Plex Sans" pitchFamily="34" charset="-122"/>
                <a:cs typeface="IBM Plex Sans" pitchFamily="34" charset="-120"/>
              </a:rPr>
              <a:t>Three tools. Standard APIs. Consent first. A demo that runs from a README and the web simulator, whether or not a sandbox comes through.</a:t>
            </a:r>
            <a:endParaRPr lang="en-US" sz="1700" dirty="0"/>
          </a:p>
        </p:txBody>
      </p:sp>
      <p:sp>
        <p:nvSpPr>
          <p:cNvPr id="6" name="Text 3"/>
          <p:cNvSpPr/>
          <p:nvPr/>
        </p:nvSpPr>
        <p:spPr>
          <a:xfrm>
            <a:off x="812753" y="5285755"/>
            <a:ext cx="10142279" cy="238636"/>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0E1726"/>
                </a:solidFill>
                <a:latin typeface="IBM Plex Sans" pitchFamily="34" charset="0"/>
                <a:ea typeface="IBM Plex Sans" pitchFamily="34" charset="-122"/>
                <a:cs typeface="IBM Plex Sans" pitchFamily="34" charset="-120"/>
              </a:rPr>
              <a:t>THE ASK</a:t>
            </a:r>
            <a:endParaRPr lang="en-US" sz="1200" dirty="0"/>
          </a:p>
        </p:txBody>
      </p:sp>
      <p:sp>
        <p:nvSpPr>
          <p:cNvPr id="7" name="Text 4"/>
          <p:cNvSpPr/>
          <p:nvPr/>
        </p:nvSpPr>
        <p:spPr>
          <a:xfrm>
            <a:off x="812753" y="5549776"/>
            <a:ext cx="10142279" cy="520821"/>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0E1726"/>
                </a:solidFill>
                <a:latin typeface="IBM Plex Sans" pitchFamily="34" charset="0"/>
                <a:ea typeface="IBM Plex Sans" pitchFamily="34" charset="-122"/>
                <a:cs typeface="IBM Plex Sans" pitchFamily="34" charset="-120"/>
              </a:rPr>
              <a:t>Alexa+ web-simulator access from Canada · carrier sandbox access · fifteen minutes with someone who owns how Alexa+ shapes tool results for voice</a:t>
            </a:r>
            <a:endParaRPr lang="en-US" sz="1300" dirty="0"/>
          </a:p>
        </p:txBody>
      </p:sp>
      <p:sp>
        <p:nvSpPr>
          <p:cNvPr id="8" name="Text 5"/>
          <p:cNvSpPr/>
          <p:nvPr/>
        </p:nvSpPr>
        <p:spPr>
          <a:xfrm>
            <a:off x="10608825" y="5302064"/>
            <a:ext cx="770388" cy="768532"/>
          </a:xfrm>
          <a:prstGeom prst="rect">
            <a:avLst/>
          </a:prstGeom>
          <a:noFill/>
          <a:ln/>
        </p:spPr>
        <p:txBody>
          <a:bodyPr wrap="square" lIns="0" tIns="0" rIns="0" bIns="0" rtlCol="0" anchor="t">
            <a:normAutofit/>
          </a:bodyPr>
          <a:lstStyle/>
          <a:p>
            <a:pPr marL="0" indent="0" algn="r">
              <a:lnSpc>
                <a:spcPts val="1950"/>
              </a:lnSpc>
              <a:buNone/>
            </a:pPr>
            <a:r>
              <a:rPr lang="en-US" sz="1300" dirty="0">
                <a:solidFill>
                  <a:srgbClr val="0E1726"/>
                </a:solidFill>
                <a:latin typeface="IBM Plex Sans" pitchFamily="34" charset="0"/>
                <a:ea typeface="IBM Plex Sans" pitchFamily="34" charset="-122"/>
                <a:cs typeface="IBM Plex Sans" pitchFamily="34" charset="-120"/>
              </a:rPr>
              <a:t>Asish Bose</a:t>
            </a:r>
            <a:endParaRPr lang="en-US" sz="1300" dirty="0"/>
          </a:p>
          <a:p>
            <a:pPr marL="0" indent="0" algn="r">
              <a:lnSpc>
                <a:spcPts val="1950"/>
              </a:lnSpc>
              <a:buNone/>
            </a:pPr>
            <a:r>
              <a:rPr lang="en-US" sz="1300" dirty="0">
                <a:solidFill>
                  <a:srgbClr val="0E1726"/>
                </a:solidFill>
                <a:latin typeface="IBM Plex Sans" pitchFamily="34" charset="0"/>
                <a:ea typeface="IBM Plex Sans" pitchFamily="34" charset="-122"/>
                <a:cs typeface="IBM Plex Sans" pitchFamily="34" charset="-120"/>
              </a:rPr>
              <a:t>Ottawa</a:t>
            </a:r>
            <a:endParaRPr lang="en-US" sz="1300" dirty="0"/>
          </a:p>
        </p:txBody>
      </p:sp>
    </p:spTree>
  </p:cSld>
  <p:clrMapOvr>
    <a:masterClrMapping/>
  </p:clrMapOvr>
</p:sld>
</file>

<file path=ppt/theme/theme1.xml><?xml version="1.0" encoding="utf-8"?>
<a:theme xmlns:a="http://schemas.openxmlformats.org/drawingml/2006/main" name="Ask the Tower — Pitch">
  <a:themeElements>
    <a:clrScheme name="Ask the Tower — Pitch">
      <a:dk1>
        <a:srgbClr val="0E1726"/>
      </a:dk1>
      <a:lt1>
        <a:srgbClr val="F6F5F0"/>
      </a:lt1>
      <a:dk2>
        <a:srgbClr val="484F59"/>
      </a:dk2>
      <a:lt2>
        <a:srgbClr val="DFDFDC"/>
      </a:lt2>
      <a:accent1>
        <a:srgbClr val="2BB3A0"/>
      </a:accent1>
      <a:accent2>
        <a:srgbClr val="E8A33D"/>
      </a:accent2>
      <a:accent3>
        <a:srgbClr val="9B3B3B"/>
      </a:accent3>
      <a:accent4>
        <a:srgbClr val="B9C4D0"/>
      </a:accent4>
      <a:accent5>
        <a:srgbClr val="46505E"/>
      </a:accent5>
      <a:accent6>
        <a:srgbClr val="6B7583"/>
      </a:accent6>
      <a:hlink>
        <a:srgbClr val="0563C1"/>
      </a:hlink>
      <a:folHlink>
        <a:srgbClr val="954F72"/>
      </a:folHlink>
    </a:clrScheme>
    <a:fontScheme name="Ask the Tower — Pitch">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4231</Words>
  <Application>Microsoft Office PowerPoint</Application>
  <PresentationFormat>Widescreen</PresentationFormat>
  <Paragraphs>281</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IBM Plex Sans</vt:lpstr>
      <vt:lpstr>JetBrains Mono</vt:lpstr>
      <vt:lpstr>Ask the Tower — Pitch</vt:lpstr>
      <vt:lpstr>Ask the tower.</vt:lpstr>
      <vt:lpstr>Your carrier knows things about your line that you never get to use</vt:lpstr>
      <vt:lpstr>Carrier network APIs are now standard and open — and every consumer of them is a business</vt:lpstr>
      <vt:lpstr>Tower: an MCP server Alexa+ talks to, that asks the carrier on your behalf — with your consent</vt:lpstr>
      <vt:lpstr>What you say, what the network says back, and who gets told</vt:lpstr>
      <vt:lpstr>Most of this exists. The consumer's own agent doesn't.</vt:lpstr>
      <vt:lpstr>Four boxes, one of them ours — and a short hot path</vt:lpstr>
      <vt:lpstr>AgentCore runs and connects. Policy decides, in code. Alexa+ does the talking.</vt:lpstr>
      <vt:lpstr>A line is asked about only by someone it was bound to, for a tool it agreed to</vt:lpstr>
      <vt:lpstr>The demo stays at three tools. The pattern doesn't stop there.</vt:lpstr>
      <vt:lpstr>Nothing to wear, nothing to install on Mom's phone — one tap to bind her line, then nothing to remember</vt:lpstr>
      <vt:lpstr>Elder fraud shield — Mom's line, watched for her and for you</vt:lpstr>
      <vt:lpstr>Post-discharge silence alarm — a network fact, an escalation chain, and an honest caveat</vt:lpstr>
      <vt:lpstr>Transplant-list readiness — your own line, confirmed instead of hoped</vt:lpstr>
      <vt:lpstr>One primary track, two minis it earns naturally, and almost nothing to run</vt:lpstr>
      <vt:lpstr>The tower already knows. Now you can ask it — from the one device that still works.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Ask the Tower — Pitch</dc:title>
  <dc:subject/>
  <dc:creator/>
  <cp:lastModifiedBy>Asish Bose (Nokia)</cp:lastModifiedBy>
  <cp:revision>2</cp:revision>
  <dcterms:created xsi:type="dcterms:W3CDTF">2026-10-05T14:35:20Z</dcterms:created>
  <dcterms:modified xsi:type="dcterms:W3CDTF">2026-10-05T15:32:38Z</dcterms:modified>
</cp:coreProperties>
</file>